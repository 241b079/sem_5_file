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77" r:id="rId4"/>
    <p:sldId id="258" r:id="rId5"/>
    <p:sldId id="259" r:id="rId6"/>
    <p:sldId id="261" r:id="rId7"/>
    <p:sldId id="260"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8" r:id="rId24"/>
    <p:sldId id="279" r:id="rId25"/>
    <p:sldId id="280" r:id="rId26"/>
    <p:sldId id="281" r:id="rId27"/>
    <p:sldId id="282" r:id="rId28"/>
    <p:sldId id="283" r:id="rId29"/>
    <p:sldId id="284" r:id="rId30"/>
    <p:sldId id="291" r:id="rId31"/>
    <p:sldId id="287" r:id="rId32"/>
    <p:sldId id="288" r:id="rId33"/>
    <p:sldId id="285" r:id="rId34"/>
    <p:sldId id="286" r:id="rId35"/>
    <p:sldId id="289" r:id="rId36"/>
    <p:sldId id="290" r:id="rId37"/>
    <p:sldId id="292" r:id="rId38"/>
    <p:sldId id="29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66" d="100"/>
          <a:sy n="66" d="100"/>
        </p:scale>
        <p:origin x="668" y="4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8E31B-11CA-4B12-A397-494D57A9215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D204F2F-4824-461B-BBE2-8CDA6FBAFD0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2354AE6-30D5-48D1-AC15-82D37A66ECA8}"/>
              </a:ext>
            </a:extLst>
          </p:cNvPr>
          <p:cNvSpPr>
            <a:spLocks noGrp="1"/>
          </p:cNvSpPr>
          <p:nvPr>
            <p:ph type="dt" sz="half" idx="10"/>
          </p:nvPr>
        </p:nvSpPr>
        <p:spPr/>
        <p:txBody>
          <a:bodyPr/>
          <a:lstStyle/>
          <a:p>
            <a:fld id="{20FA8EB7-9CB2-456E-AECE-9A0486F673C3}" type="datetimeFigureOut">
              <a:rPr lang="en-IN" smtClean="0"/>
              <a:t>03-08-2025</a:t>
            </a:fld>
            <a:endParaRPr lang="en-IN"/>
          </a:p>
        </p:txBody>
      </p:sp>
      <p:sp>
        <p:nvSpPr>
          <p:cNvPr id="5" name="Footer Placeholder 4">
            <a:extLst>
              <a:ext uri="{FF2B5EF4-FFF2-40B4-BE49-F238E27FC236}">
                <a16:creationId xmlns:a16="http://schemas.microsoft.com/office/drawing/2014/main" id="{A65766E0-8BF0-4ABF-9B35-BB30496CF64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28A7FE-62A8-4A9D-AA56-930EBB5BBBD2}"/>
              </a:ext>
            </a:extLst>
          </p:cNvPr>
          <p:cNvSpPr>
            <a:spLocks noGrp="1"/>
          </p:cNvSpPr>
          <p:nvPr>
            <p:ph type="sldNum" sz="quarter" idx="12"/>
          </p:nvPr>
        </p:nvSpPr>
        <p:spPr/>
        <p:txBody>
          <a:bodyPr/>
          <a:lstStyle/>
          <a:p>
            <a:fld id="{4034F329-E071-4BA7-9997-68DE4CC086BF}" type="slidenum">
              <a:rPr lang="en-IN" smtClean="0"/>
              <a:t>‹#›</a:t>
            </a:fld>
            <a:endParaRPr lang="en-IN"/>
          </a:p>
        </p:txBody>
      </p:sp>
    </p:spTree>
    <p:extLst>
      <p:ext uri="{BB962C8B-B14F-4D97-AF65-F5344CB8AC3E}">
        <p14:creationId xmlns:p14="http://schemas.microsoft.com/office/powerpoint/2010/main" val="1173422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F8A76-B929-4E3A-AB4E-27798391493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4909671-B9F6-4028-848C-896C8C2CD9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F9B575C-03A1-4A3A-B86A-A30EE2452AF9}"/>
              </a:ext>
            </a:extLst>
          </p:cNvPr>
          <p:cNvSpPr>
            <a:spLocks noGrp="1"/>
          </p:cNvSpPr>
          <p:nvPr>
            <p:ph type="dt" sz="half" idx="10"/>
          </p:nvPr>
        </p:nvSpPr>
        <p:spPr/>
        <p:txBody>
          <a:bodyPr/>
          <a:lstStyle/>
          <a:p>
            <a:fld id="{20FA8EB7-9CB2-456E-AECE-9A0486F673C3}" type="datetimeFigureOut">
              <a:rPr lang="en-IN" smtClean="0"/>
              <a:t>03-08-2025</a:t>
            </a:fld>
            <a:endParaRPr lang="en-IN"/>
          </a:p>
        </p:txBody>
      </p:sp>
      <p:sp>
        <p:nvSpPr>
          <p:cNvPr id="5" name="Footer Placeholder 4">
            <a:extLst>
              <a:ext uri="{FF2B5EF4-FFF2-40B4-BE49-F238E27FC236}">
                <a16:creationId xmlns:a16="http://schemas.microsoft.com/office/drawing/2014/main" id="{668272FC-E2C1-44B8-8E25-CFD6F44337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A0115F-7BBC-46B7-A8BB-8C0D27ABCA72}"/>
              </a:ext>
            </a:extLst>
          </p:cNvPr>
          <p:cNvSpPr>
            <a:spLocks noGrp="1"/>
          </p:cNvSpPr>
          <p:nvPr>
            <p:ph type="sldNum" sz="quarter" idx="12"/>
          </p:nvPr>
        </p:nvSpPr>
        <p:spPr/>
        <p:txBody>
          <a:bodyPr/>
          <a:lstStyle/>
          <a:p>
            <a:fld id="{4034F329-E071-4BA7-9997-68DE4CC086BF}" type="slidenum">
              <a:rPr lang="en-IN" smtClean="0"/>
              <a:t>‹#›</a:t>
            </a:fld>
            <a:endParaRPr lang="en-IN"/>
          </a:p>
        </p:txBody>
      </p:sp>
    </p:spTree>
    <p:extLst>
      <p:ext uri="{BB962C8B-B14F-4D97-AF65-F5344CB8AC3E}">
        <p14:creationId xmlns:p14="http://schemas.microsoft.com/office/powerpoint/2010/main" val="4157738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F582C-1DB3-438E-B062-F0D6C87ACDC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A70039-32B7-4858-B3A5-6BCF6C085F5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FF6C21F-FC84-4B71-89FF-CA6DFA2CA18C}"/>
              </a:ext>
            </a:extLst>
          </p:cNvPr>
          <p:cNvSpPr>
            <a:spLocks noGrp="1"/>
          </p:cNvSpPr>
          <p:nvPr>
            <p:ph type="dt" sz="half" idx="10"/>
          </p:nvPr>
        </p:nvSpPr>
        <p:spPr/>
        <p:txBody>
          <a:bodyPr/>
          <a:lstStyle/>
          <a:p>
            <a:fld id="{20FA8EB7-9CB2-456E-AECE-9A0486F673C3}" type="datetimeFigureOut">
              <a:rPr lang="en-IN" smtClean="0"/>
              <a:t>03-08-2025</a:t>
            </a:fld>
            <a:endParaRPr lang="en-IN"/>
          </a:p>
        </p:txBody>
      </p:sp>
      <p:sp>
        <p:nvSpPr>
          <p:cNvPr id="5" name="Footer Placeholder 4">
            <a:extLst>
              <a:ext uri="{FF2B5EF4-FFF2-40B4-BE49-F238E27FC236}">
                <a16:creationId xmlns:a16="http://schemas.microsoft.com/office/drawing/2014/main" id="{865E2A7E-8279-472D-B798-D684AD2EEB1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2F710C5-90B9-460F-B572-EC80A54002F4}"/>
              </a:ext>
            </a:extLst>
          </p:cNvPr>
          <p:cNvSpPr>
            <a:spLocks noGrp="1"/>
          </p:cNvSpPr>
          <p:nvPr>
            <p:ph type="sldNum" sz="quarter" idx="12"/>
          </p:nvPr>
        </p:nvSpPr>
        <p:spPr/>
        <p:txBody>
          <a:bodyPr/>
          <a:lstStyle/>
          <a:p>
            <a:fld id="{4034F329-E071-4BA7-9997-68DE4CC086BF}" type="slidenum">
              <a:rPr lang="en-IN" smtClean="0"/>
              <a:t>‹#›</a:t>
            </a:fld>
            <a:endParaRPr lang="en-IN"/>
          </a:p>
        </p:txBody>
      </p:sp>
    </p:spTree>
    <p:extLst>
      <p:ext uri="{BB962C8B-B14F-4D97-AF65-F5344CB8AC3E}">
        <p14:creationId xmlns:p14="http://schemas.microsoft.com/office/powerpoint/2010/main" val="8578508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250D2-D6F0-4286-BA78-CCD0558B7B7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F7F1E8C-4DD9-4292-9D6C-53E836228A3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556566D2-C70C-4263-A999-9767EDA0EA1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9EF4029-8D6F-44EF-8936-B2B8E02E0CB6}"/>
              </a:ext>
            </a:extLst>
          </p:cNvPr>
          <p:cNvSpPr>
            <a:spLocks noGrp="1"/>
          </p:cNvSpPr>
          <p:nvPr>
            <p:ph type="dt" sz="half" idx="10"/>
          </p:nvPr>
        </p:nvSpPr>
        <p:spPr/>
        <p:txBody>
          <a:bodyPr/>
          <a:lstStyle/>
          <a:p>
            <a:fld id="{20FA8EB7-9CB2-456E-AECE-9A0486F673C3}" type="datetimeFigureOut">
              <a:rPr lang="en-IN" smtClean="0"/>
              <a:t>03-08-2025</a:t>
            </a:fld>
            <a:endParaRPr lang="en-IN"/>
          </a:p>
        </p:txBody>
      </p:sp>
      <p:sp>
        <p:nvSpPr>
          <p:cNvPr id="6" name="Footer Placeholder 5">
            <a:extLst>
              <a:ext uri="{FF2B5EF4-FFF2-40B4-BE49-F238E27FC236}">
                <a16:creationId xmlns:a16="http://schemas.microsoft.com/office/drawing/2014/main" id="{C89C9110-29EC-4881-82F5-E29AEF2DF1C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2BD5CB-6831-43F7-9780-2FEE1A435629}"/>
              </a:ext>
            </a:extLst>
          </p:cNvPr>
          <p:cNvSpPr>
            <a:spLocks noGrp="1"/>
          </p:cNvSpPr>
          <p:nvPr>
            <p:ph type="sldNum" sz="quarter" idx="12"/>
          </p:nvPr>
        </p:nvSpPr>
        <p:spPr/>
        <p:txBody>
          <a:bodyPr/>
          <a:lstStyle/>
          <a:p>
            <a:fld id="{4034F329-E071-4BA7-9997-68DE4CC086BF}" type="slidenum">
              <a:rPr lang="en-IN" smtClean="0"/>
              <a:t>‹#›</a:t>
            </a:fld>
            <a:endParaRPr lang="en-IN"/>
          </a:p>
        </p:txBody>
      </p:sp>
    </p:spTree>
    <p:extLst>
      <p:ext uri="{BB962C8B-B14F-4D97-AF65-F5344CB8AC3E}">
        <p14:creationId xmlns:p14="http://schemas.microsoft.com/office/powerpoint/2010/main" val="21097153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B977DC-2091-4859-851C-81DCF850E4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47C156C-0924-4BDF-9C9D-B596703E81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FC04567-B51B-4DAF-A9FF-F0703A66CD4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59129A2-6268-44CE-8828-B967261709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D81A2F-4C87-4676-B4C8-FDD9ACB1935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2ABC006-D79D-4F3B-B9A8-11C3858278DB}"/>
              </a:ext>
            </a:extLst>
          </p:cNvPr>
          <p:cNvSpPr>
            <a:spLocks noGrp="1"/>
          </p:cNvSpPr>
          <p:nvPr>
            <p:ph type="dt" sz="half" idx="10"/>
          </p:nvPr>
        </p:nvSpPr>
        <p:spPr/>
        <p:txBody>
          <a:bodyPr/>
          <a:lstStyle/>
          <a:p>
            <a:fld id="{20FA8EB7-9CB2-456E-AECE-9A0486F673C3}" type="datetimeFigureOut">
              <a:rPr lang="en-IN" smtClean="0"/>
              <a:t>03-08-2025</a:t>
            </a:fld>
            <a:endParaRPr lang="en-IN"/>
          </a:p>
        </p:txBody>
      </p:sp>
      <p:sp>
        <p:nvSpPr>
          <p:cNvPr id="8" name="Footer Placeholder 7">
            <a:extLst>
              <a:ext uri="{FF2B5EF4-FFF2-40B4-BE49-F238E27FC236}">
                <a16:creationId xmlns:a16="http://schemas.microsoft.com/office/drawing/2014/main" id="{FEAACCC3-AE91-41BD-A1E0-62CB01DBE40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25BA879-892E-43ED-B037-FE8647D6F9CD}"/>
              </a:ext>
            </a:extLst>
          </p:cNvPr>
          <p:cNvSpPr>
            <a:spLocks noGrp="1"/>
          </p:cNvSpPr>
          <p:nvPr>
            <p:ph type="sldNum" sz="quarter" idx="12"/>
          </p:nvPr>
        </p:nvSpPr>
        <p:spPr/>
        <p:txBody>
          <a:bodyPr/>
          <a:lstStyle/>
          <a:p>
            <a:fld id="{4034F329-E071-4BA7-9997-68DE4CC086BF}" type="slidenum">
              <a:rPr lang="en-IN" smtClean="0"/>
              <a:t>‹#›</a:t>
            </a:fld>
            <a:endParaRPr lang="en-IN"/>
          </a:p>
        </p:txBody>
      </p:sp>
    </p:spTree>
    <p:extLst>
      <p:ext uri="{BB962C8B-B14F-4D97-AF65-F5344CB8AC3E}">
        <p14:creationId xmlns:p14="http://schemas.microsoft.com/office/powerpoint/2010/main" val="1787675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A5DEB-7B2F-4D3C-AB28-F05BC9CA5A8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6369E6CB-A69B-4D7F-94C4-54546D12ABCA}"/>
              </a:ext>
            </a:extLst>
          </p:cNvPr>
          <p:cNvSpPr>
            <a:spLocks noGrp="1"/>
          </p:cNvSpPr>
          <p:nvPr>
            <p:ph type="dt" sz="half" idx="10"/>
          </p:nvPr>
        </p:nvSpPr>
        <p:spPr/>
        <p:txBody>
          <a:bodyPr/>
          <a:lstStyle/>
          <a:p>
            <a:fld id="{20FA8EB7-9CB2-456E-AECE-9A0486F673C3}" type="datetimeFigureOut">
              <a:rPr lang="en-IN" smtClean="0"/>
              <a:t>03-08-2025</a:t>
            </a:fld>
            <a:endParaRPr lang="en-IN"/>
          </a:p>
        </p:txBody>
      </p:sp>
      <p:sp>
        <p:nvSpPr>
          <p:cNvPr id="4" name="Footer Placeholder 3">
            <a:extLst>
              <a:ext uri="{FF2B5EF4-FFF2-40B4-BE49-F238E27FC236}">
                <a16:creationId xmlns:a16="http://schemas.microsoft.com/office/drawing/2014/main" id="{C9183D32-5EB7-46A8-B68E-99F18CF53FDF}"/>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1602B5E-5C6A-40D1-AF9C-8399E2ACC090}"/>
              </a:ext>
            </a:extLst>
          </p:cNvPr>
          <p:cNvSpPr>
            <a:spLocks noGrp="1"/>
          </p:cNvSpPr>
          <p:nvPr>
            <p:ph type="sldNum" sz="quarter" idx="12"/>
          </p:nvPr>
        </p:nvSpPr>
        <p:spPr/>
        <p:txBody>
          <a:bodyPr/>
          <a:lstStyle/>
          <a:p>
            <a:fld id="{4034F329-E071-4BA7-9997-68DE4CC086BF}" type="slidenum">
              <a:rPr lang="en-IN" smtClean="0"/>
              <a:t>‹#›</a:t>
            </a:fld>
            <a:endParaRPr lang="en-IN"/>
          </a:p>
        </p:txBody>
      </p:sp>
    </p:spTree>
    <p:extLst>
      <p:ext uri="{BB962C8B-B14F-4D97-AF65-F5344CB8AC3E}">
        <p14:creationId xmlns:p14="http://schemas.microsoft.com/office/powerpoint/2010/main" val="16111610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DEC23A-056E-46FA-A131-1F13D1A902DF}"/>
              </a:ext>
            </a:extLst>
          </p:cNvPr>
          <p:cNvSpPr>
            <a:spLocks noGrp="1"/>
          </p:cNvSpPr>
          <p:nvPr>
            <p:ph type="dt" sz="half" idx="10"/>
          </p:nvPr>
        </p:nvSpPr>
        <p:spPr/>
        <p:txBody>
          <a:bodyPr/>
          <a:lstStyle/>
          <a:p>
            <a:fld id="{20FA8EB7-9CB2-456E-AECE-9A0486F673C3}" type="datetimeFigureOut">
              <a:rPr lang="en-IN" smtClean="0"/>
              <a:t>03-08-2025</a:t>
            </a:fld>
            <a:endParaRPr lang="en-IN"/>
          </a:p>
        </p:txBody>
      </p:sp>
      <p:sp>
        <p:nvSpPr>
          <p:cNvPr id="3" name="Footer Placeholder 2">
            <a:extLst>
              <a:ext uri="{FF2B5EF4-FFF2-40B4-BE49-F238E27FC236}">
                <a16:creationId xmlns:a16="http://schemas.microsoft.com/office/drawing/2014/main" id="{9971AA06-5A8B-4764-9E8A-6E6D357095FF}"/>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D1FD9C7-59DC-43B7-93D9-9BC7390D6800}"/>
              </a:ext>
            </a:extLst>
          </p:cNvPr>
          <p:cNvSpPr>
            <a:spLocks noGrp="1"/>
          </p:cNvSpPr>
          <p:nvPr>
            <p:ph type="sldNum" sz="quarter" idx="12"/>
          </p:nvPr>
        </p:nvSpPr>
        <p:spPr/>
        <p:txBody>
          <a:bodyPr/>
          <a:lstStyle/>
          <a:p>
            <a:fld id="{4034F329-E071-4BA7-9997-68DE4CC086BF}" type="slidenum">
              <a:rPr lang="en-IN" smtClean="0"/>
              <a:t>‹#›</a:t>
            </a:fld>
            <a:endParaRPr lang="en-IN"/>
          </a:p>
        </p:txBody>
      </p:sp>
    </p:spTree>
    <p:extLst>
      <p:ext uri="{BB962C8B-B14F-4D97-AF65-F5344CB8AC3E}">
        <p14:creationId xmlns:p14="http://schemas.microsoft.com/office/powerpoint/2010/main" val="5504774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FD8B6-266D-467A-AEA9-4E54F43DCB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7753CFF-C69C-4C0F-B9EB-17EE2DC6034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E09AFD0-CE58-4B0B-BFC8-CBB5E6E9DD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524682-9DD7-402A-A26B-EF89539269CB}"/>
              </a:ext>
            </a:extLst>
          </p:cNvPr>
          <p:cNvSpPr>
            <a:spLocks noGrp="1"/>
          </p:cNvSpPr>
          <p:nvPr>
            <p:ph type="dt" sz="half" idx="10"/>
          </p:nvPr>
        </p:nvSpPr>
        <p:spPr/>
        <p:txBody>
          <a:bodyPr/>
          <a:lstStyle/>
          <a:p>
            <a:fld id="{20FA8EB7-9CB2-456E-AECE-9A0486F673C3}" type="datetimeFigureOut">
              <a:rPr lang="en-IN" smtClean="0"/>
              <a:t>03-08-2025</a:t>
            </a:fld>
            <a:endParaRPr lang="en-IN"/>
          </a:p>
        </p:txBody>
      </p:sp>
      <p:sp>
        <p:nvSpPr>
          <p:cNvPr id="6" name="Footer Placeholder 5">
            <a:extLst>
              <a:ext uri="{FF2B5EF4-FFF2-40B4-BE49-F238E27FC236}">
                <a16:creationId xmlns:a16="http://schemas.microsoft.com/office/drawing/2014/main" id="{1B728C0B-3CEA-47F2-8838-A562121D65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17D2CCD-9AD0-4597-B189-E50CB7C4FFA6}"/>
              </a:ext>
            </a:extLst>
          </p:cNvPr>
          <p:cNvSpPr>
            <a:spLocks noGrp="1"/>
          </p:cNvSpPr>
          <p:nvPr>
            <p:ph type="sldNum" sz="quarter" idx="12"/>
          </p:nvPr>
        </p:nvSpPr>
        <p:spPr/>
        <p:txBody>
          <a:bodyPr/>
          <a:lstStyle/>
          <a:p>
            <a:fld id="{4034F329-E071-4BA7-9997-68DE4CC086BF}" type="slidenum">
              <a:rPr lang="en-IN" smtClean="0"/>
              <a:t>‹#›</a:t>
            </a:fld>
            <a:endParaRPr lang="en-IN"/>
          </a:p>
        </p:txBody>
      </p:sp>
    </p:spTree>
    <p:extLst>
      <p:ext uri="{BB962C8B-B14F-4D97-AF65-F5344CB8AC3E}">
        <p14:creationId xmlns:p14="http://schemas.microsoft.com/office/powerpoint/2010/main" val="17189816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16A36-0751-4396-BBDE-AA52125272C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09C2F5F-85C8-4ADF-A81F-473EEACE0B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62664DD-A4CD-4804-B289-846BBE9C63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3F010-C8B9-4D7B-B58A-608A470D1859}"/>
              </a:ext>
            </a:extLst>
          </p:cNvPr>
          <p:cNvSpPr>
            <a:spLocks noGrp="1"/>
          </p:cNvSpPr>
          <p:nvPr>
            <p:ph type="dt" sz="half" idx="10"/>
          </p:nvPr>
        </p:nvSpPr>
        <p:spPr/>
        <p:txBody>
          <a:bodyPr/>
          <a:lstStyle/>
          <a:p>
            <a:fld id="{20FA8EB7-9CB2-456E-AECE-9A0486F673C3}" type="datetimeFigureOut">
              <a:rPr lang="en-IN" smtClean="0"/>
              <a:t>03-08-2025</a:t>
            </a:fld>
            <a:endParaRPr lang="en-IN"/>
          </a:p>
        </p:txBody>
      </p:sp>
      <p:sp>
        <p:nvSpPr>
          <p:cNvPr id="6" name="Footer Placeholder 5">
            <a:extLst>
              <a:ext uri="{FF2B5EF4-FFF2-40B4-BE49-F238E27FC236}">
                <a16:creationId xmlns:a16="http://schemas.microsoft.com/office/drawing/2014/main" id="{B01B33BF-BB25-435C-8FA5-EC14100AFC6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FD3981-B35A-46C9-9E94-AA7587A7ECA5}"/>
              </a:ext>
            </a:extLst>
          </p:cNvPr>
          <p:cNvSpPr>
            <a:spLocks noGrp="1"/>
          </p:cNvSpPr>
          <p:nvPr>
            <p:ph type="sldNum" sz="quarter" idx="12"/>
          </p:nvPr>
        </p:nvSpPr>
        <p:spPr/>
        <p:txBody>
          <a:bodyPr/>
          <a:lstStyle/>
          <a:p>
            <a:fld id="{4034F329-E071-4BA7-9997-68DE4CC086BF}" type="slidenum">
              <a:rPr lang="en-IN" smtClean="0"/>
              <a:t>‹#›</a:t>
            </a:fld>
            <a:endParaRPr lang="en-IN"/>
          </a:p>
        </p:txBody>
      </p:sp>
    </p:spTree>
    <p:extLst>
      <p:ext uri="{BB962C8B-B14F-4D97-AF65-F5344CB8AC3E}">
        <p14:creationId xmlns:p14="http://schemas.microsoft.com/office/powerpoint/2010/main" val="35358217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D4334-17C3-4B28-84CE-904559881E5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17F8894-B4D9-4B8D-89B5-C2D6B36A68B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268D4-E522-4AAA-922E-37FA7E083F8C}"/>
              </a:ext>
            </a:extLst>
          </p:cNvPr>
          <p:cNvSpPr>
            <a:spLocks noGrp="1"/>
          </p:cNvSpPr>
          <p:nvPr>
            <p:ph type="dt" sz="half" idx="10"/>
          </p:nvPr>
        </p:nvSpPr>
        <p:spPr/>
        <p:txBody>
          <a:bodyPr/>
          <a:lstStyle/>
          <a:p>
            <a:fld id="{20FA8EB7-9CB2-456E-AECE-9A0486F673C3}" type="datetimeFigureOut">
              <a:rPr lang="en-IN" smtClean="0"/>
              <a:t>03-08-2025</a:t>
            </a:fld>
            <a:endParaRPr lang="en-IN"/>
          </a:p>
        </p:txBody>
      </p:sp>
      <p:sp>
        <p:nvSpPr>
          <p:cNvPr id="5" name="Footer Placeholder 4">
            <a:extLst>
              <a:ext uri="{FF2B5EF4-FFF2-40B4-BE49-F238E27FC236}">
                <a16:creationId xmlns:a16="http://schemas.microsoft.com/office/drawing/2014/main" id="{D2F54B7A-9A9F-4029-A84B-26F99C595E4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3DAA1B-1A5C-4EBE-8B49-EF5C29DEB564}"/>
              </a:ext>
            </a:extLst>
          </p:cNvPr>
          <p:cNvSpPr>
            <a:spLocks noGrp="1"/>
          </p:cNvSpPr>
          <p:nvPr>
            <p:ph type="sldNum" sz="quarter" idx="12"/>
          </p:nvPr>
        </p:nvSpPr>
        <p:spPr/>
        <p:txBody>
          <a:bodyPr/>
          <a:lstStyle/>
          <a:p>
            <a:fld id="{4034F329-E071-4BA7-9997-68DE4CC086BF}" type="slidenum">
              <a:rPr lang="en-IN" smtClean="0"/>
              <a:t>‹#›</a:t>
            </a:fld>
            <a:endParaRPr lang="en-IN"/>
          </a:p>
        </p:txBody>
      </p:sp>
    </p:spTree>
    <p:extLst>
      <p:ext uri="{BB962C8B-B14F-4D97-AF65-F5344CB8AC3E}">
        <p14:creationId xmlns:p14="http://schemas.microsoft.com/office/powerpoint/2010/main" val="1747512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FFDBC4F-442C-40B7-B43A-090E1F48ACD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5D82EEA-84EA-4315-B2DD-095C7FAC2A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AB7CA9F-09AF-4B55-8C4A-F01CBEE9A0AA}"/>
              </a:ext>
            </a:extLst>
          </p:cNvPr>
          <p:cNvSpPr>
            <a:spLocks noGrp="1"/>
          </p:cNvSpPr>
          <p:nvPr>
            <p:ph type="dt" sz="half" idx="10"/>
          </p:nvPr>
        </p:nvSpPr>
        <p:spPr/>
        <p:txBody>
          <a:bodyPr/>
          <a:lstStyle/>
          <a:p>
            <a:fld id="{20FA8EB7-9CB2-456E-AECE-9A0486F673C3}" type="datetimeFigureOut">
              <a:rPr lang="en-IN" smtClean="0"/>
              <a:t>03-08-2025</a:t>
            </a:fld>
            <a:endParaRPr lang="en-IN"/>
          </a:p>
        </p:txBody>
      </p:sp>
      <p:sp>
        <p:nvSpPr>
          <p:cNvPr id="5" name="Footer Placeholder 4">
            <a:extLst>
              <a:ext uri="{FF2B5EF4-FFF2-40B4-BE49-F238E27FC236}">
                <a16:creationId xmlns:a16="http://schemas.microsoft.com/office/drawing/2014/main" id="{9F126791-5A13-40D1-9DF1-4E93CEF082A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0AEBAE-203C-4783-8B74-D951D38596BB}"/>
              </a:ext>
            </a:extLst>
          </p:cNvPr>
          <p:cNvSpPr>
            <a:spLocks noGrp="1"/>
          </p:cNvSpPr>
          <p:nvPr>
            <p:ph type="sldNum" sz="quarter" idx="12"/>
          </p:nvPr>
        </p:nvSpPr>
        <p:spPr/>
        <p:txBody>
          <a:bodyPr/>
          <a:lstStyle/>
          <a:p>
            <a:fld id="{4034F329-E071-4BA7-9997-68DE4CC086BF}" type="slidenum">
              <a:rPr lang="en-IN" smtClean="0"/>
              <a:t>‹#›</a:t>
            </a:fld>
            <a:endParaRPr lang="en-IN"/>
          </a:p>
        </p:txBody>
      </p:sp>
    </p:spTree>
    <p:extLst>
      <p:ext uri="{BB962C8B-B14F-4D97-AF65-F5344CB8AC3E}">
        <p14:creationId xmlns:p14="http://schemas.microsoft.com/office/powerpoint/2010/main" val="27590567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0E9350F-C278-4F6B-A285-2BE8286349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AB0D8B-91BA-4529-AC68-2B0CC09AE9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E40C765-2FC5-49BB-9937-1C4F11718A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FA8EB7-9CB2-456E-AECE-9A0486F673C3}" type="datetimeFigureOut">
              <a:rPr lang="en-IN" smtClean="0"/>
              <a:t>03-08-2025</a:t>
            </a:fld>
            <a:endParaRPr lang="en-IN"/>
          </a:p>
        </p:txBody>
      </p:sp>
      <p:sp>
        <p:nvSpPr>
          <p:cNvPr id="5" name="Footer Placeholder 4">
            <a:extLst>
              <a:ext uri="{FF2B5EF4-FFF2-40B4-BE49-F238E27FC236}">
                <a16:creationId xmlns:a16="http://schemas.microsoft.com/office/drawing/2014/main" id="{6F96BF6D-8C2D-4369-907A-BB7BFE339B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2E0CBE2-2680-4F36-8781-07A02507C9A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34F329-E071-4BA7-9997-68DE4CC086BF}" type="slidenum">
              <a:rPr lang="en-IN" smtClean="0"/>
              <a:t>‹#›</a:t>
            </a:fld>
            <a:endParaRPr lang="en-IN"/>
          </a:p>
        </p:txBody>
      </p:sp>
    </p:spTree>
    <p:extLst>
      <p:ext uri="{BB962C8B-B14F-4D97-AF65-F5344CB8AC3E}">
        <p14:creationId xmlns:p14="http://schemas.microsoft.com/office/powerpoint/2010/main" val="33779201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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@github.com/PratPro/project_pandeyprat.git" TargetMode="External"/><Relationship Id="rId2" Type="http://schemas.openxmlformats.org/officeDocument/2006/relationships/hyperlink" Target="https://%3cPAT%3e@github.com/PratPro/project_pandeyprat.git"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mailto:scholar.prateekpandey@gmail.com"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hyperlink" Target="https://workforce.libretexts.org/Bookshelves/Information_Technology/Book:_Computer_Fundamentals_for_Technical_Students_(Heisserer)/01:_How_does_a_computer_work/1.03:_What_are_the_Different_Types_of_Computers" TargetMode="External"/><Relationship Id="rId7" Type="http://schemas.openxmlformats.org/officeDocument/2006/relationships/hyperlink" Target="https://askleo.com/the_first_eight_things_to_do_with_your_new_computer/" TargetMode="Externa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hyperlink" Target="http://oslerwater.blogspot.com/2011/12/dell-decided-to-kill-their-notebooks.html" TargetMode="External"/><Relationship Id="rId4" Type="http://schemas.openxmlformats.org/officeDocument/2006/relationships/image" Target="../media/image5.jpg"/></Relationships>
</file>

<file path=ppt/slides/_rels/slide36.xml.rels><?xml version="1.0" encoding="UTF-8" standalone="yes"?>
<Relationships xmlns="http://schemas.openxmlformats.org/package/2006/relationships"><Relationship Id="rId3" Type="http://schemas.openxmlformats.org/officeDocument/2006/relationships/hyperlink" Target="https://www.flickr.com/photos/ryanh/6159726256"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gif"/><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s://lthub.ubc.ca/guides/github-instructor-guide/" TargetMode="External"/></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4EC24-916D-4550-8170-930DC24C35A2}"/>
              </a:ext>
            </a:extLst>
          </p:cNvPr>
          <p:cNvSpPr>
            <a:spLocks noGrp="1"/>
          </p:cNvSpPr>
          <p:nvPr>
            <p:ph type="ctrTitle"/>
          </p:nvPr>
        </p:nvSpPr>
        <p:spPr/>
        <p:txBody>
          <a:bodyPr/>
          <a:lstStyle/>
          <a:p>
            <a:r>
              <a:rPr lang="en-IN" dirty="0"/>
              <a:t>Git</a:t>
            </a:r>
          </a:p>
        </p:txBody>
      </p:sp>
      <p:sp>
        <p:nvSpPr>
          <p:cNvPr id="3" name="Subtitle 2">
            <a:extLst>
              <a:ext uri="{FF2B5EF4-FFF2-40B4-BE49-F238E27FC236}">
                <a16:creationId xmlns:a16="http://schemas.microsoft.com/office/drawing/2014/main" id="{F87852F1-2DB7-416E-B6AB-243E4F37BD19}"/>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3646603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8DCC4-F147-485C-8C2D-102435B9C736}"/>
              </a:ext>
            </a:extLst>
          </p:cNvPr>
          <p:cNvSpPr>
            <a:spLocks noGrp="1"/>
          </p:cNvSpPr>
          <p:nvPr>
            <p:ph type="title"/>
          </p:nvPr>
        </p:nvSpPr>
        <p:spPr/>
        <p:txBody>
          <a:bodyPr/>
          <a:lstStyle/>
          <a:p>
            <a:pPr algn="ctr"/>
            <a:r>
              <a:rPr lang="en-IN" dirty="0"/>
              <a:t>Requirement</a:t>
            </a:r>
          </a:p>
        </p:txBody>
      </p:sp>
      <p:sp>
        <p:nvSpPr>
          <p:cNvPr id="3" name="Content Placeholder 2">
            <a:extLst>
              <a:ext uri="{FF2B5EF4-FFF2-40B4-BE49-F238E27FC236}">
                <a16:creationId xmlns:a16="http://schemas.microsoft.com/office/drawing/2014/main" id="{E7A99188-0217-44EF-B9D7-960F5C8D0D4A}"/>
              </a:ext>
            </a:extLst>
          </p:cNvPr>
          <p:cNvSpPr>
            <a:spLocks noGrp="1"/>
          </p:cNvSpPr>
          <p:nvPr>
            <p:ph idx="1"/>
          </p:nvPr>
        </p:nvSpPr>
        <p:spPr/>
        <p:txBody>
          <a:bodyPr>
            <a:normAutofit lnSpcReduction="10000"/>
          </a:bodyPr>
          <a:lstStyle/>
          <a:p>
            <a:r>
              <a:rPr lang="en-IN" dirty="0"/>
              <a:t>You need Git at your PC</a:t>
            </a:r>
          </a:p>
          <a:p>
            <a:r>
              <a:rPr lang="en-IN" dirty="0"/>
              <a:t>You need GitHub on the server. Make a GitHub account.</a:t>
            </a:r>
          </a:p>
          <a:p>
            <a:r>
              <a:rPr lang="en-IN" dirty="0"/>
              <a:t>Once you make a GitHub account, create a repository, under your username.</a:t>
            </a:r>
          </a:p>
          <a:p>
            <a:r>
              <a:rPr lang="en-IN" dirty="0"/>
              <a:t>On your PC, preferably use </a:t>
            </a:r>
            <a:r>
              <a:rPr lang="en-IN" dirty="0" err="1"/>
              <a:t>GitBash</a:t>
            </a:r>
            <a:r>
              <a:rPr lang="en-IN" dirty="0"/>
              <a:t> shell and Notepad++.</a:t>
            </a:r>
          </a:p>
          <a:p>
            <a:r>
              <a:rPr lang="en-IN" dirty="0"/>
              <a:t>Make a clone of repo on GitHub to your PC using personal access tokens.</a:t>
            </a:r>
          </a:p>
          <a:p>
            <a:r>
              <a:rPr lang="en-IN" dirty="0"/>
              <a:t>personal access token is some token generated with an expiry date (preferably) after passing some string (like blockchain Ethereum).</a:t>
            </a:r>
          </a:p>
          <a:p>
            <a:r>
              <a:rPr lang="en-IN" dirty="0"/>
              <a:t>Git has stopped supporting username and password since Aug 2021.</a:t>
            </a:r>
          </a:p>
          <a:p>
            <a:endParaRPr lang="en-IN" dirty="0"/>
          </a:p>
        </p:txBody>
      </p:sp>
    </p:spTree>
    <p:extLst>
      <p:ext uri="{BB962C8B-B14F-4D97-AF65-F5344CB8AC3E}">
        <p14:creationId xmlns:p14="http://schemas.microsoft.com/office/powerpoint/2010/main" val="35844408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D02CD-0327-4794-996F-1AC0D4599003}"/>
              </a:ext>
            </a:extLst>
          </p:cNvPr>
          <p:cNvSpPr>
            <a:spLocks noGrp="1"/>
          </p:cNvSpPr>
          <p:nvPr>
            <p:ph type="title"/>
          </p:nvPr>
        </p:nvSpPr>
        <p:spPr/>
        <p:txBody>
          <a:bodyPr/>
          <a:lstStyle/>
          <a:p>
            <a:pPr algn="ctr"/>
            <a:r>
              <a:rPr lang="en-IN" dirty="0"/>
              <a:t>Procedure </a:t>
            </a:r>
            <a:r>
              <a:rPr lang="en-IN"/>
              <a:t>to setup</a:t>
            </a:r>
            <a:endParaRPr lang="en-IN" dirty="0"/>
          </a:p>
        </p:txBody>
      </p:sp>
      <p:sp>
        <p:nvSpPr>
          <p:cNvPr id="3" name="Content Placeholder 2">
            <a:extLst>
              <a:ext uri="{FF2B5EF4-FFF2-40B4-BE49-F238E27FC236}">
                <a16:creationId xmlns:a16="http://schemas.microsoft.com/office/drawing/2014/main" id="{D84F1408-9FF8-4244-9A53-A7E1320C293C}"/>
              </a:ext>
            </a:extLst>
          </p:cNvPr>
          <p:cNvSpPr>
            <a:spLocks noGrp="1"/>
          </p:cNvSpPr>
          <p:nvPr>
            <p:ph idx="1"/>
          </p:nvPr>
        </p:nvSpPr>
        <p:spPr/>
        <p:txBody>
          <a:bodyPr>
            <a:normAutofit fontScale="55000" lnSpcReduction="20000"/>
          </a:bodyPr>
          <a:lstStyle/>
          <a:p>
            <a:r>
              <a:rPr lang="en-IN" dirty="0"/>
              <a:t>create a repo in </a:t>
            </a:r>
            <a:r>
              <a:rPr lang="en-IN" dirty="0" err="1"/>
              <a:t>github</a:t>
            </a:r>
            <a:endParaRPr lang="en-IN" dirty="0"/>
          </a:p>
          <a:p>
            <a:r>
              <a:rPr lang="en-IN" dirty="0"/>
              <a:t>clone this repo in git using command</a:t>
            </a:r>
          </a:p>
          <a:p>
            <a:r>
              <a:rPr lang="en-IN" dirty="0"/>
              <a:t>git clone &lt;copy the </a:t>
            </a:r>
            <a:r>
              <a:rPr lang="en-IN" dirty="0" err="1"/>
              <a:t>url</a:t>
            </a:r>
            <a:r>
              <a:rPr lang="en-IN" dirty="0"/>
              <a:t> address from </a:t>
            </a:r>
            <a:r>
              <a:rPr lang="en-IN" dirty="0" err="1"/>
              <a:t>github</a:t>
            </a:r>
            <a:r>
              <a:rPr lang="en-IN" dirty="0"/>
              <a:t> itself&gt;</a:t>
            </a:r>
          </a:p>
          <a:p>
            <a:r>
              <a:rPr lang="en-IN" dirty="0"/>
              <a:t>A folder with the name of remote repo will be created in your git home path. c:/user/pandeype</a:t>
            </a:r>
          </a:p>
          <a:p>
            <a:r>
              <a:rPr lang="en-IN" dirty="0"/>
              <a:t>create a file and write something in it.</a:t>
            </a:r>
          </a:p>
          <a:p>
            <a:r>
              <a:rPr lang="en-IN" dirty="0"/>
              <a:t>check git status //it will show the file is </a:t>
            </a:r>
            <a:r>
              <a:rPr lang="en-IN" dirty="0" err="1"/>
              <a:t>unstaged</a:t>
            </a:r>
            <a:endParaRPr lang="en-IN" dirty="0"/>
          </a:p>
          <a:p>
            <a:r>
              <a:rPr lang="en-IN" dirty="0"/>
              <a:t>git add .  and then git commit –m “first file added”</a:t>
            </a:r>
          </a:p>
          <a:p>
            <a:r>
              <a:rPr lang="en-IN" dirty="0"/>
              <a:t>git push   //you will see git prompts for password and username, actually this has been deprecated and won’t work</a:t>
            </a:r>
          </a:p>
          <a:p>
            <a:r>
              <a:rPr lang="en-IN" dirty="0"/>
              <a:t>So, I will generate Personal Access Token (PAT)</a:t>
            </a:r>
          </a:p>
          <a:p>
            <a:r>
              <a:rPr lang="en-IN" dirty="0"/>
              <a:t>git push &lt;repo address </a:t>
            </a:r>
            <a:r>
              <a:rPr lang="en-IN" dirty="0" err="1"/>
              <a:t>url</a:t>
            </a:r>
            <a:r>
              <a:rPr lang="en-IN" dirty="0"/>
              <a:t>&gt;  // you will </a:t>
            </a:r>
            <a:r>
              <a:rPr lang="en-IN" dirty="0" err="1"/>
              <a:t>tweek</a:t>
            </a:r>
            <a:r>
              <a:rPr lang="en-IN" dirty="0"/>
              <a:t> your PAT before git.com in URL. </a:t>
            </a:r>
          </a:p>
          <a:p>
            <a:r>
              <a:rPr lang="en-IN" dirty="0">
                <a:highlight>
                  <a:srgbClr val="FFFF00"/>
                </a:highlight>
                <a:hlinkClick r:id="rId2"/>
              </a:rPr>
              <a:t>https://&lt;PAT&gt;@github.com/PratPro/project_pandeyprat.git</a:t>
            </a:r>
            <a:endParaRPr lang="en-IN" dirty="0">
              <a:highlight>
                <a:srgbClr val="FFFF00"/>
              </a:highlight>
            </a:endParaRPr>
          </a:p>
          <a:p>
            <a:r>
              <a:rPr lang="en-IN" dirty="0">
                <a:highlight>
                  <a:srgbClr val="FFFF00"/>
                </a:highlight>
              </a:rPr>
              <a:t>Issue is each time it will ask for username and password while push, so what you can do:</a:t>
            </a:r>
          </a:p>
          <a:p>
            <a:r>
              <a:rPr lang="en-IN" sz="1800" dirty="0">
                <a:solidFill>
                  <a:prstClr val="black"/>
                </a:solidFill>
                <a:latin typeface="Lucida Console" panose="020B0609040504020204" pitchFamily="49" charset="0"/>
              </a:rPr>
              <a:t> git remote set-</a:t>
            </a:r>
            <a:r>
              <a:rPr lang="en-IN" sz="1800" dirty="0" err="1">
                <a:solidFill>
                  <a:prstClr val="black"/>
                </a:solidFill>
                <a:latin typeface="Lucida Console" panose="020B0609040504020204" pitchFamily="49" charset="0"/>
              </a:rPr>
              <a:t>url</a:t>
            </a:r>
            <a:r>
              <a:rPr lang="en-IN" sz="1800" dirty="0">
                <a:solidFill>
                  <a:prstClr val="black"/>
                </a:solidFill>
                <a:latin typeface="Lucida Console" panose="020B0609040504020204" pitchFamily="49" charset="0"/>
              </a:rPr>
              <a:t> origin </a:t>
            </a:r>
            <a:r>
              <a:rPr lang="en-IN" sz="1800" dirty="0">
                <a:solidFill>
                  <a:prstClr val="black"/>
                </a:solidFill>
                <a:latin typeface="Lucida Console" panose="020B0609040504020204" pitchFamily="49" charset="0"/>
                <a:hlinkClick r:id="rId3"/>
              </a:rPr>
              <a:t>https://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@github.com/PratPro/project_pandeyprat.git</a:t>
            </a:r>
            <a:endParaRPr lang="en-IN" sz="1800" dirty="0">
              <a:solidFill>
                <a:prstClr val="black"/>
              </a:solidFill>
              <a:latin typeface="Lucida Console" panose="020B0609040504020204" pitchFamily="49" charset="0"/>
            </a:endParaRPr>
          </a:p>
          <a:p>
            <a:r>
              <a:rPr lang="en-IN" sz="1800" dirty="0">
                <a:solidFill>
                  <a:prstClr val="black"/>
                </a:solidFill>
                <a:latin typeface="Lucida Console" panose="020B0609040504020204" pitchFamily="49" charset="0"/>
              </a:rPr>
              <a:t>If you haven’t cloned then from git:</a:t>
            </a:r>
          </a:p>
          <a:p>
            <a:r>
              <a:rPr lang="en-US" sz="1800">
                <a:solidFill>
                  <a:prstClr val="black"/>
                </a:solidFill>
                <a:latin typeface="Lucida Console" panose="020B0609040504020204" pitchFamily="49" charset="0"/>
              </a:rPr>
              <a:t> git remote add origin https://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@github.com/prateekpandeyscholar/ProjectFirki.git</a:t>
            </a:r>
          </a:p>
          <a:p>
            <a:endParaRPr lang="en-IN" sz="1800" dirty="0">
              <a:solidFill>
                <a:prstClr val="black"/>
              </a:solidFill>
              <a:latin typeface="Lucida Console" panose="020B0609040504020204" pitchFamily="49" charset="0"/>
            </a:endParaRPr>
          </a:p>
          <a:p>
            <a:endParaRPr lang="en-IN" dirty="0">
              <a:highlight>
                <a:srgbClr val="FFFF00"/>
              </a:highlight>
            </a:endParaRPr>
          </a:p>
        </p:txBody>
      </p:sp>
    </p:spTree>
    <p:extLst>
      <p:ext uri="{BB962C8B-B14F-4D97-AF65-F5344CB8AC3E}">
        <p14:creationId xmlns:p14="http://schemas.microsoft.com/office/powerpoint/2010/main" val="15541521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CE9B4-F1A1-46FD-AA62-A6B585E428D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D198E56-3A64-4FC1-AC7B-9FFCA2A5AD31}"/>
              </a:ext>
            </a:extLst>
          </p:cNvPr>
          <p:cNvSpPr>
            <a:spLocks noGrp="1"/>
          </p:cNvSpPr>
          <p:nvPr>
            <p:ph idx="1"/>
          </p:nvPr>
        </p:nvSpPr>
        <p:spPr/>
        <p:txBody>
          <a:bodyPr/>
          <a:lstStyle/>
          <a:p>
            <a:r>
              <a:rPr lang="en-IN" dirty="0"/>
              <a:t>git config - - list  //shows the configuration file, check your username and email here.</a:t>
            </a:r>
          </a:p>
          <a:p>
            <a:r>
              <a:rPr lang="en-IN" dirty="0"/>
              <a:t>git config - - global user.name “Prateek” //set username</a:t>
            </a:r>
          </a:p>
          <a:p>
            <a:r>
              <a:rPr lang="en-IN" dirty="0"/>
              <a:t>git config - - global </a:t>
            </a:r>
            <a:r>
              <a:rPr lang="en-IN" dirty="0" err="1"/>
              <a:t>user.email</a:t>
            </a:r>
            <a:r>
              <a:rPr lang="en-IN" dirty="0"/>
              <a:t> </a:t>
            </a:r>
            <a:r>
              <a:rPr lang="en-IN" dirty="0">
                <a:hlinkClick r:id="rId2"/>
              </a:rPr>
              <a:t>scholar.prateekpandey@gmail.com</a:t>
            </a:r>
            <a:endParaRPr lang="en-IN" dirty="0"/>
          </a:p>
          <a:p>
            <a:r>
              <a:rPr lang="en-IN" dirty="0"/>
              <a:t>git config - - global –unset </a:t>
            </a:r>
            <a:r>
              <a:rPr lang="en-IN" dirty="0" err="1"/>
              <a:t>user.email</a:t>
            </a:r>
            <a:r>
              <a:rPr lang="en-IN" dirty="0"/>
              <a:t>  //remove some entry from  config file</a:t>
            </a:r>
          </a:p>
          <a:p>
            <a:r>
              <a:rPr lang="en-IN" dirty="0"/>
              <a:t>This will be the user who will do work and commit on the remote repo.</a:t>
            </a:r>
          </a:p>
          <a:p>
            <a:r>
              <a:rPr lang="en-IN" dirty="0"/>
              <a:t>User on remote repo can be same or different.</a:t>
            </a:r>
          </a:p>
        </p:txBody>
      </p:sp>
    </p:spTree>
    <p:extLst>
      <p:ext uri="{BB962C8B-B14F-4D97-AF65-F5344CB8AC3E}">
        <p14:creationId xmlns:p14="http://schemas.microsoft.com/office/powerpoint/2010/main" val="17741442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47216-F760-4A26-9226-6C89C38E8E33}"/>
              </a:ext>
            </a:extLst>
          </p:cNvPr>
          <p:cNvSpPr>
            <a:spLocks noGrp="1"/>
          </p:cNvSpPr>
          <p:nvPr>
            <p:ph type="title"/>
          </p:nvPr>
        </p:nvSpPr>
        <p:spPr/>
        <p:txBody>
          <a:bodyPr/>
          <a:lstStyle/>
          <a:p>
            <a:r>
              <a:rPr lang="en-IN" dirty="0" err="1"/>
              <a:t>Unstaged</a:t>
            </a:r>
            <a:r>
              <a:rPr lang="en-IN" dirty="0"/>
              <a:t>, Staged, Committed, and Pushed</a:t>
            </a:r>
          </a:p>
        </p:txBody>
      </p:sp>
      <p:sp>
        <p:nvSpPr>
          <p:cNvPr id="3" name="Content Placeholder 2">
            <a:extLst>
              <a:ext uri="{FF2B5EF4-FFF2-40B4-BE49-F238E27FC236}">
                <a16:creationId xmlns:a16="http://schemas.microsoft.com/office/drawing/2014/main" id="{ABBBF719-8481-4C26-B7EE-4954CC76EE5A}"/>
              </a:ext>
            </a:extLst>
          </p:cNvPr>
          <p:cNvSpPr>
            <a:spLocks noGrp="1"/>
          </p:cNvSpPr>
          <p:nvPr>
            <p:ph idx="1"/>
          </p:nvPr>
        </p:nvSpPr>
        <p:spPr/>
        <p:txBody>
          <a:bodyPr>
            <a:normAutofit fontScale="92500" lnSpcReduction="10000"/>
          </a:bodyPr>
          <a:lstStyle/>
          <a:p>
            <a:r>
              <a:rPr lang="en-IN" dirty="0"/>
              <a:t>4 life stages of a file.</a:t>
            </a:r>
          </a:p>
          <a:p>
            <a:r>
              <a:rPr lang="en-IN" dirty="0"/>
              <a:t>When you create a file in your local repo, it is </a:t>
            </a:r>
            <a:r>
              <a:rPr lang="en-IN" dirty="0" err="1"/>
              <a:t>unstaged</a:t>
            </a:r>
            <a:r>
              <a:rPr lang="en-IN" dirty="0"/>
              <a:t> by default.</a:t>
            </a:r>
          </a:p>
          <a:p>
            <a:r>
              <a:rPr lang="en-IN" dirty="0"/>
              <a:t>You write command git add </a:t>
            </a:r>
            <a:r>
              <a:rPr lang="en-IN" dirty="0" err="1"/>
              <a:t>filename.extension</a:t>
            </a:r>
            <a:r>
              <a:rPr lang="en-IN" dirty="0">
                <a:sym typeface="Wingdings" panose="05000000000000000000" pitchFamily="2" charset="2"/>
              </a:rPr>
              <a:t> it is staged</a:t>
            </a:r>
          </a:p>
          <a:p>
            <a:r>
              <a:rPr lang="en-IN" dirty="0">
                <a:sym typeface="Wingdings" panose="05000000000000000000" pitchFamily="2" charset="2"/>
              </a:rPr>
              <a:t>You write command git commit –m “This is the change I’ve made”</a:t>
            </a:r>
          </a:p>
          <a:p>
            <a:r>
              <a:rPr lang="en-IN" dirty="0">
                <a:sym typeface="Wingdings" panose="05000000000000000000" pitchFamily="2" charset="2"/>
              </a:rPr>
              <a:t>//above command commits a file.</a:t>
            </a:r>
          </a:p>
          <a:p>
            <a:r>
              <a:rPr lang="en-IN" dirty="0">
                <a:sym typeface="Wingdings" panose="05000000000000000000" pitchFamily="2" charset="2"/>
              </a:rPr>
              <a:t>git push  //push the file from local repo to the remote repo. So consistency is maintained.</a:t>
            </a:r>
          </a:p>
          <a:p>
            <a:r>
              <a:rPr lang="en-IN" dirty="0">
                <a:sym typeface="Wingdings" panose="05000000000000000000" pitchFamily="2" charset="2"/>
              </a:rPr>
              <a:t>Other commands-&gt; </a:t>
            </a:r>
            <a:r>
              <a:rPr lang="en-IN" dirty="0" err="1">
                <a:sym typeface="Wingdings" panose="05000000000000000000" pitchFamily="2" charset="2"/>
              </a:rPr>
              <a:t>mkdir</a:t>
            </a:r>
            <a:r>
              <a:rPr lang="en-IN" dirty="0">
                <a:sym typeface="Wingdings" panose="05000000000000000000" pitchFamily="2" charset="2"/>
              </a:rPr>
              <a:t>, cd, ls, git mv, git log, git log –</a:t>
            </a:r>
            <a:r>
              <a:rPr lang="en-IN" dirty="0" err="1">
                <a:sym typeface="Wingdings" panose="05000000000000000000" pitchFamily="2" charset="2"/>
              </a:rPr>
              <a:t>oneline</a:t>
            </a:r>
            <a:endParaRPr lang="en-IN" dirty="0">
              <a:sym typeface="Wingdings" panose="05000000000000000000" pitchFamily="2" charset="2"/>
            </a:endParaRPr>
          </a:p>
          <a:p>
            <a:r>
              <a:rPr lang="en-IN" dirty="0">
                <a:sym typeface="Wingdings" panose="05000000000000000000" pitchFamily="2" charset="2"/>
              </a:rPr>
              <a:t>//git log gives details of past commits, </a:t>
            </a:r>
            <a:r>
              <a:rPr lang="en-IN" dirty="0" err="1">
                <a:sym typeface="Wingdings" panose="05000000000000000000" pitchFamily="2" charset="2"/>
              </a:rPr>
              <a:t>oneline</a:t>
            </a:r>
            <a:r>
              <a:rPr lang="en-IN" dirty="0">
                <a:sym typeface="Wingdings" panose="05000000000000000000" pitchFamily="2" charset="2"/>
              </a:rPr>
              <a:t> gives briefly</a:t>
            </a:r>
          </a:p>
          <a:p>
            <a:r>
              <a:rPr lang="en-IN" dirty="0">
                <a:sym typeface="Wingdings" panose="05000000000000000000" pitchFamily="2" charset="2"/>
              </a:rPr>
              <a:t>//head is the pointer points to the current commit.</a:t>
            </a:r>
            <a:endParaRPr lang="en-IN" dirty="0"/>
          </a:p>
        </p:txBody>
      </p:sp>
    </p:spTree>
    <p:extLst>
      <p:ext uri="{BB962C8B-B14F-4D97-AF65-F5344CB8AC3E}">
        <p14:creationId xmlns:p14="http://schemas.microsoft.com/office/powerpoint/2010/main" val="8879524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33A09E-FC1D-47B2-852C-B5DACF6BFBEE}"/>
              </a:ext>
            </a:extLst>
          </p:cNvPr>
          <p:cNvSpPr>
            <a:spLocks noGrp="1"/>
          </p:cNvSpPr>
          <p:nvPr>
            <p:ph type="title"/>
          </p:nvPr>
        </p:nvSpPr>
        <p:spPr/>
        <p:txBody>
          <a:bodyPr/>
          <a:lstStyle/>
          <a:p>
            <a:pPr algn="ctr"/>
            <a:r>
              <a:rPr lang="en-IN" dirty="0"/>
              <a:t>Making changes in a file</a:t>
            </a:r>
          </a:p>
        </p:txBody>
      </p:sp>
      <p:sp>
        <p:nvSpPr>
          <p:cNvPr id="3" name="Content Placeholder 2">
            <a:extLst>
              <a:ext uri="{FF2B5EF4-FFF2-40B4-BE49-F238E27FC236}">
                <a16:creationId xmlns:a16="http://schemas.microsoft.com/office/drawing/2014/main" id="{DDD55869-41D1-4A5A-A548-805730E4C7FC}"/>
              </a:ext>
            </a:extLst>
          </p:cNvPr>
          <p:cNvSpPr>
            <a:spLocks noGrp="1"/>
          </p:cNvSpPr>
          <p:nvPr>
            <p:ph idx="1"/>
          </p:nvPr>
        </p:nvSpPr>
        <p:spPr/>
        <p:txBody>
          <a:bodyPr/>
          <a:lstStyle/>
          <a:p>
            <a:r>
              <a:rPr lang="en-IN" dirty="0"/>
              <a:t>You change a file and it is back to the </a:t>
            </a:r>
            <a:r>
              <a:rPr lang="en-IN" dirty="0" err="1"/>
              <a:t>unstaged</a:t>
            </a:r>
            <a:r>
              <a:rPr lang="en-IN" dirty="0"/>
              <a:t> state. Add it, commit it and push it again.</a:t>
            </a:r>
          </a:p>
          <a:p>
            <a:r>
              <a:rPr lang="en-IN" dirty="0"/>
              <a:t>Same goes with renaming and deleting a file.</a:t>
            </a:r>
          </a:p>
          <a:p>
            <a:r>
              <a:rPr lang="en-IN" dirty="0"/>
              <a:t>“mv </a:t>
            </a:r>
            <a:r>
              <a:rPr lang="en-IN" dirty="0" err="1"/>
              <a:t>oldfilename.ext</a:t>
            </a:r>
            <a:r>
              <a:rPr lang="en-IN" dirty="0"/>
              <a:t>  </a:t>
            </a:r>
            <a:r>
              <a:rPr lang="en-IN" dirty="0" err="1"/>
              <a:t>newfilename.ext</a:t>
            </a:r>
            <a:r>
              <a:rPr lang="en-IN" dirty="0"/>
              <a:t>” combines deleting old file and creating new file in </a:t>
            </a:r>
            <a:r>
              <a:rPr lang="en-IN" dirty="0" err="1"/>
              <a:t>unstage</a:t>
            </a:r>
            <a:r>
              <a:rPr lang="en-IN" dirty="0"/>
              <a:t> stage. This is renaming.</a:t>
            </a:r>
          </a:p>
        </p:txBody>
      </p:sp>
    </p:spTree>
    <p:extLst>
      <p:ext uri="{BB962C8B-B14F-4D97-AF65-F5344CB8AC3E}">
        <p14:creationId xmlns:p14="http://schemas.microsoft.com/office/powerpoint/2010/main" val="22758362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716EE-3A28-4884-BC67-0D4CDAE6CFF1}"/>
              </a:ext>
            </a:extLst>
          </p:cNvPr>
          <p:cNvSpPr>
            <a:spLocks noGrp="1"/>
          </p:cNvSpPr>
          <p:nvPr>
            <p:ph type="title"/>
          </p:nvPr>
        </p:nvSpPr>
        <p:spPr/>
        <p:txBody>
          <a:bodyPr/>
          <a:lstStyle/>
          <a:p>
            <a:pPr algn="ctr"/>
            <a:r>
              <a:rPr lang="en-IN"/>
              <a:t>Travelling in past</a:t>
            </a:r>
          </a:p>
        </p:txBody>
      </p:sp>
      <p:sp>
        <p:nvSpPr>
          <p:cNvPr id="3" name="Content Placeholder 2">
            <a:extLst>
              <a:ext uri="{FF2B5EF4-FFF2-40B4-BE49-F238E27FC236}">
                <a16:creationId xmlns:a16="http://schemas.microsoft.com/office/drawing/2014/main" id="{0265340E-51E9-4E33-B907-7C37F1B0B4AC}"/>
              </a:ext>
            </a:extLst>
          </p:cNvPr>
          <p:cNvSpPr>
            <a:spLocks noGrp="1"/>
          </p:cNvSpPr>
          <p:nvPr>
            <p:ph idx="1"/>
          </p:nvPr>
        </p:nvSpPr>
        <p:spPr/>
        <p:txBody>
          <a:bodyPr>
            <a:normAutofit fontScale="85000" lnSpcReduction="20000"/>
          </a:bodyPr>
          <a:lstStyle/>
          <a:p>
            <a:r>
              <a:rPr lang="en-IN" dirty="0"/>
              <a:t>use git log –</a:t>
            </a:r>
            <a:r>
              <a:rPr lang="en-IN" dirty="0" err="1"/>
              <a:t>oneline</a:t>
            </a:r>
            <a:r>
              <a:rPr lang="en-IN" dirty="0"/>
              <a:t>  to get the id of the past you want to travel to</a:t>
            </a:r>
          </a:p>
          <a:p>
            <a:r>
              <a:rPr lang="en-IN" dirty="0"/>
              <a:t>use git checkout id  // to get to the past</a:t>
            </a:r>
          </a:p>
          <a:p>
            <a:r>
              <a:rPr lang="en-IN" dirty="0"/>
              <a:t>Don’t make changes in the past or timeline will be messed</a:t>
            </a:r>
          </a:p>
          <a:p>
            <a:r>
              <a:rPr lang="en-IN" dirty="0"/>
              <a:t>instead branch-off from the past using git switch -c &lt;branch-name&gt;</a:t>
            </a:r>
          </a:p>
          <a:p>
            <a:r>
              <a:rPr lang="en-IN" dirty="0"/>
              <a:t>Make some changes in the past file. add, commit and then push to the remote. If you don’t make any change in the past file, Message will be thrown “Not anything </a:t>
            </a:r>
            <a:r>
              <a:rPr lang="en-IN"/>
              <a:t>to merge”.</a:t>
            </a:r>
            <a:endParaRPr lang="en-IN" dirty="0"/>
          </a:p>
          <a:p>
            <a:r>
              <a:rPr lang="en-IN" dirty="0"/>
              <a:t>use git checkout master (main maybe) to come back to the future.</a:t>
            </a:r>
          </a:p>
          <a:p>
            <a:r>
              <a:rPr lang="en-IN" dirty="0"/>
              <a:t>Best Practices:</a:t>
            </a:r>
          </a:p>
          <a:p>
            <a:r>
              <a:rPr lang="en-IN" dirty="0"/>
              <a:t>Do commit often</a:t>
            </a:r>
          </a:p>
          <a:p>
            <a:r>
              <a:rPr lang="en-IN" dirty="0"/>
              <a:t>Commit must be atomic</a:t>
            </a:r>
          </a:p>
          <a:p>
            <a:r>
              <a:rPr lang="en-IN" dirty="0"/>
              <a:t>Use comments with commit</a:t>
            </a:r>
          </a:p>
        </p:txBody>
      </p:sp>
    </p:spTree>
    <p:extLst>
      <p:ext uri="{BB962C8B-B14F-4D97-AF65-F5344CB8AC3E}">
        <p14:creationId xmlns:p14="http://schemas.microsoft.com/office/powerpoint/2010/main" val="15455584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50F84-DCC6-40C8-88E4-5203680EDF11}"/>
              </a:ext>
            </a:extLst>
          </p:cNvPr>
          <p:cNvSpPr>
            <a:spLocks noGrp="1"/>
          </p:cNvSpPr>
          <p:nvPr>
            <p:ph type="title"/>
          </p:nvPr>
        </p:nvSpPr>
        <p:spPr/>
        <p:txBody>
          <a:bodyPr/>
          <a:lstStyle/>
          <a:p>
            <a:pPr algn="ctr"/>
            <a:r>
              <a:rPr lang="en-IN" dirty="0"/>
              <a:t>Tags</a:t>
            </a:r>
          </a:p>
        </p:txBody>
      </p:sp>
      <p:sp>
        <p:nvSpPr>
          <p:cNvPr id="3" name="Content Placeholder 2">
            <a:extLst>
              <a:ext uri="{FF2B5EF4-FFF2-40B4-BE49-F238E27FC236}">
                <a16:creationId xmlns:a16="http://schemas.microsoft.com/office/drawing/2014/main" id="{6ABBAD4F-8AAD-44DA-93F5-A2DC591A0E21}"/>
              </a:ext>
            </a:extLst>
          </p:cNvPr>
          <p:cNvSpPr>
            <a:spLocks noGrp="1"/>
          </p:cNvSpPr>
          <p:nvPr>
            <p:ph idx="1"/>
          </p:nvPr>
        </p:nvSpPr>
        <p:spPr/>
        <p:txBody>
          <a:bodyPr/>
          <a:lstStyle/>
          <a:p>
            <a:r>
              <a:rPr lang="en-IN" dirty="0"/>
              <a:t>Tags are a label that are attached to a commit to make it easily findable.</a:t>
            </a:r>
          </a:p>
          <a:p>
            <a:r>
              <a:rPr lang="en-IN" dirty="0"/>
              <a:t>Tags have a name and description (both optional but highly recommended)</a:t>
            </a:r>
          </a:p>
          <a:p>
            <a:r>
              <a:rPr lang="en-IN" dirty="0"/>
              <a:t>Tags need to be pushed to the remote repo</a:t>
            </a:r>
          </a:p>
          <a:p>
            <a:r>
              <a:rPr lang="en-IN" dirty="0"/>
              <a:t>Tags are generally created for every new release of your file.</a:t>
            </a:r>
          </a:p>
          <a:p>
            <a:r>
              <a:rPr lang="en-IN" dirty="0"/>
              <a:t>So Tags are commits having no ordinary value.</a:t>
            </a:r>
          </a:p>
          <a:p>
            <a:r>
              <a:rPr lang="en-IN" dirty="0"/>
              <a:t>With tags you won’t have to find or type commit id’s to  go back to past. Just use </a:t>
            </a:r>
            <a:r>
              <a:rPr lang="en-IN" dirty="0" err="1"/>
              <a:t>tagNames</a:t>
            </a:r>
            <a:r>
              <a:rPr lang="en-IN" dirty="0"/>
              <a:t>.</a:t>
            </a:r>
          </a:p>
        </p:txBody>
      </p:sp>
    </p:spTree>
    <p:extLst>
      <p:ext uri="{BB962C8B-B14F-4D97-AF65-F5344CB8AC3E}">
        <p14:creationId xmlns:p14="http://schemas.microsoft.com/office/powerpoint/2010/main" val="1535507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C17A5-3DC6-458B-AE4D-1865FAD4A6DA}"/>
              </a:ext>
            </a:extLst>
          </p:cNvPr>
          <p:cNvSpPr>
            <a:spLocks noGrp="1"/>
          </p:cNvSpPr>
          <p:nvPr>
            <p:ph type="title"/>
          </p:nvPr>
        </p:nvSpPr>
        <p:spPr/>
        <p:txBody>
          <a:bodyPr/>
          <a:lstStyle/>
          <a:p>
            <a:pPr algn="ctr"/>
            <a:r>
              <a:rPr lang="en-IN" dirty="0"/>
              <a:t>Commands with tag</a:t>
            </a:r>
          </a:p>
        </p:txBody>
      </p:sp>
      <p:sp>
        <p:nvSpPr>
          <p:cNvPr id="3" name="Content Placeholder 2">
            <a:extLst>
              <a:ext uri="{FF2B5EF4-FFF2-40B4-BE49-F238E27FC236}">
                <a16:creationId xmlns:a16="http://schemas.microsoft.com/office/drawing/2014/main" id="{99EFE9BB-8770-4052-AE8D-757006CCBB01}"/>
              </a:ext>
            </a:extLst>
          </p:cNvPr>
          <p:cNvSpPr>
            <a:spLocks noGrp="1"/>
          </p:cNvSpPr>
          <p:nvPr>
            <p:ph idx="1"/>
          </p:nvPr>
        </p:nvSpPr>
        <p:spPr/>
        <p:txBody>
          <a:bodyPr>
            <a:normAutofit fontScale="62500" lnSpcReduction="20000"/>
          </a:bodyPr>
          <a:lstStyle/>
          <a:p>
            <a:r>
              <a:rPr lang="en-IN" dirty="0"/>
              <a:t>go back to history using git log – </a:t>
            </a:r>
            <a:r>
              <a:rPr lang="en-IN" dirty="0" err="1"/>
              <a:t>oneline</a:t>
            </a:r>
            <a:r>
              <a:rPr lang="en-IN" dirty="0"/>
              <a:t> and note any past id….</a:t>
            </a:r>
          </a:p>
          <a:p>
            <a:r>
              <a:rPr lang="en-IN" dirty="0"/>
              <a:t>use git checkout </a:t>
            </a:r>
            <a:r>
              <a:rPr lang="en-IN" dirty="0" err="1"/>
              <a:t>pastid</a:t>
            </a:r>
            <a:endParaRPr lang="en-IN" dirty="0"/>
          </a:p>
          <a:p>
            <a:r>
              <a:rPr lang="en-IN" dirty="0"/>
              <a:t>now create a tag here….</a:t>
            </a:r>
          </a:p>
          <a:p>
            <a:r>
              <a:rPr lang="en-IN" dirty="0"/>
              <a:t>git tag - a </a:t>
            </a:r>
            <a:r>
              <a:rPr lang="en-IN" dirty="0" err="1"/>
              <a:t>tagname</a:t>
            </a:r>
            <a:r>
              <a:rPr lang="en-IN" dirty="0"/>
              <a:t> - m  “description” //when single character for options //you use -  . When more than one character you use - -</a:t>
            </a:r>
          </a:p>
          <a:p>
            <a:r>
              <a:rPr lang="en-IN" dirty="0"/>
              <a:t>go back to future</a:t>
            </a:r>
          </a:p>
          <a:p>
            <a:r>
              <a:rPr lang="en-IN" dirty="0"/>
              <a:t>git checkout master(or main)</a:t>
            </a:r>
          </a:p>
          <a:p>
            <a:r>
              <a:rPr lang="en-IN" dirty="0"/>
              <a:t>now I want to go back to past where I also have a tag attached. There are two ways: using checkout and using tag.</a:t>
            </a:r>
          </a:p>
          <a:p>
            <a:r>
              <a:rPr lang="en-IN" dirty="0"/>
              <a:t>git checkout tags/</a:t>
            </a:r>
            <a:r>
              <a:rPr lang="en-IN" dirty="0" err="1"/>
              <a:t>tagname</a:t>
            </a:r>
            <a:r>
              <a:rPr lang="en-IN" dirty="0"/>
              <a:t>        //and you are there</a:t>
            </a:r>
          </a:p>
          <a:p>
            <a:r>
              <a:rPr lang="en-IN" dirty="0"/>
              <a:t>you push your tags to remote also</a:t>
            </a:r>
          </a:p>
          <a:p>
            <a:r>
              <a:rPr lang="en-IN" dirty="0"/>
              <a:t>git push </a:t>
            </a:r>
            <a:r>
              <a:rPr lang="en-IN" dirty="0" err="1"/>
              <a:t>tagname</a:t>
            </a:r>
            <a:endParaRPr lang="en-IN" dirty="0"/>
          </a:p>
          <a:p>
            <a:r>
              <a:rPr lang="en-IN" dirty="0"/>
              <a:t>git tag  //lists all tags</a:t>
            </a:r>
          </a:p>
          <a:p>
            <a:r>
              <a:rPr lang="en-IN" dirty="0"/>
              <a:t>On </a:t>
            </a:r>
            <a:r>
              <a:rPr lang="en-IN" dirty="0" err="1"/>
              <a:t>gihub</a:t>
            </a:r>
            <a:r>
              <a:rPr lang="en-IN" dirty="0"/>
              <a:t> you can also check how many tags are there</a:t>
            </a:r>
          </a:p>
        </p:txBody>
      </p:sp>
    </p:spTree>
    <p:extLst>
      <p:ext uri="{BB962C8B-B14F-4D97-AF65-F5344CB8AC3E}">
        <p14:creationId xmlns:p14="http://schemas.microsoft.com/office/powerpoint/2010/main" val="42204995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A2A659-C241-4DB4-8247-8A949C01C825}"/>
              </a:ext>
            </a:extLst>
          </p:cNvPr>
          <p:cNvSpPr>
            <a:spLocks noGrp="1"/>
          </p:cNvSpPr>
          <p:nvPr>
            <p:ph type="title"/>
          </p:nvPr>
        </p:nvSpPr>
        <p:spPr/>
        <p:txBody>
          <a:bodyPr/>
          <a:lstStyle/>
          <a:p>
            <a:r>
              <a:rPr lang="en-IN" dirty="0"/>
              <a:t>Main tasks of a version control</a:t>
            </a:r>
          </a:p>
        </p:txBody>
      </p:sp>
      <p:sp>
        <p:nvSpPr>
          <p:cNvPr id="3" name="Content Placeholder 2">
            <a:extLst>
              <a:ext uri="{FF2B5EF4-FFF2-40B4-BE49-F238E27FC236}">
                <a16:creationId xmlns:a16="http://schemas.microsoft.com/office/drawing/2014/main" id="{2A42EED5-2F8D-44E6-980E-993C41722EA7}"/>
              </a:ext>
            </a:extLst>
          </p:cNvPr>
          <p:cNvSpPr>
            <a:spLocks noGrp="1"/>
          </p:cNvSpPr>
          <p:nvPr>
            <p:ph idx="1"/>
          </p:nvPr>
        </p:nvSpPr>
        <p:spPr/>
        <p:txBody>
          <a:bodyPr/>
          <a:lstStyle/>
          <a:p>
            <a:r>
              <a:rPr lang="en-IN" dirty="0"/>
              <a:t>You can go back in time</a:t>
            </a:r>
          </a:p>
          <a:p>
            <a:r>
              <a:rPr lang="en-IN" dirty="0"/>
              <a:t>You can collaborate</a:t>
            </a:r>
          </a:p>
        </p:txBody>
      </p:sp>
    </p:spTree>
    <p:extLst>
      <p:ext uri="{BB962C8B-B14F-4D97-AF65-F5344CB8AC3E}">
        <p14:creationId xmlns:p14="http://schemas.microsoft.com/office/powerpoint/2010/main" val="3074036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1A738C-7034-4134-802D-704AE2E1B637}"/>
              </a:ext>
            </a:extLst>
          </p:cNvPr>
          <p:cNvSpPr>
            <a:spLocks noGrp="1"/>
          </p:cNvSpPr>
          <p:nvPr>
            <p:ph type="title"/>
          </p:nvPr>
        </p:nvSpPr>
        <p:spPr/>
        <p:txBody>
          <a:bodyPr/>
          <a:lstStyle/>
          <a:p>
            <a:pPr algn="ctr"/>
            <a:r>
              <a:rPr lang="en-IN" dirty="0" err="1"/>
              <a:t>PUll</a:t>
            </a:r>
            <a:endParaRPr lang="en-IN" dirty="0"/>
          </a:p>
        </p:txBody>
      </p:sp>
      <p:sp>
        <p:nvSpPr>
          <p:cNvPr id="3" name="Content Placeholder 2">
            <a:extLst>
              <a:ext uri="{FF2B5EF4-FFF2-40B4-BE49-F238E27FC236}">
                <a16:creationId xmlns:a16="http://schemas.microsoft.com/office/drawing/2014/main" id="{664EF0F1-D2C0-46E6-B71A-38203AD9EC1D}"/>
              </a:ext>
            </a:extLst>
          </p:cNvPr>
          <p:cNvSpPr>
            <a:spLocks noGrp="1"/>
          </p:cNvSpPr>
          <p:nvPr>
            <p:ph idx="1"/>
          </p:nvPr>
        </p:nvSpPr>
        <p:spPr/>
        <p:txBody>
          <a:bodyPr>
            <a:normAutofit fontScale="92500" lnSpcReduction="20000"/>
          </a:bodyPr>
          <a:lstStyle/>
          <a:p>
            <a:r>
              <a:rPr lang="en-IN" dirty="0"/>
              <a:t>git pull fetches the files from remote to local. 3 scenarios exist:</a:t>
            </a:r>
          </a:p>
          <a:p>
            <a:r>
              <a:rPr lang="en-IN" dirty="0"/>
              <a:t>If file has not changed on the remote since last pull</a:t>
            </a:r>
          </a:p>
          <a:p>
            <a:pPr lvl="1"/>
            <a:r>
              <a:rPr lang="en-IN" dirty="0"/>
              <a:t>in this case the local file will remain as it is</a:t>
            </a:r>
          </a:p>
          <a:p>
            <a:r>
              <a:rPr lang="en-IN" dirty="0"/>
              <a:t>If file is changed at the remote but local has not changed since last pull</a:t>
            </a:r>
          </a:p>
          <a:p>
            <a:pPr lvl="1"/>
            <a:r>
              <a:rPr lang="en-IN" dirty="0"/>
              <a:t>in this case local file is replaced with remote file</a:t>
            </a:r>
          </a:p>
          <a:p>
            <a:r>
              <a:rPr lang="en-IN" dirty="0"/>
              <a:t>if file at remote and local both changed since last pull</a:t>
            </a:r>
          </a:p>
          <a:p>
            <a:pPr lvl="1"/>
            <a:r>
              <a:rPr lang="en-IN" dirty="0"/>
              <a:t>in this case merge will take place</a:t>
            </a:r>
          </a:p>
          <a:p>
            <a:pPr algn="just"/>
            <a:r>
              <a:rPr lang="en-IN" dirty="0"/>
              <a:t>git pull is used for collaboration. git clone is used for cloning repo. you use clone when you start working on a project. you use git pull when you are into a running project. What will happen if you git clone each time instead of git pull? Your current file you are working on will  be removed or not </a:t>
            </a:r>
            <a:r>
              <a:rPr lang="en-IN" dirty="0" err="1"/>
              <a:t>ocunted</a:t>
            </a:r>
            <a:r>
              <a:rPr lang="en-IN" dirty="0"/>
              <a:t>.</a:t>
            </a:r>
          </a:p>
        </p:txBody>
      </p:sp>
    </p:spTree>
    <p:extLst>
      <p:ext uri="{BB962C8B-B14F-4D97-AF65-F5344CB8AC3E}">
        <p14:creationId xmlns:p14="http://schemas.microsoft.com/office/powerpoint/2010/main" val="592583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58C1E-AC11-41F3-9AD3-12F9008785A2}"/>
              </a:ext>
            </a:extLst>
          </p:cNvPr>
          <p:cNvSpPr>
            <a:spLocks noGrp="1"/>
          </p:cNvSpPr>
          <p:nvPr>
            <p:ph type="title"/>
          </p:nvPr>
        </p:nvSpPr>
        <p:spPr/>
        <p:txBody>
          <a:bodyPr/>
          <a:lstStyle/>
          <a:p>
            <a:pPr algn="ctr"/>
            <a:r>
              <a:rPr lang="en-IN" dirty="0"/>
              <a:t>Pull merges two files line by line</a:t>
            </a:r>
          </a:p>
        </p:txBody>
      </p:sp>
      <p:sp>
        <p:nvSpPr>
          <p:cNvPr id="3" name="Content Placeholder 2">
            <a:extLst>
              <a:ext uri="{FF2B5EF4-FFF2-40B4-BE49-F238E27FC236}">
                <a16:creationId xmlns:a16="http://schemas.microsoft.com/office/drawing/2014/main" id="{240910FC-5618-4AF6-9323-ADCBE31ED91F}"/>
              </a:ext>
            </a:extLst>
          </p:cNvPr>
          <p:cNvSpPr>
            <a:spLocks noGrp="1"/>
          </p:cNvSpPr>
          <p:nvPr>
            <p:ph idx="1"/>
          </p:nvPr>
        </p:nvSpPr>
        <p:spPr/>
        <p:txBody>
          <a:bodyPr/>
          <a:lstStyle/>
          <a:p>
            <a:r>
              <a:rPr lang="en-IN" dirty="0"/>
              <a:t>You should not make changes to the remote file using GitHub. But you can do it to show demo.</a:t>
            </a:r>
          </a:p>
          <a:p>
            <a:r>
              <a:rPr lang="en-IN" dirty="0"/>
              <a:t>You cannot git pull until you git commit, otherwise abort error will come.</a:t>
            </a:r>
          </a:p>
          <a:p>
            <a:r>
              <a:rPr lang="en-IN" dirty="0"/>
              <a:t>If you make changes in remote file and local file, such that the merging is non-conflicting, git is smart to perform merging.</a:t>
            </a:r>
          </a:p>
          <a:p>
            <a:r>
              <a:rPr lang="en-IN" dirty="0"/>
              <a:t>If merging is conflicting, git opens your files in editor, and ask you to merge them manually, and delete every other characters like &lt;&lt;&lt; &gt;&gt;&gt; that are not supposed to be there in the merged version. You then git add. and git commit and do git pull again.</a:t>
            </a:r>
          </a:p>
        </p:txBody>
      </p:sp>
    </p:spTree>
    <p:extLst>
      <p:ext uri="{BB962C8B-B14F-4D97-AF65-F5344CB8AC3E}">
        <p14:creationId xmlns:p14="http://schemas.microsoft.com/office/powerpoint/2010/main" val="40283671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29C78-DB6F-4D3D-AF64-89F3C582983C}"/>
              </a:ext>
            </a:extLst>
          </p:cNvPr>
          <p:cNvSpPr>
            <a:spLocks noGrp="1"/>
          </p:cNvSpPr>
          <p:nvPr>
            <p:ph type="title"/>
          </p:nvPr>
        </p:nvSpPr>
        <p:spPr/>
        <p:txBody>
          <a:bodyPr/>
          <a:lstStyle/>
          <a:p>
            <a:pPr algn="ctr"/>
            <a:r>
              <a:rPr lang="en-IN" dirty="0"/>
              <a:t>Binary files(audio, video, images)</a:t>
            </a:r>
          </a:p>
        </p:txBody>
      </p:sp>
      <p:sp>
        <p:nvSpPr>
          <p:cNvPr id="3" name="Content Placeholder 2">
            <a:extLst>
              <a:ext uri="{FF2B5EF4-FFF2-40B4-BE49-F238E27FC236}">
                <a16:creationId xmlns:a16="http://schemas.microsoft.com/office/drawing/2014/main" id="{BEB11017-9A62-4667-8AB4-5C703B3C0C22}"/>
              </a:ext>
            </a:extLst>
          </p:cNvPr>
          <p:cNvSpPr>
            <a:spLocks noGrp="1"/>
          </p:cNvSpPr>
          <p:nvPr>
            <p:ph idx="1"/>
          </p:nvPr>
        </p:nvSpPr>
        <p:spPr/>
        <p:txBody>
          <a:bodyPr/>
          <a:lstStyle/>
          <a:p>
            <a:r>
              <a:rPr lang="en-IN" dirty="0"/>
              <a:t>Git merges text files only</a:t>
            </a:r>
          </a:p>
          <a:p>
            <a:r>
              <a:rPr lang="en-IN" dirty="0"/>
              <a:t>Binary files cannot be merged because they have no lines. And git merges line by line.</a:t>
            </a:r>
          </a:p>
          <a:p>
            <a:r>
              <a:rPr lang="en-IN" dirty="0"/>
              <a:t>If two files are to be merged you choose one version out of two.</a:t>
            </a:r>
          </a:p>
          <a:p>
            <a:r>
              <a:rPr lang="en-IN" dirty="0"/>
              <a:t>If tow files are in conflict and you want to merge, may be you would do it manually by opening binary files for example jpeg in phot editor and make changes manually. Then you git add . and git commit</a:t>
            </a:r>
          </a:p>
        </p:txBody>
      </p:sp>
    </p:spTree>
    <p:extLst>
      <p:ext uri="{BB962C8B-B14F-4D97-AF65-F5344CB8AC3E}">
        <p14:creationId xmlns:p14="http://schemas.microsoft.com/office/powerpoint/2010/main" val="107214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56A7BF-FA1E-45F1-8D03-8177C70DAEBF}"/>
              </a:ext>
            </a:extLst>
          </p:cNvPr>
          <p:cNvSpPr>
            <a:spLocks noGrp="1"/>
          </p:cNvSpPr>
          <p:nvPr>
            <p:ph type="title"/>
          </p:nvPr>
        </p:nvSpPr>
        <p:spPr/>
        <p:txBody>
          <a:bodyPr/>
          <a:lstStyle/>
          <a:p>
            <a:pPr algn="ctr"/>
            <a:r>
              <a:rPr lang="en-IN" dirty="0"/>
              <a:t>Fetch</a:t>
            </a:r>
          </a:p>
        </p:txBody>
      </p:sp>
      <p:sp>
        <p:nvSpPr>
          <p:cNvPr id="3" name="Content Placeholder 2">
            <a:extLst>
              <a:ext uri="{FF2B5EF4-FFF2-40B4-BE49-F238E27FC236}">
                <a16:creationId xmlns:a16="http://schemas.microsoft.com/office/drawing/2014/main" id="{D5A8B69D-20F2-4A48-8F6D-7AB102984D85}"/>
              </a:ext>
            </a:extLst>
          </p:cNvPr>
          <p:cNvSpPr>
            <a:spLocks noGrp="1"/>
          </p:cNvSpPr>
          <p:nvPr>
            <p:ph idx="1"/>
          </p:nvPr>
        </p:nvSpPr>
        <p:spPr/>
        <p:txBody>
          <a:bodyPr/>
          <a:lstStyle/>
          <a:p>
            <a:r>
              <a:rPr lang="en-IN" dirty="0"/>
              <a:t>git fetch + git merge = git pull</a:t>
            </a:r>
          </a:p>
          <a:p>
            <a:r>
              <a:rPr lang="en-IN" dirty="0"/>
              <a:t>fetch does download all the remote files into your local repo, but it does not merge them.</a:t>
            </a:r>
          </a:p>
          <a:p>
            <a:r>
              <a:rPr lang="en-IN" dirty="0"/>
              <a:t>to do merging, you need to call git merge.</a:t>
            </a:r>
          </a:p>
          <a:p>
            <a:r>
              <a:rPr lang="en-IN" dirty="0"/>
              <a:t>git pull does the both operations for you.</a:t>
            </a:r>
          </a:p>
          <a:p>
            <a:r>
              <a:rPr lang="en-IN" dirty="0"/>
              <a:t>fetch and merge gives finer control to us.</a:t>
            </a:r>
          </a:p>
          <a:p>
            <a:r>
              <a:rPr lang="en-IN" dirty="0"/>
              <a:t>As a programmer, we often will </a:t>
            </a:r>
            <a:r>
              <a:rPr lang="en-IN"/>
              <a:t>use pull.</a:t>
            </a:r>
            <a:endParaRPr lang="en-IN" dirty="0"/>
          </a:p>
        </p:txBody>
      </p:sp>
    </p:spTree>
    <p:extLst>
      <p:ext uri="{BB962C8B-B14F-4D97-AF65-F5344CB8AC3E}">
        <p14:creationId xmlns:p14="http://schemas.microsoft.com/office/powerpoint/2010/main" val="2015126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D3E702-9000-4724-992D-786EB96C3C13}"/>
              </a:ext>
            </a:extLst>
          </p:cNvPr>
          <p:cNvSpPr>
            <a:spLocks noGrp="1"/>
          </p:cNvSpPr>
          <p:nvPr>
            <p:ph type="title"/>
          </p:nvPr>
        </p:nvSpPr>
        <p:spPr/>
        <p:txBody>
          <a:bodyPr/>
          <a:lstStyle/>
          <a:p>
            <a:pPr algn="ctr"/>
            <a:r>
              <a:rPr lang="en-IN" dirty="0"/>
              <a:t>Branch</a:t>
            </a:r>
          </a:p>
        </p:txBody>
      </p:sp>
      <p:sp>
        <p:nvSpPr>
          <p:cNvPr id="3" name="Content Placeholder 2">
            <a:extLst>
              <a:ext uri="{FF2B5EF4-FFF2-40B4-BE49-F238E27FC236}">
                <a16:creationId xmlns:a16="http://schemas.microsoft.com/office/drawing/2014/main" id="{1FA33BA9-FFF2-46DD-B8FB-A8E15F986AC7}"/>
              </a:ext>
            </a:extLst>
          </p:cNvPr>
          <p:cNvSpPr>
            <a:spLocks noGrp="1"/>
          </p:cNvSpPr>
          <p:nvPr>
            <p:ph idx="1"/>
          </p:nvPr>
        </p:nvSpPr>
        <p:spPr/>
        <p:txBody>
          <a:bodyPr/>
          <a:lstStyle/>
          <a:p>
            <a:r>
              <a:rPr lang="en-IN" dirty="0"/>
              <a:t>master(or main) is the default and principal branch that is created when you clone a repository.</a:t>
            </a:r>
          </a:p>
          <a:p>
            <a:r>
              <a:rPr lang="en-IN" dirty="0"/>
              <a:t>Unless the project is trivial, you never work on master branch.</a:t>
            </a:r>
          </a:p>
          <a:p>
            <a:r>
              <a:rPr lang="en-IN" dirty="0"/>
              <a:t>You always create a branch emanating from the master, and work on it. Once you are satisfied and committed your work on the second branch, you merge it with the master. Merging with the master is considered a commit.</a:t>
            </a:r>
          </a:p>
          <a:p>
            <a:r>
              <a:rPr lang="en-IN" dirty="0"/>
              <a:t>You can create as many branches from the master at different points of time, and at sometime you merge them all.</a:t>
            </a:r>
          </a:p>
        </p:txBody>
      </p:sp>
    </p:spTree>
    <p:extLst>
      <p:ext uri="{BB962C8B-B14F-4D97-AF65-F5344CB8AC3E}">
        <p14:creationId xmlns:p14="http://schemas.microsoft.com/office/powerpoint/2010/main" val="3704538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68A35-1ABD-440B-8101-71F9E49C00AC}"/>
              </a:ext>
            </a:extLst>
          </p:cNvPr>
          <p:cNvSpPr>
            <a:spLocks noGrp="1"/>
          </p:cNvSpPr>
          <p:nvPr>
            <p:ph type="title"/>
          </p:nvPr>
        </p:nvSpPr>
        <p:spPr/>
        <p:txBody>
          <a:bodyPr/>
          <a:lstStyle/>
          <a:p>
            <a:pPr algn="ctr"/>
            <a:r>
              <a:rPr lang="en-IN" dirty="0"/>
              <a:t>Why do we branch?</a:t>
            </a:r>
          </a:p>
        </p:txBody>
      </p:sp>
      <p:sp>
        <p:nvSpPr>
          <p:cNvPr id="3" name="Content Placeholder 2">
            <a:extLst>
              <a:ext uri="{FF2B5EF4-FFF2-40B4-BE49-F238E27FC236}">
                <a16:creationId xmlns:a16="http://schemas.microsoft.com/office/drawing/2014/main" id="{AC6427DA-E3E7-412A-A96D-DEF748CA4CD6}"/>
              </a:ext>
            </a:extLst>
          </p:cNvPr>
          <p:cNvSpPr>
            <a:spLocks noGrp="1"/>
          </p:cNvSpPr>
          <p:nvPr>
            <p:ph idx="1"/>
          </p:nvPr>
        </p:nvSpPr>
        <p:spPr/>
        <p:txBody>
          <a:bodyPr/>
          <a:lstStyle/>
          <a:p>
            <a:r>
              <a:rPr lang="en-IN" dirty="0"/>
              <a:t>Collaboration is the main reason.</a:t>
            </a:r>
          </a:p>
          <a:p>
            <a:r>
              <a:rPr lang="en-IN" dirty="0"/>
              <a:t>Consider that we, two people are working on a single project having two modules A and B.</a:t>
            </a:r>
          </a:p>
          <a:p>
            <a:pPr algn="just"/>
            <a:r>
              <a:rPr lang="en-IN" dirty="0"/>
              <a:t>I will branch-out and work on A; however, my friend will branch-out and work on B. After sometime, I will merge my branch into the master. Then, my friend will merge his branch into the master.</a:t>
            </a:r>
          </a:p>
          <a:p>
            <a:pPr algn="just"/>
            <a:r>
              <a:rPr lang="en-IN" dirty="0"/>
              <a:t>In software development, two teams seldom work on the same class or file. So merging is often not conflicting.</a:t>
            </a:r>
          </a:p>
        </p:txBody>
      </p:sp>
    </p:spTree>
    <p:extLst>
      <p:ext uri="{BB962C8B-B14F-4D97-AF65-F5344CB8AC3E}">
        <p14:creationId xmlns:p14="http://schemas.microsoft.com/office/powerpoint/2010/main" val="10867292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4CE444-66A7-4981-875B-5A907CAFF863}"/>
              </a:ext>
            </a:extLst>
          </p:cNvPr>
          <p:cNvSpPr>
            <a:spLocks noGrp="1"/>
          </p:cNvSpPr>
          <p:nvPr>
            <p:ph type="title"/>
          </p:nvPr>
        </p:nvSpPr>
        <p:spPr/>
        <p:txBody>
          <a:bodyPr/>
          <a:lstStyle/>
          <a:p>
            <a:pPr algn="ctr"/>
            <a:r>
              <a:rPr lang="en-IN" dirty="0"/>
              <a:t>Commands</a:t>
            </a:r>
          </a:p>
        </p:txBody>
      </p:sp>
      <p:sp>
        <p:nvSpPr>
          <p:cNvPr id="3" name="Content Placeholder 2">
            <a:extLst>
              <a:ext uri="{FF2B5EF4-FFF2-40B4-BE49-F238E27FC236}">
                <a16:creationId xmlns:a16="http://schemas.microsoft.com/office/drawing/2014/main" id="{52B58B7C-AFC6-4486-A131-8E58E766098C}"/>
              </a:ext>
            </a:extLst>
          </p:cNvPr>
          <p:cNvSpPr>
            <a:spLocks noGrp="1"/>
          </p:cNvSpPr>
          <p:nvPr>
            <p:ph idx="1"/>
          </p:nvPr>
        </p:nvSpPr>
        <p:spPr/>
        <p:txBody>
          <a:bodyPr>
            <a:normAutofit fontScale="85000" lnSpcReduction="20000"/>
          </a:bodyPr>
          <a:lstStyle/>
          <a:p>
            <a:r>
              <a:rPr lang="en-IN" dirty="0"/>
              <a:t>git branch </a:t>
            </a:r>
            <a:r>
              <a:rPr lang="en-IN" dirty="0" err="1"/>
              <a:t>branchName</a:t>
            </a:r>
            <a:r>
              <a:rPr lang="en-IN" dirty="0"/>
              <a:t> //creates a new branch, but you will still be on the master branch (or old branch)</a:t>
            </a:r>
          </a:p>
          <a:p>
            <a:r>
              <a:rPr lang="en-IN" dirty="0"/>
              <a:t>git checkout –b </a:t>
            </a:r>
            <a:r>
              <a:rPr lang="en-IN" dirty="0" err="1"/>
              <a:t>branchName</a:t>
            </a:r>
            <a:r>
              <a:rPr lang="en-IN" dirty="0"/>
              <a:t> //is the mostly used command</a:t>
            </a:r>
          </a:p>
          <a:p>
            <a:r>
              <a:rPr lang="en-IN" dirty="0"/>
              <a:t>git branch //displays all the branches in your repo, and highlight  the current.</a:t>
            </a:r>
          </a:p>
          <a:p>
            <a:r>
              <a:rPr lang="en-IN" dirty="0"/>
              <a:t>git branch –d </a:t>
            </a:r>
            <a:r>
              <a:rPr lang="en-IN" dirty="0" err="1"/>
              <a:t>branchName</a:t>
            </a:r>
            <a:r>
              <a:rPr lang="en-IN" dirty="0"/>
              <a:t> //deletes a branch from the local repo</a:t>
            </a:r>
          </a:p>
          <a:p>
            <a:r>
              <a:rPr lang="en-IN" dirty="0"/>
              <a:t>git push origin –delete </a:t>
            </a:r>
            <a:r>
              <a:rPr lang="en-IN" dirty="0" err="1"/>
              <a:t>branchName</a:t>
            </a:r>
            <a:r>
              <a:rPr lang="en-IN" dirty="0"/>
              <a:t> //removes the branch from </a:t>
            </a:r>
            <a:r>
              <a:rPr lang="en-IN" dirty="0" err="1"/>
              <a:t>github</a:t>
            </a:r>
            <a:endParaRPr lang="en-IN" dirty="0"/>
          </a:p>
          <a:p>
            <a:r>
              <a:rPr lang="en-IN" dirty="0"/>
              <a:t>Note: by deleting a branch locally and then git push won’t delete it remotely.</a:t>
            </a:r>
          </a:p>
          <a:p>
            <a:r>
              <a:rPr lang="en-IN" dirty="0"/>
              <a:t>git checkout </a:t>
            </a:r>
            <a:r>
              <a:rPr lang="en-IN" dirty="0" err="1"/>
              <a:t>branchName</a:t>
            </a:r>
            <a:r>
              <a:rPr lang="en-IN" dirty="0"/>
              <a:t> //moves you to the </a:t>
            </a:r>
            <a:r>
              <a:rPr lang="en-IN" dirty="0" err="1"/>
              <a:t>branchName</a:t>
            </a:r>
            <a:endParaRPr lang="en-IN" dirty="0"/>
          </a:p>
          <a:p>
            <a:r>
              <a:rPr lang="en-IN" dirty="0"/>
              <a:t>You can only move to another branch, if all the files are  committed.</a:t>
            </a:r>
          </a:p>
          <a:p>
            <a:r>
              <a:rPr lang="en-IN" dirty="0"/>
              <a:t>git push //uploads everything on the server including branches.</a:t>
            </a:r>
          </a:p>
          <a:p>
            <a:r>
              <a:rPr lang="en-IN" dirty="0"/>
              <a:t>You can delete a branch from the </a:t>
            </a:r>
            <a:r>
              <a:rPr lang="en-IN" dirty="0" err="1"/>
              <a:t>github</a:t>
            </a:r>
            <a:r>
              <a:rPr lang="en-IN" dirty="0"/>
              <a:t> but the changes will not be reflected in the local repo until you delete it locally.</a:t>
            </a:r>
          </a:p>
          <a:p>
            <a:endParaRPr lang="en-IN" dirty="0"/>
          </a:p>
        </p:txBody>
      </p:sp>
    </p:spTree>
    <p:extLst>
      <p:ext uri="{BB962C8B-B14F-4D97-AF65-F5344CB8AC3E}">
        <p14:creationId xmlns:p14="http://schemas.microsoft.com/office/powerpoint/2010/main" val="29055429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01488-4208-48B0-BB0D-84C07FDAD0AD}"/>
              </a:ext>
            </a:extLst>
          </p:cNvPr>
          <p:cNvSpPr>
            <a:spLocks noGrp="1"/>
          </p:cNvSpPr>
          <p:nvPr>
            <p:ph type="title"/>
          </p:nvPr>
        </p:nvSpPr>
        <p:spPr/>
        <p:txBody>
          <a:bodyPr/>
          <a:lstStyle/>
          <a:p>
            <a:pPr algn="ctr"/>
            <a:r>
              <a:rPr lang="en-IN" dirty="0"/>
              <a:t>stashing</a:t>
            </a:r>
          </a:p>
        </p:txBody>
      </p:sp>
      <p:sp>
        <p:nvSpPr>
          <p:cNvPr id="3" name="Content Placeholder 2">
            <a:extLst>
              <a:ext uri="{FF2B5EF4-FFF2-40B4-BE49-F238E27FC236}">
                <a16:creationId xmlns:a16="http://schemas.microsoft.com/office/drawing/2014/main" id="{8B143CED-914D-493C-B1A6-6C844169C7CC}"/>
              </a:ext>
            </a:extLst>
          </p:cNvPr>
          <p:cNvSpPr>
            <a:spLocks noGrp="1"/>
          </p:cNvSpPr>
          <p:nvPr>
            <p:ph idx="1"/>
          </p:nvPr>
        </p:nvSpPr>
        <p:spPr/>
        <p:txBody>
          <a:bodyPr>
            <a:normAutofit fontScale="92500" lnSpcReduction="10000"/>
          </a:bodyPr>
          <a:lstStyle/>
          <a:p>
            <a:r>
              <a:rPr lang="en-IN" dirty="0"/>
              <a:t>See, you can’t move to a different branch until you commit your current work.</a:t>
            </a:r>
          </a:p>
          <a:p>
            <a:r>
              <a:rPr lang="en-IN" dirty="0"/>
              <a:t>What if somebody requesting me to switch to his branch and look at what he has done? </a:t>
            </a:r>
          </a:p>
          <a:p>
            <a:r>
              <a:rPr lang="en-IN" dirty="0"/>
              <a:t>The answer is you stash your current state.</a:t>
            </a:r>
          </a:p>
          <a:p>
            <a:r>
              <a:rPr lang="en-IN" dirty="0"/>
              <a:t>When you stash, your state moved to the last commit.</a:t>
            </a:r>
          </a:p>
          <a:p>
            <a:r>
              <a:rPr lang="en-IN" dirty="0"/>
              <a:t>When you come back, pop the stash. And your work after the last commit, will be back in </a:t>
            </a:r>
            <a:r>
              <a:rPr lang="en-IN" dirty="0" err="1"/>
              <a:t>unstaged</a:t>
            </a:r>
            <a:r>
              <a:rPr lang="en-IN" dirty="0"/>
              <a:t> state.</a:t>
            </a:r>
          </a:p>
          <a:p>
            <a:r>
              <a:rPr lang="en-IN" dirty="0"/>
              <a:t>Stashes can be many, and stored in the form of stack. So on popping, you always will get the recent most stash.</a:t>
            </a:r>
          </a:p>
          <a:p>
            <a:r>
              <a:rPr lang="en-IN" dirty="0"/>
              <a:t>You can also name the stash while saving.</a:t>
            </a:r>
          </a:p>
        </p:txBody>
      </p:sp>
    </p:spTree>
    <p:extLst>
      <p:ext uri="{BB962C8B-B14F-4D97-AF65-F5344CB8AC3E}">
        <p14:creationId xmlns:p14="http://schemas.microsoft.com/office/powerpoint/2010/main" val="22380336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26A4C8-8BE1-493B-AC58-A358535B395D}"/>
              </a:ext>
            </a:extLst>
          </p:cNvPr>
          <p:cNvSpPr>
            <a:spLocks noGrp="1"/>
          </p:cNvSpPr>
          <p:nvPr>
            <p:ph type="title"/>
          </p:nvPr>
        </p:nvSpPr>
        <p:spPr/>
        <p:txBody>
          <a:bodyPr/>
          <a:lstStyle/>
          <a:p>
            <a:pPr algn="ctr"/>
            <a:r>
              <a:rPr lang="en-IN" dirty="0"/>
              <a:t>commands</a:t>
            </a:r>
          </a:p>
        </p:txBody>
      </p:sp>
      <p:sp>
        <p:nvSpPr>
          <p:cNvPr id="3" name="Content Placeholder 2">
            <a:extLst>
              <a:ext uri="{FF2B5EF4-FFF2-40B4-BE49-F238E27FC236}">
                <a16:creationId xmlns:a16="http://schemas.microsoft.com/office/drawing/2014/main" id="{0D9C7D2F-F169-4EE3-ADD2-B7D5064722DA}"/>
              </a:ext>
            </a:extLst>
          </p:cNvPr>
          <p:cNvSpPr>
            <a:spLocks noGrp="1"/>
          </p:cNvSpPr>
          <p:nvPr>
            <p:ph idx="1"/>
          </p:nvPr>
        </p:nvSpPr>
        <p:spPr/>
        <p:txBody>
          <a:bodyPr/>
          <a:lstStyle/>
          <a:p>
            <a:r>
              <a:rPr lang="en-IN" dirty="0"/>
              <a:t>git stash  //will create a new stash, and take you to the last commit</a:t>
            </a:r>
          </a:p>
          <a:p>
            <a:r>
              <a:rPr lang="en-IN" dirty="0"/>
              <a:t>git stash list //will list most recent stashes</a:t>
            </a:r>
          </a:p>
          <a:p>
            <a:r>
              <a:rPr lang="en-IN" dirty="0"/>
              <a:t>git stash pop // will pop the last stash and restore your files after the last commit in the </a:t>
            </a:r>
            <a:r>
              <a:rPr lang="en-IN" dirty="0" err="1"/>
              <a:t>unstaged</a:t>
            </a:r>
            <a:r>
              <a:rPr lang="en-IN" dirty="0"/>
              <a:t> state.</a:t>
            </a:r>
          </a:p>
          <a:p>
            <a:r>
              <a:rPr lang="en-IN" dirty="0"/>
              <a:t>git stash save “</a:t>
            </a:r>
            <a:r>
              <a:rPr lang="en-IN" dirty="0" err="1"/>
              <a:t>stashName</a:t>
            </a:r>
            <a:r>
              <a:rPr lang="en-IN" dirty="0"/>
              <a:t>” //will save the stash with a name</a:t>
            </a:r>
          </a:p>
          <a:p>
            <a:endParaRPr lang="en-IN" dirty="0"/>
          </a:p>
        </p:txBody>
      </p:sp>
    </p:spTree>
    <p:extLst>
      <p:ext uri="{BB962C8B-B14F-4D97-AF65-F5344CB8AC3E}">
        <p14:creationId xmlns:p14="http://schemas.microsoft.com/office/powerpoint/2010/main" val="31420079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C7F20-C690-4DAF-95FF-82C466616FF7}"/>
              </a:ext>
            </a:extLst>
          </p:cNvPr>
          <p:cNvSpPr>
            <a:spLocks noGrp="1"/>
          </p:cNvSpPr>
          <p:nvPr>
            <p:ph type="title"/>
          </p:nvPr>
        </p:nvSpPr>
        <p:spPr/>
        <p:txBody>
          <a:bodyPr/>
          <a:lstStyle/>
          <a:p>
            <a:pPr algn="ctr"/>
            <a:r>
              <a:rPr lang="en-IN" dirty="0"/>
              <a:t>Merging Branches</a:t>
            </a:r>
          </a:p>
        </p:txBody>
      </p:sp>
      <p:sp>
        <p:nvSpPr>
          <p:cNvPr id="3" name="Content Placeholder 2">
            <a:extLst>
              <a:ext uri="{FF2B5EF4-FFF2-40B4-BE49-F238E27FC236}">
                <a16:creationId xmlns:a16="http://schemas.microsoft.com/office/drawing/2014/main" id="{27E9DFA1-0425-46F8-B0D9-80AA492B54B2}"/>
              </a:ext>
            </a:extLst>
          </p:cNvPr>
          <p:cNvSpPr>
            <a:spLocks noGrp="1"/>
          </p:cNvSpPr>
          <p:nvPr>
            <p:ph idx="1"/>
          </p:nvPr>
        </p:nvSpPr>
        <p:spPr/>
        <p:txBody>
          <a:bodyPr/>
          <a:lstStyle/>
          <a:p>
            <a:r>
              <a:rPr lang="en-IN" dirty="0"/>
              <a:t>Merging can be done at git and at </a:t>
            </a:r>
            <a:r>
              <a:rPr lang="en-IN" dirty="0" err="1"/>
              <a:t>github</a:t>
            </a:r>
            <a:r>
              <a:rPr lang="en-IN" dirty="0"/>
              <a:t> as well. Doing so at </a:t>
            </a:r>
            <a:r>
              <a:rPr lang="en-IN" dirty="0" err="1"/>
              <a:t>github</a:t>
            </a:r>
            <a:r>
              <a:rPr lang="en-IN" dirty="0"/>
              <a:t> is relatively more intuitive and easier.</a:t>
            </a:r>
          </a:p>
          <a:p>
            <a:r>
              <a:rPr lang="en-IN" dirty="0"/>
              <a:t>When you do a branch merge at git hub, you create a pull request at the git hub (not at local repo or git). Pull request is a way of requesting repo owner to merge the changes of your branch.</a:t>
            </a:r>
          </a:p>
          <a:p>
            <a:r>
              <a:rPr lang="en-IN" dirty="0"/>
              <a:t>Often someone else will review your changes and approve the pull requests.</a:t>
            </a:r>
          </a:p>
          <a:p>
            <a:r>
              <a:rPr lang="en-IN" dirty="0"/>
              <a:t>If possible, </a:t>
            </a:r>
            <a:r>
              <a:rPr lang="en-IN" dirty="0" err="1"/>
              <a:t>github</a:t>
            </a:r>
            <a:r>
              <a:rPr lang="en-IN" dirty="0"/>
              <a:t> will resolve conflicts automatically</a:t>
            </a:r>
          </a:p>
          <a:p>
            <a:r>
              <a:rPr lang="en-IN" dirty="0"/>
              <a:t>Otherwise, it will let an approver remove conflicts before merging.</a:t>
            </a:r>
          </a:p>
        </p:txBody>
      </p:sp>
    </p:spTree>
    <p:extLst>
      <p:ext uri="{BB962C8B-B14F-4D97-AF65-F5344CB8AC3E}">
        <p14:creationId xmlns:p14="http://schemas.microsoft.com/office/powerpoint/2010/main" val="419963369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F3B63A-5EAA-41D4-AA28-6892E27F3A04}"/>
              </a:ext>
            </a:extLst>
          </p:cNvPr>
          <p:cNvSpPr>
            <a:spLocks noGrp="1"/>
          </p:cNvSpPr>
          <p:nvPr>
            <p:ph type="title"/>
          </p:nvPr>
        </p:nvSpPr>
        <p:spPr/>
        <p:txBody>
          <a:bodyPr/>
          <a:lstStyle/>
          <a:p>
            <a:pPr algn="ctr"/>
            <a:r>
              <a:rPr lang="en-IN" dirty="0"/>
              <a:t>Merge vs </a:t>
            </a:r>
            <a:r>
              <a:rPr lang="en-IN" dirty="0" err="1"/>
              <a:t>Sqash</a:t>
            </a:r>
            <a:endParaRPr lang="en-IN" dirty="0"/>
          </a:p>
        </p:txBody>
      </p:sp>
      <p:sp>
        <p:nvSpPr>
          <p:cNvPr id="3" name="Content Placeholder 2">
            <a:extLst>
              <a:ext uri="{FF2B5EF4-FFF2-40B4-BE49-F238E27FC236}">
                <a16:creationId xmlns:a16="http://schemas.microsoft.com/office/drawing/2014/main" id="{9B8CC68B-F3C9-409F-976E-17B136511D39}"/>
              </a:ext>
            </a:extLst>
          </p:cNvPr>
          <p:cNvSpPr>
            <a:spLocks noGrp="1"/>
          </p:cNvSpPr>
          <p:nvPr>
            <p:ph idx="1"/>
          </p:nvPr>
        </p:nvSpPr>
        <p:spPr/>
        <p:txBody>
          <a:bodyPr>
            <a:normAutofit fontScale="92500" lnSpcReduction="10000"/>
          </a:bodyPr>
          <a:lstStyle/>
          <a:p>
            <a:r>
              <a:rPr lang="en-IN" dirty="0"/>
              <a:t>When you merge:</a:t>
            </a:r>
          </a:p>
          <a:p>
            <a:r>
              <a:rPr lang="en-IN" dirty="0"/>
              <a:t>you either merge a pull request</a:t>
            </a:r>
          </a:p>
          <a:p>
            <a:r>
              <a:rPr lang="en-IN" dirty="0"/>
              <a:t>or merge and squash a pull request.</a:t>
            </a:r>
          </a:p>
          <a:p>
            <a:endParaRPr lang="en-IN" dirty="0"/>
          </a:p>
          <a:p>
            <a:r>
              <a:rPr lang="en-IN" dirty="0"/>
              <a:t>With merge a pull request, all the commits in the secondary branch will become the commits of the primary branch.</a:t>
            </a:r>
          </a:p>
          <a:p>
            <a:r>
              <a:rPr lang="en-IN" dirty="0"/>
              <a:t>With merge and squash, all the commits in the secondary branch becomes one commit and then registered as a single commit in the primary branch.</a:t>
            </a:r>
          </a:p>
          <a:p>
            <a:r>
              <a:rPr lang="en-IN" dirty="0"/>
              <a:t>You often delete the secondary branch after merging.</a:t>
            </a:r>
          </a:p>
          <a:p>
            <a:r>
              <a:rPr lang="en-IN" dirty="0"/>
              <a:t>Squash simplifies the history. </a:t>
            </a:r>
          </a:p>
          <a:p>
            <a:endParaRPr lang="en-IN" dirty="0"/>
          </a:p>
        </p:txBody>
      </p:sp>
    </p:spTree>
    <p:extLst>
      <p:ext uri="{BB962C8B-B14F-4D97-AF65-F5344CB8AC3E}">
        <p14:creationId xmlns:p14="http://schemas.microsoft.com/office/powerpoint/2010/main" val="9612649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238B8-465B-48E7-A805-219524654AE9}"/>
              </a:ext>
            </a:extLst>
          </p:cNvPr>
          <p:cNvSpPr>
            <a:spLocks noGrp="1"/>
          </p:cNvSpPr>
          <p:nvPr>
            <p:ph type="title"/>
          </p:nvPr>
        </p:nvSpPr>
        <p:spPr/>
        <p:txBody>
          <a:bodyPr/>
          <a:lstStyle/>
          <a:p>
            <a:pPr algn="ctr"/>
            <a:r>
              <a:rPr lang="en-IN" dirty="0"/>
              <a:t>Merge locally</a:t>
            </a:r>
          </a:p>
        </p:txBody>
      </p:sp>
      <p:sp>
        <p:nvSpPr>
          <p:cNvPr id="3" name="Content Placeholder 2">
            <a:extLst>
              <a:ext uri="{FF2B5EF4-FFF2-40B4-BE49-F238E27FC236}">
                <a16:creationId xmlns:a16="http://schemas.microsoft.com/office/drawing/2014/main" id="{20035D89-B7DF-4557-9163-C14ED2DDF4D2}"/>
              </a:ext>
            </a:extLst>
          </p:cNvPr>
          <p:cNvSpPr>
            <a:spLocks noGrp="1"/>
          </p:cNvSpPr>
          <p:nvPr>
            <p:ph idx="1"/>
          </p:nvPr>
        </p:nvSpPr>
        <p:spPr/>
        <p:txBody>
          <a:bodyPr/>
          <a:lstStyle/>
          <a:p>
            <a:r>
              <a:rPr lang="en-IN" dirty="0"/>
              <a:t>you create another branch:</a:t>
            </a:r>
          </a:p>
          <a:p>
            <a:r>
              <a:rPr lang="en-IN" dirty="0"/>
              <a:t>git checkout –b </a:t>
            </a:r>
            <a:r>
              <a:rPr lang="en-IN" dirty="0" err="1"/>
              <a:t>anotherBranch</a:t>
            </a:r>
            <a:endParaRPr lang="en-IN" dirty="0"/>
          </a:p>
          <a:p>
            <a:r>
              <a:rPr lang="en-IN" dirty="0"/>
              <a:t>make changes in the file and do git add . and git commit –m “changed”</a:t>
            </a:r>
          </a:p>
          <a:p>
            <a:r>
              <a:rPr lang="en-IN" dirty="0"/>
              <a:t>You go back to the master: git checkout master</a:t>
            </a:r>
          </a:p>
          <a:p>
            <a:r>
              <a:rPr lang="en-IN" dirty="0"/>
              <a:t>git diff master…</a:t>
            </a:r>
            <a:r>
              <a:rPr lang="en-IN" dirty="0" err="1"/>
              <a:t>anotherBranch</a:t>
            </a:r>
            <a:r>
              <a:rPr lang="en-IN" dirty="0"/>
              <a:t> //displays the difference b/w files</a:t>
            </a:r>
          </a:p>
          <a:p>
            <a:r>
              <a:rPr lang="en-IN" dirty="0"/>
              <a:t>you merge in the master another branch</a:t>
            </a:r>
          </a:p>
          <a:p>
            <a:r>
              <a:rPr lang="en-IN" dirty="0"/>
              <a:t>git merge </a:t>
            </a:r>
            <a:r>
              <a:rPr lang="en-IN" dirty="0" err="1"/>
              <a:t>anotherBranch</a:t>
            </a:r>
            <a:r>
              <a:rPr lang="en-IN" dirty="0"/>
              <a:t> //you are already in the master.</a:t>
            </a:r>
          </a:p>
        </p:txBody>
      </p:sp>
    </p:spTree>
    <p:extLst>
      <p:ext uri="{BB962C8B-B14F-4D97-AF65-F5344CB8AC3E}">
        <p14:creationId xmlns:p14="http://schemas.microsoft.com/office/powerpoint/2010/main" val="22875552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C8167-0D69-47A0-B050-3B64740E9B8D}"/>
              </a:ext>
            </a:extLst>
          </p:cNvPr>
          <p:cNvSpPr>
            <a:spLocks noGrp="1"/>
          </p:cNvSpPr>
          <p:nvPr>
            <p:ph type="title"/>
          </p:nvPr>
        </p:nvSpPr>
        <p:spPr/>
        <p:txBody>
          <a:bodyPr/>
          <a:lstStyle/>
          <a:p>
            <a:pPr algn="ctr"/>
            <a:r>
              <a:rPr lang="en-IN" dirty="0"/>
              <a:t>Rebasing</a:t>
            </a:r>
          </a:p>
        </p:txBody>
      </p:sp>
      <p:sp>
        <p:nvSpPr>
          <p:cNvPr id="3" name="Content Placeholder 2">
            <a:extLst>
              <a:ext uri="{FF2B5EF4-FFF2-40B4-BE49-F238E27FC236}">
                <a16:creationId xmlns:a16="http://schemas.microsoft.com/office/drawing/2014/main" id="{7AADAC69-3DE4-40A1-8D22-B579B83ED39A}"/>
              </a:ext>
            </a:extLst>
          </p:cNvPr>
          <p:cNvSpPr>
            <a:spLocks noGrp="1"/>
          </p:cNvSpPr>
          <p:nvPr>
            <p:ph idx="1"/>
          </p:nvPr>
        </p:nvSpPr>
        <p:spPr/>
        <p:txBody>
          <a:bodyPr>
            <a:normAutofit fontScale="92500" lnSpcReduction="20000"/>
          </a:bodyPr>
          <a:lstStyle/>
          <a:p>
            <a:r>
              <a:rPr lang="en-IN" dirty="0"/>
              <a:t>Rebasing is merge from a branch and simplifying history.</a:t>
            </a:r>
          </a:p>
          <a:p>
            <a:endParaRPr lang="en-IN" dirty="0"/>
          </a:p>
          <a:p>
            <a:r>
              <a:rPr lang="en-IN" dirty="0"/>
              <a:t>Suppose, you branch-off from main and do some commits on your own branch.</a:t>
            </a:r>
          </a:p>
          <a:p>
            <a:r>
              <a:rPr lang="en-IN" dirty="0"/>
              <a:t>In the meantime, commits on main also happened.</a:t>
            </a:r>
          </a:p>
          <a:p>
            <a:r>
              <a:rPr lang="en-IN" dirty="0"/>
              <a:t>Although when I merge my branch to main, things will get resolved (automatically or manually). But in this case history would be a bit  tangled.</a:t>
            </a:r>
          </a:p>
          <a:p>
            <a:r>
              <a:rPr lang="en-IN" dirty="0"/>
              <a:t>If I rebase from my branch using, git rebase main, you would see the commits from main now incorporated in your branch. Later you will push your branch to the </a:t>
            </a:r>
            <a:r>
              <a:rPr lang="en-IN" dirty="0" err="1"/>
              <a:t>github</a:t>
            </a:r>
            <a:r>
              <a:rPr lang="en-IN" dirty="0"/>
              <a:t> and merge with main.</a:t>
            </a:r>
          </a:p>
          <a:p>
            <a:r>
              <a:rPr lang="en-IN" dirty="0"/>
              <a:t>Origin signifies your remote repository. You may need to set it at the start. See first-second slides.</a:t>
            </a:r>
          </a:p>
        </p:txBody>
      </p:sp>
    </p:spTree>
    <p:extLst>
      <p:ext uri="{BB962C8B-B14F-4D97-AF65-F5344CB8AC3E}">
        <p14:creationId xmlns:p14="http://schemas.microsoft.com/office/powerpoint/2010/main" val="41747922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A0F04-D488-4E97-8EF3-B2FF6307C517}"/>
              </a:ext>
            </a:extLst>
          </p:cNvPr>
          <p:cNvSpPr>
            <a:spLocks noGrp="1"/>
          </p:cNvSpPr>
          <p:nvPr>
            <p:ph type="title"/>
          </p:nvPr>
        </p:nvSpPr>
        <p:spPr/>
        <p:txBody>
          <a:bodyPr/>
          <a:lstStyle/>
          <a:p>
            <a:pPr algn="ctr"/>
            <a:r>
              <a:rPr lang="en-IN" dirty="0"/>
              <a:t>When nothing works</a:t>
            </a:r>
          </a:p>
        </p:txBody>
      </p:sp>
      <p:sp>
        <p:nvSpPr>
          <p:cNvPr id="3" name="Content Placeholder 2">
            <a:extLst>
              <a:ext uri="{FF2B5EF4-FFF2-40B4-BE49-F238E27FC236}">
                <a16:creationId xmlns:a16="http://schemas.microsoft.com/office/drawing/2014/main" id="{4D596522-DE49-487C-802B-960BA2B1C840}"/>
              </a:ext>
            </a:extLst>
          </p:cNvPr>
          <p:cNvSpPr>
            <a:spLocks noGrp="1"/>
          </p:cNvSpPr>
          <p:nvPr>
            <p:ph idx="1"/>
          </p:nvPr>
        </p:nvSpPr>
        <p:spPr/>
        <p:txBody>
          <a:bodyPr>
            <a:normAutofit fontScale="92500" lnSpcReduction="10000"/>
          </a:bodyPr>
          <a:lstStyle/>
          <a:p>
            <a:r>
              <a:rPr lang="en-IN" dirty="0"/>
              <a:t>There is no undo button in Git. All you can do is go back to last commit.</a:t>
            </a:r>
          </a:p>
          <a:p>
            <a:r>
              <a:rPr lang="en-IN" dirty="0"/>
              <a:t>Copy contents of your current repo and save the same in another folder at other place.</a:t>
            </a:r>
          </a:p>
          <a:p>
            <a:pPr lvl="1"/>
            <a:r>
              <a:rPr lang="en-IN" dirty="0"/>
              <a:t>Clone the repo again for the git hub.</a:t>
            </a:r>
          </a:p>
          <a:p>
            <a:pPr lvl="1"/>
            <a:r>
              <a:rPr lang="en-IN" dirty="0"/>
              <a:t>Manually merge things from old repo to new repo.</a:t>
            </a:r>
          </a:p>
          <a:p>
            <a:r>
              <a:rPr lang="en-IN" dirty="0"/>
              <a:t>If you know that git hub has everything latest then:</a:t>
            </a:r>
          </a:p>
          <a:p>
            <a:pPr lvl="1"/>
            <a:r>
              <a:rPr lang="en-IN" dirty="0"/>
              <a:t>git fetch origin</a:t>
            </a:r>
          </a:p>
          <a:p>
            <a:pPr lvl="1"/>
            <a:r>
              <a:rPr lang="en-IN" dirty="0"/>
              <a:t>git reset - - hard origin/</a:t>
            </a:r>
            <a:r>
              <a:rPr lang="en-IN" dirty="0" err="1"/>
              <a:t>branchName</a:t>
            </a:r>
            <a:endParaRPr lang="en-IN" dirty="0"/>
          </a:p>
          <a:p>
            <a:pPr lvl="2"/>
            <a:r>
              <a:rPr lang="en-IN" dirty="0"/>
              <a:t>where </a:t>
            </a:r>
            <a:r>
              <a:rPr lang="en-IN" dirty="0" err="1"/>
              <a:t>branchName</a:t>
            </a:r>
            <a:r>
              <a:rPr lang="en-IN" dirty="0"/>
              <a:t> is the name of the remote branch </a:t>
            </a:r>
          </a:p>
          <a:p>
            <a:r>
              <a:rPr lang="en-IN" dirty="0"/>
              <a:t>If you’ve made changes that you haven’t committed yet that you don’t like: git reset --hard  or git reset - - hard &lt;id of commit that you want to go&gt;</a:t>
            </a:r>
          </a:p>
        </p:txBody>
      </p:sp>
    </p:spTree>
    <p:extLst>
      <p:ext uri="{BB962C8B-B14F-4D97-AF65-F5344CB8AC3E}">
        <p14:creationId xmlns:p14="http://schemas.microsoft.com/office/powerpoint/2010/main" val="1923753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A091E-CB83-417C-AF6A-81315B4934D1}"/>
              </a:ext>
            </a:extLst>
          </p:cNvPr>
          <p:cNvSpPr>
            <a:spLocks noGrp="1"/>
          </p:cNvSpPr>
          <p:nvPr>
            <p:ph type="title"/>
          </p:nvPr>
        </p:nvSpPr>
        <p:spPr/>
        <p:txBody>
          <a:bodyPr/>
          <a:lstStyle/>
          <a:p>
            <a:pPr algn="ctr"/>
            <a:r>
              <a:rPr lang="en-IN" dirty="0"/>
              <a:t>Ignoring Files</a:t>
            </a:r>
          </a:p>
        </p:txBody>
      </p:sp>
      <p:sp>
        <p:nvSpPr>
          <p:cNvPr id="3" name="Content Placeholder 2">
            <a:extLst>
              <a:ext uri="{FF2B5EF4-FFF2-40B4-BE49-F238E27FC236}">
                <a16:creationId xmlns:a16="http://schemas.microsoft.com/office/drawing/2014/main" id="{5365EBE4-9F62-4EA7-AB2D-147E71E94549}"/>
              </a:ext>
            </a:extLst>
          </p:cNvPr>
          <p:cNvSpPr>
            <a:spLocks noGrp="1"/>
          </p:cNvSpPr>
          <p:nvPr>
            <p:ph idx="1"/>
          </p:nvPr>
        </p:nvSpPr>
        <p:spPr/>
        <p:txBody>
          <a:bodyPr>
            <a:normAutofit fontScale="70000" lnSpcReduction="20000"/>
          </a:bodyPr>
          <a:lstStyle/>
          <a:p>
            <a:r>
              <a:rPr lang="en-IN" dirty="0"/>
              <a:t>.</a:t>
            </a:r>
            <a:r>
              <a:rPr lang="en-IN" dirty="0" err="1"/>
              <a:t>gitignore</a:t>
            </a:r>
            <a:r>
              <a:rPr lang="en-IN" dirty="0"/>
              <a:t> file to be added in you local repo.</a:t>
            </a:r>
          </a:p>
          <a:p>
            <a:r>
              <a:rPr lang="en-IN" dirty="0"/>
              <a:t>It contains entry of files and folders that are to be ignored for tracking.</a:t>
            </a:r>
          </a:p>
          <a:p>
            <a:r>
              <a:rPr lang="en-IN" dirty="0"/>
              <a:t>add the file to the repository and commit.</a:t>
            </a:r>
          </a:p>
          <a:p>
            <a:r>
              <a:rPr lang="en-IN" dirty="0"/>
              <a:t># is a commenting sign in .</a:t>
            </a:r>
            <a:r>
              <a:rPr lang="en-IN" dirty="0" err="1"/>
              <a:t>gitignore</a:t>
            </a:r>
            <a:r>
              <a:rPr lang="en-IN" dirty="0"/>
              <a:t> file</a:t>
            </a:r>
          </a:p>
          <a:p>
            <a:r>
              <a:rPr lang="en-IN" dirty="0"/>
              <a:t>temp/  # will ignore all files inside temp folder</a:t>
            </a:r>
          </a:p>
          <a:p>
            <a:r>
              <a:rPr lang="en-IN" dirty="0"/>
              <a:t>temp/*.txt # will ignore all txt files inside temp</a:t>
            </a:r>
          </a:p>
          <a:p>
            <a:r>
              <a:rPr lang="en-IN" dirty="0"/>
              <a:t>temp/notes.txt #will ignore notes.txt inside temp</a:t>
            </a:r>
          </a:p>
          <a:p>
            <a:r>
              <a:rPr lang="en-IN" dirty="0"/>
              <a:t>Example: all build files, node module files</a:t>
            </a:r>
          </a:p>
          <a:p>
            <a:r>
              <a:rPr lang="en-IN" dirty="0"/>
              <a:t>Software generates build files from source files. Git needs track of source files only. For example: markdown files may be source files for documentation and html files will be generated as build files.</a:t>
            </a:r>
          </a:p>
          <a:p>
            <a:r>
              <a:rPr lang="en-IN" dirty="0"/>
              <a:t>Files start for “.” are hidden.</a:t>
            </a:r>
          </a:p>
          <a:p>
            <a:r>
              <a:rPr lang="en-IN" dirty="0"/>
              <a:t>Files that are already committed would not be ignored.</a:t>
            </a:r>
          </a:p>
        </p:txBody>
      </p:sp>
    </p:spTree>
    <p:extLst>
      <p:ext uri="{BB962C8B-B14F-4D97-AF65-F5344CB8AC3E}">
        <p14:creationId xmlns:p14="http://schemas.microsoft.com/office/powerpoint/2010/main" val="6726474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0AC549-353C-4149-B24D-83652EE83045}"/>
              </a:ext>
            </a:extLst>
          </p:cNvPr>
          <p:cNvSpPr>
            <a:spLocks noGrp="1"/>
          </p:cNvSpPr>
          <p:nvPr>
            <p:ph type="title"/>
          </p:nvPr>
        </p:nvSpPr>
        <p:spPr/>
        <p:txBody>
          <a:bodyPr/>
          <a:lstStyle/>
          <a:p>
            <a:pPr algn="ctr"/>
            <a:r>
              <a:rPr lang="en-IN" dirty="0"/>
              <a:t>Forking</a:t>
            </a:r>
          </a:p>
        </p:txBody>
      </p:sp>
      <p:sp>
        <p:nvSpPr>
          <p:cNvPr id="3" name="Content Placeholder 2">
            <a:extLst>
              <a:ext uri="{FF2B5EF4-FFF2-40B4-BE49-F238E27FC236}">
                <a16:creationId xmlns:a16="http://schemas.microsoft.com/office/drawing/2014/main" id="{06A4A584-81F4-410F-B5AB-EF83A419D0E2}"/>
              </a:ext>
            </a:extLst>
          </p:cNvPr>
          <p:cNvSpPr>
            <a:spLocks noGrp="1"/>
          </p:cNvSpPr>
          <p:nvPr>
            <p:ph idx="1"/>
          </p:nvPr>
        </p:nvSpPr>
        <p:spPr/>
        <p:txBody>
          <a:bodyPr/>
          <a:lstStyle/>
          <a:p>
            <a:r>
              <a:rPr lang="en-IN" dirty="0"/>
              <a:t>Forking is like branching. But branching is a git phenomenon. Forking is a </a:t>
            </a:r>
            <a:r>
              <a:rPr lang="en-IN" dirty="0" err="1"/>
              <a:t>Github</a:t>
            </a:r>
            <a:r>
              <a:rPr lang="en-IN" dirty="0"/>
              <a:t> Phenomenon.</a:t>
            </a:r>
          </a:p>
          <a:p>
            <a:r>
              <a:rPr lang="en-IN" dirty="0"/>
              <a:t>You fork a full repository to your own account. Make changes and finally create a pull request to the owner of the repository for accepting your changes. He may accept or reject.</a:t>
            </a:r>
          </a:p>
          <a:p>
            <a:r>
              <a:rPr lang="en-IN"/>
              <a:t>You generally </a:t>
            </a:r>
            <a:r>
              <a:rPr lang="en-IN" dirty="0"/>
              <a:t>fork open </a:t>
            </a:r>
            <a:r>
              <a:rPr lang="en-IN"/>
              <a:t>source projects.</a:t>
            </a:r>
            <a:endParaRPr lang="en-IN" dirty="0"/>
          </a:p>
        </p:txBody>
      </p:sp>
    </p:spTree>
    <p:extLst>
      <p:ext uri="{BB962C8B-B14F-4D97-AF65-F5344CB8AC3E}">
        <p14:creationId xmlns:p14="http://schemas.microsoft.com/office/powerpoint/2010/main" val="17409345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B3CCB-DBD3-490F-A810-18C72017BBA5}"/>
              </a:ext>
            </a:extLst>
          </p:cNvPr>
          <p:cNvSpPr>
            <a:spLocks noGrp="1"/>
          </p:cNvSpPr>
          <p:nvPr>
            <p:ph type="title"/>
          </p:nvPr>
        </p:nvSpPr>
        <p:spPr/>
        <p:txBody>
          <a:bodyPr/>
          <a:lstStyle/>
          <a:p>
            <a:pPr algn="ctr"/>
            <a:r>
              <a:rPr lang="en-IN" dirty="0"/>
              <a:t>reset and revert</a:t>
            </a:r>
          </a:p>
        </p:txBody>
      </p:sp>
      <p:sp>
        <p:nvSpPr>
          <p:cNvPr id="3" name="Content Placeholder 2">
            <a:extLst>
              <a:ext uri="{FF2B5EF4-FFF2-40B4-BE49-F238E27FC236}">
                <a16:creationId xmlns:a16="http://schemas.microsoft.com/office/drawing/2014/main" id="{1048E859-AE04-45F2-88C8-C13C5BF0E873}"/>
              </a:ext>
            </a:extLst>
          </p:cNvPr>
          <p:cNvSpPr>
            <a:spLocks noGrp="1"/>
          </p:cNvSpPr>
          <p:nvPr>
            <p:ph idx="1"/>
          </p:nvPr>
        </p:nvSpPr>
        <p:spPr/>
        <p:txBody>
          <a:bodyPr>
            <a:normAutofit fontScale="92500" lnSpcReduction="20000"/>
          </a:bodyPr>
          <a:lstStyle/>
          <a:p>
            <a:r>
              <a:rPr lang="en-IN" dirty="0"/>
              <a:t>reset takes you back in history to a desired commit.</a:t>
            </a:r>
          </a:p>
          <a:p>
            <a:r>
              <a:rPr lang="en-IN" dirty="0"/>
              <a:t>all the commits after the desired commit will be lost.</a:t>
            </a:r>
          </a:p>
          <a:p>
            <a:r>
              <a:rPr lang="en-IN" dirty="0"/>
              <a:t>reset comes in 3 </a:t>
            </a:r>
            <a:r>
              <a:rPr lang="en-IN" dirty="0" err="1"/>
              <a:t>flavors</a:t>
            </a:r>
            <a:r>
              <a:rPr lang="en-IN" dirty="0"/>
              <a:t>:</a:t>
            </a:r>
          </a:p>
          <a:p>
            <a:r>
              <a:rPr lang="en-IN" dirty="0"/>
              <a:t>--soft </a:t>
            </a:r>
            <a:r>
              <a:rPr lang="en-IN" dirty="0">
                <a:sym typeface="Wingdings" panose="05000000000000000000" pitchFamily="2" charset="2"/>
              </a:rPr>
              <a:t>your source files will not be lost and will be staged. [Working tree and index remains untouched, head is changed back to last commit. To come back to the starting state (not the desired commit state), all you need is a git commit]</a:t>
            </a:r>
          </a:p>
          <a:p>
            <a:r>
              <a:rPr lang="en-IN" dirty="0">
                <a:sym typeface="Wingdings" panose="05000000000000000000" pitchFamily="2" charset="2"/>
              </a:rPr>
              <a:t>--mixed (default)source files will not be lost and will be </a:t>
            </a:r>
            <a:r>
              <a:rPr lang="en-IN" dirty="0" err="1">
                <a:sym typeface="Wingdings" panose="05000000000000000000" pitchFamily="2" charset="2"/>
              </a:rPr>
              <a:t>unstaged</a:t>
            </a:r>
            <a:r>
              <a:rPr lang="en-IN" dirty="0">
                <a:sym typeface="Wingdings" panose="05000000000000000000" pitchFamily="2" charset="2"/>
              </a:rPr>
              <a:t>. [ Working tree is maintained but index lost, head is changed back to last commit. To come back to the starting state (not the desired commit), all you need is git add . and git commit ]</a:t>
            </a:r>
          </a:p>
          <a:p>
            <a:r>
              <a:rPr lang="en-IN" dirty="0">
                <a:sym typeface="Wingdings" panose="05000000000000000000" pitchFamily="2" charset="2"/>
              </a:rPr>
              <a:t>--</a:t>
            </a:r>
            <a:r>
              <a:rPr lang="en-IN" dirty="0" err="1">
                <a:sym typeface="Wingdings" panose="05000000000000000000" pitchFamily="2" charset="2"/>
              </a:rPr>
              <a:t>hardsource</a:t>
            </a:r>
            <a:r>
              <a:rPr lang="en-IN" dirty="0">
                <a:sym typeface="Wingdings" panose="05000000000000000000" pitchFamily="2" charset="2"/>
              </a:rPr>
              <a:t> files will be lost (updated to the desired commit) [Neither working tree remains nor index, head is changed back to last commit]</a:t>
            </a:r>
            <a:endParaRPr lang="en-IN" dirty="0"/>
          </a:p>
        </p:txBody>
      </p:sp>
    </p:spTree>
    <p:extLst>
      <p:ext uri="{BB962C8B-B14F-4D97-AF65-F5344CB8AC3E}">
        <p14:creationId xmlns:p14="http://schemas.microsoft.com/office/powerpoint/2010/main" val="4044872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EED0E-0E91-4BA7-AC72-6B2E2399FE67}"/>
              </a:ext>
            </a:extLst>
          </p:cNvPr>
          <p:cNvSpPr>
            <a:spLocks noGrp="1"/>
          </p:cNvSpPr>
          <p:nvPr>
            <p:ph type="title"/>
          </p:nvPr>
        </p:nvSpPr>
        <p:spPr/>
        <p:txBody>
          <a:bodyPr/>
          <a:lstStyle/>
          <a:p>
            <a:pPr algn="ctr"/>
            <a:r>
              <a:rPr lang="en-IN" dirty="0"/>
              <a:t>revert</a:t>
            </a:r>
          </a:p>
        </p:txBody>
      </p:sp>
      <p:sp>
        <p:nvSpPr>
          <p:cNvPr id="3" name="Content Placeholder 2">
            <a:extLst>
              <a:ext uri="{FF2B5EF4-FFF2-40B4-BE49-F238E27FC236}">
                <a16:creationId xmlns:a16="http://schemas.microsoft.com/office/drawing/2014/main" id="{5569364F-F88A-47F7-B0AC-4469B5A41648}"/>
              </a:ext>
            </a:extLst>
          </p:cNvPr>
          <p:cNvSpPr>
            <a:spLocks noGrp="1"/>
          </p:cNvSpPr>
          <p:nvPr>
            <p:ph idx="1"/>
          </p:nvPr>
        </p:nvSpPr>
        <p:spPr/>
        <p:txBody>
          <a:bodyPr>
            <a:normAutofit lnSpcReduction="10000"/>
          </a:bodyPr>
          <a:lstStyle/>
          <a:p>
            <a:r>
              <a:rPr lang="en-IN" dirty="0"/>
              <a:t>Reset removes commits from the history. Revert doesn’t remove commits, instead create a new commit with older data.</a:t>
            </a:r>
          </a:p>
          <a:p>
            <a:r>
              <a:rPr lang="en-IN" dirty="0"/>
              <a:t>So, if you have already published you local work to </a:t>
            </a:r>
            <a:r>
              <a:rPr lang="en-IN" dirty="0" err="1"/>
              <a:t>github</a:t>
            </a:r>
            <a:r>
              <a:rPr lang="en-IN" dirty="0"/>
              <a:t>, and then you figure out that you didn’t want to publish it: </a:t>
            </a:r>
          </a:p>
          <a:p>
            <a:r>
              <a:rPr lang="en-IN" dirty="0"/>
              <a:t>if you reset in your local repo to the last commit and you push this to the remote, it will throw error. Because the history at </a:t>
            </a:r>
            <a:r>
              <a:rPr lang="en-IN" dirty="0" err="1"/>
              <a:t>github</a:t>
            </a:r>
            <a:r>
              <a:rPr lang="en-IN" dirty="0"/>
              <a:t> have more commits than your local repo-</a:t>
            </a:r>
            <a:r>
              <a:rPr lang="en-IN" dirty="0" err="1"/>
              <a:t>insconsistency</a:t>
            </a:r>
            <a:r>
              <a:rPr lang="en-IN" dirty="0"/>
              <a:t>.</a:t>
            </a:r>
          </a:p>
          <a:p>
            <a:r>
              <a:rPr lang="en-IN" dirty="0"/>
              <a:t>Revert will be fine in this case.</a:t>
            </a:r>
          </a:p>
          <a:p>
            <a:r>
              <a:rPr lang="en-IN" dirty="0"/>
              <a:t>Reset is okay if you don’t have already published you work, and want to undo it locally.</a:t>
            </a:r>
          </a:p>
        </p:txBody>
      </p:sp>
    </p:spTree>
    <p:extLst>
      <p:ext uri="{BB962C8B-B14F-4D97-AF65-F5344CB8AC3E}">
        <p14:creationId xmlns:p14="http://schemas.microsoft.com/office/powerpoint/2010/main" val="41070066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DC86E-F98C-4FC8-B4B4-3EF41594610E}"/>
              </a:ext>
            </a:extLst>
          </p:cNvPr>
          <p:cNvSpPr>
            <a:spLocks noGrp="1"/>
          </p:cNvSpPr>
          <p:nvPr>
            <p:ph type="title"/>
          </p:nvPr>
        </p:nvSpPr>
        <p:spPr/>
        <p:txBody>
          <a:bodyPr/>
          <a:lstStyle/>
          <a:p>
            <a:pPr algn="ctr"/>
            <a:r>
              <a:rPr lang="en-IN" dirty="0"/>
              <a:t>Practical Use Case for git reset --soft</a:t>
            </a:r>
          </a:p>
        </p:txBody>
      </p:sp>
      <p:sp>
        <p:nvSpPr>
          <p:cNvPr id="3" name="Content Placeholder 2">
            <a:extLst>
              <a:ext uri="{FF2B5EF4-FFF2-40B4-BE49-F238E27FC236}">
                <a16:creationId xmlns:a16="http://schemas.microsoft.com/office/drawing/2014/main" id="{B56538DD-5CE9-47C2-B341-536D6E1EFE03}"/>
              </a:ext>
            </a:extLst>
          </p:cNvPr>
          <p:cNvSpPr>
            <a:spLocks noGrp="1"/>
          </p:cNvSpPr>
          <p:nvPr>
            <p:ph idx="1"/>
          </p:nvPr>
        </p:nvSpPr>
        <p:spPr/>
        <p:txBody>
          <a:bodyPr>
            <a:normAutofit lnSpcReduction="10000"/>
          </a:bodyPr>
          <a:lstStyle/>
          <a:p>
            <a:r>
              <a:rPr lang="en-IN" dirty="0"/>
              <a:t>Suppose you have a file:    A: I am a man. I love Sky. </a:t>
            </a:r>
          </a:p>
          <a:p>
            <a:r>
              <a:rPr lang="en-IN" dirty="0"/>
              <a:t>Now you think of improving you code and commit it again with tag B.</a:t>
            </a:r>
          </a:p>
          <a:p>
            <a:r>
              <a:rPr lang="en-IN" dirty="0"/>
              <a:t>B: I am a man. I love Sky. Sky is Blue.</a:t>
            </a:r>
          </a:p>
          <a:p>
            <a:r>
              <a:rPr lang="en-IN" dirty="0"/>
              <a:t>Now you want to improve it again further with tag C.</a:t>
            </a:r>
          </a:p>
          <a:p>
            <a:r>
              <a:rPr lang="en-IN" dirty="0"/>
              <a:t>C: I am a man. I love Sky. Sky is Blue. Blue is </a:t>
            </a:r>
            <a:r>
              <a:rPr lang="en-IN" dirty="0" err="1"/>
              <a:t>color</a:t>
            </a:r>
            <a:r>
              <a:rPr lang="en-IN" dirty="0"/>
              <a:t>.</a:t>
            </a:r>
          </a:p>
          <a:p>
            <a:r>
              <a:rPr lang="en-IN" dirty="0"/>
              <a:t>Now, you think what the crap is this. I could have easily modified my file single time. I just have one meaningless commit. So I will use reset, remove all the commits after A. My files will be intact and in staged state. I’ll just have to commit with tag B. Now I’ll have two commits and the desired code.</a:t>
            </a:r>
          </a:p>
        </p:txBody>
      </p:sp>
    </p:spTree>
    <p:extLst>
      <p:ext uri="{BB962C8B-B14F-4D97-AF65-F5344CB8AC3E}">
        <p14:creationId xmlns:p14="http://schemas.microsoft.com/office/powerpoint/2010/main" val="4006825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DF616-C326-43D3-BE66-C82F887EF16A}"/>
              </a:ext>
            </a:extLst>
          </p:cNvPr>
          <p:cNvSpPr>
            <a:spLocks noGrp="1"/>
          </p:cNvSpPr>
          <p:nvPr>
            <p:ph type="title"/>
          </p:nvPr>
        </p:nvSpPr>
        <p:spPr/>
        <p:txBody>
          <a:bodyPr/>
          <a:lstStyle/>
          <a:p>
            <a:pPr algn="ctr"/>
            <a:r>
              <a:rPr lang="en-IN" dirty="0"/>
              <a:t>Course Objective</a:t>
            </a:r>
          </a:p>
        </p:txBody>
      </p:sp>
      <p:sp>
        <p:nvSpPr>
          <p:cNvPr id="3" name="Content Placeholder 2">
            <a:extLst>
              <a:ext uri="{FF2B5EF4-FFF2-40B4-BE49-F238E27FC236}">
                <a16:creationId xmlns:a16="http://schemas.microsoft.com/office/drawing/2014/main" id="{BCC2BAB9-02FC-4A8A-946C-EE7D2326CA4F}"/>
              </a:ext>
            </a:extLst>
          </p:cNvPr>
          <p:cNvSpPr>
            <a:spLocks noGrp="1"/>
          </p:cNvSpPr>
          <p:nvPr>
            <p:ph idx="1"/>
          </p:nvPr>
        </p:nvSpPr>
        <p:spPr/>
        <p:txBody>
          <a:bodyPr/>
          <a:lstStyle/>
          <a:p>
            <a:r>
              <a:rPr lang="en-IN" dirty="0"/>
              <a:t>To know the necessary about Git</a:t>
            </a:r>
          </a:p>
          <a:p>
            <a:r>
              <a:rPr lang="en-IN" dirty="0"/>
              <a:t>Without inundating yourselves with the information.</a:t>
            </a:r>
          </a:p>
          <a:p>
            <a:r>
              <a:rPr lang="en-IN" dirty="0"/>
              <a:t>so that you can start using git and GitHub in </a:t>
            </a:r>
            <a:r>
              <a:rPr lang="en-IN"/>
              <a:t>your projects.</a:t>
            </a:r>
            <a:endParaRPr lang="en-IN" dirty="0"/>
          </a:p>
        </p:txBody>
      </p:sp>
    </p:spTree>
    <p:extLst>
      <p:ext uri="{BB962C8B-B14F-4D97-AF65-F5344CB8AC3E}">
        <p14:creationId xmlns:p14="http://schemas.microsoft.com/office/powerpoint/2010/main" val="9937764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5A9B4B-24C5-49E6-A92D-9B8EB9F65C16}"/>
              </a:ext>
            </a:extLst>
          </p:cNvPr>
          <p:cNvSpPr>
            <a:spLocks noGrp="1"/>
          </p:cNvSpPr>
          <p:nvPr>
            <p:ph type="title"/>
          </p:nvPr>
        </p:nvSpPr>
        <p:spPr/>
        <p:txBody>
          <a:bodyPr/>
          <a:lstStyle/>
          <a:p>
            <a:pPr algn="ctr"/>
            <a:r>
              <a:rPr lang="en-IN" dirty="0"/>
              <a:t>If your answer is yes to any of these questions. You need Git!</a:t>
            </a:r>
          </a:p>
        </p:txBody>
      </p:sp>
      <p:sp>
        <p:nvSpPr>
          <p:cNvPr id="3" name="Content Placeholder 2">
            <a:extLst>
              <a:ext uri="{FF2B5EF4-FFF2-40B4-BE49-F238E27FC236}">
                <a16:creationId xmlns:a16="http://schemas.microsoft.com/office/drawing/2014/main" id="{1AF53EC9-ADB5-4974-B239-DF34E3CA3266}"/>
              </a:ext>
            </a:extLst>
          </p:cNvPr>
          <p:cNvSpPr>
            <a:spLocks noGrp="1"/>
          </p:cNvSpPr>
          <p:nvPr>
            <p:ph idx="1"/>
          </p:nvPr>
        </p:nvSpPr>
        <p:spPr/>
        <p:txBody>
          <a:bodyPr/>
          <a:lstStyle/>
          <a:p>
            <a:r>
              <a:rPr lang="en-IN" dirty="0"/>
              <a:t>Did you ever loose your code while working on a project?</a:t>
            </a:r>
          </a:p>
          <a:p>
            <a:r>
              <a:rPr lang="en-IN" dirty="0"/>
              <a:t>Did you ever mess your code so badly that you wished you hadn’t written that messy code?</a:t>
            </a:r>
          </a:p>
          <a:p>
            <a:r>
              <a:rPr lang="en-IN" dirty="0"/>
              <a:t>Do you want to work as a team on a software project, but you do not know how?</a:t>
            </a:r>
          </a:p>
          <a:p>
            <a:r>
              <a:rPr lang="en-IN" dirty="0"/>
              <a:t>Do you want to keep all of your projects safe at one place and accessible at all locations ?</a:t>
            </a:r>
          </a:p>
          <a:p>
            <a:r>
              <a:rPr lang="en-IN" dirty="0"/>
              <a:t>Do you want to show-off your projects and contribute to open-source projects?</a:t>
            </a:r>
          </a:p>
        </p:txBody>
      </p:sp>
    </p:spTree>
    <p:extLst>
      <p:ext uri="{BB962C8B-B14F-4D97-AF65-F5344CB8AC3E}">
        <p14:creationId xmlns:p14="http://schemas.microsoft.com/office/powerpoint/2010/main" val="4007546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55EA2-8D48-4A58-A329-C59937B7EB48}"/>
              </a:ext>
            </a:extLst>
          </p:cNvPr>
          <p:cNvSpPr>
            <a:spLocks noGrp="1"/>
          </p:cNvSpPr>
          <p:nvPr>
            <p:ph type="title"/>
          </p:nvPr>
        </p:nvSpPr>
        <p:spPr/>
        <p:txBody>
          <a:bodyPr/>
          <a:lstStyle/>
          <a:p>
            <a:pPr algn="ctr"/>
            <a:r>
              <a:rPr lang="en-IN" dirty="0"/>
              <a:t>What is git?</a:t>
            </a:r>
          </a:p>
        </p:txBody>
      </p:sp>
      <p:sp>
        <p:nvSpPr>
          <p:cNvPr id="3" name="Content Placeholder 2">
            <a:extLst>
              <a:ext uri="{FF2B5EF4-FFF2-40B4-BE49-F238E27FC236}">
                <a16:creationId xmlns:a16="http://schemas.microsoft.com/office/drawing/2014/main" id="{757D93A2-3E75-46EF-AD1E-E89AC6451CF8}"/>
              </a:ext>
            </a:extLst>
          </p:cNvPr>
          <p:cNvSpPr>
            <a:spLocks noGrp="1"/>
          </p:cNvSpPr>
          <p:nvPr>
            <p:ph idx="1"/>
          </p:nvPr>
        </p:nvSpPr>
        <p:spPr/>
        <p:txBody>
          <a:bodyPr>
            <a:normAutofit lnSpcReduction="10000"/>
          </a:bodyPr>
          <a:lstStyle/>
          <a:p>
            <a:r>
              <a:rPr lang="en-IN" dirty="0"/>
              <a:t>Version Control System (VCS)</a:t>
            </a:r>
          </a:p>
          <a:p>
            <a:r>
              <a:rPr lang="en-IN" dirty="0"/>
              <a:t>Software evolve through versions (V1….V10).</a:t>
            </a:r>
          </a:p>
          <a:p>
            <a:r>
              <a:rPr lang="en-IN" dirty="0"/>
              <a:t>VCS monitors and maintains the progress of your software during development and after completion of development (i.e. during maintenance phase of software development)</a:t>
            </a:r>
          </a:p>
          <a:p>
            <a:r>
              <a:rPr lang="en-IN" dirty="0"/>
              <a:t>git is an efficient and popular VCS, which is available to use for free.</a:t>
            </a:r>
          </a:p>
          <a:p>
            <a:r>
              <a:rPr lang="en-IN" dirty="0"/>
              <a:t>git is often used along with its companion GitHub.</a:t>
            </a:r>
          </a:p>
          <a:p>
            <a:r>
              <a:rPr lang="en-IN" dirty="0"/>
              <a:t>There are two major objectives of any VCS:</a:t>
            </a:r>
          </a:p>
          <a:p>
            <a:pPr lvl="1"/>
            <a:r>
              <a:rPr lang="en-IN" dirty="0"/>
              <a:t>Going Back In Time</a:t>
            </a:r>
          </a:p>
          <a:p>
            <a:pPr lvl="1"/>
            <a:r>
              <a:rPr lang="en-IN" dirty="0"/>
              <a:t>Collaborative Development </a:t>
            </a:r>
          </a:p>
          <a:p>
            <a:endParaRPr lang="en-IN" dirty="0"/>
          </a:p>
        </p:txBody>
      </p:sp>
    </p:spTree>
    <p:extLst>
      <p:ext uri="{BB962C8B-B14F-4D97-AF65-F5344CB8AC3E}">
        <p14:creationId xmlns:p14="http://schemas.microsoft.com/office/powerpoint/2010/main" val="32806257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83AE1-3C9D-47D6-B468-BC4159888C50}"/>
              </a:ext>
            </a:extLst>
          </p:cNvPr>
          <p:cNvSpPr>
            <a:spLocks noGrp="1"/>
          </p:cNvSpPr>
          <p:nvPr>
            <p:ph type="title"/>
          </p:nvPr>
        </p:nvSpPr>
        <p:spPr/>
        <p:txBody>
          <a:bodyPr/>
          <a:lstStyle/>
          <a:p>
            <a:pPr algn="ctr"/>
            <a:r>
              <a:rPr lang="en-IN" b="1" dirty="0"/>
              <a:t>Going Back In Time</a:t>
            </a:r>
          </a:p>
        </p:txBody>
      </p:sp>
      <p:pic>
        <p:nvPicPr>
          <p:cNvPr id="20" name="Content Placeholder 19">
            <a:extLst>
              <a:ext uri="{FF2B5EF4-FFF2-40B4-BE49-F238E27FC236}">
                <a16:creationId xmlns:a16="http://schemas.microsoft.com/office/drawing/2014/main" id="{EFC3DFC1-5C58-4FE8-8FEE-73388595A5F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098104" y="1354178"/>
            <a:ext cx="4941496" cy="2767238"/>
          </a:xfrm>
        </p:spPr>
      </p:pic>
      <p:sp>
        <p:nvSpPr>
          <p:cNvPr id="4" name="Oval 3">
            <a:extLst>
              <a:ext uri="{FF2B5EF4-FFF2-40B4-BE49-F238E27FC236}">
                <a16:creationId xmlns:a16="http://schemas.microsoft.com/office/drawing/2014/main" id="{ED8D8501-966A-4411-AB9B-B90321DAB20D}"/>
              </a:ext>
            </a:extLst>
          </p:cNvPr>
          <p:cNvSpPr/>
          <p:nvPr/>
        </p:nvSpPr>
        <p:spPr>
          <a:xfrm>
            <a:off x="1772239" y="3139126"/>
            <a:ext cx="641023" cy="58446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6" name="Straight Connector 5">
            <a:extLst>
              <a:ext uri="{FF2B5EF4-FFF2-40B4-BE49-F238E27FC236}">
                <a16:creationId xmlns:a16="http://schemas.microsoft.com/office/drawing/2014/main" id="{52A47164-E30A-428E-ABA2-8620E60A7C2A}"/>
              </a:ext>
            </a:extLst>
          </p:cNvPr>
          <p:cNvCxnSpPr/>
          <p:nvPr/>
        </p:nvCxnSpPr>
        <p:spPr>
          <a:xfrm>
            <a:off x="2413262" y="3429000"/>
            <a:ext cx="1498862"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Oval 6">
            <a:extLst>
              <a:ext uri="{FF2B5EF4-FFF2-40B4-BE49-F238E27FC236}">
                <a16:creationId xmlns:a16="http://schemas.microsoft.com/office/drawing/2014/main" id="{5D804D04-ED51-400B-8091-B6E6CF691B8C}"/>
              </a:ext>
            </a:extLst>
          </p:cNvPr>
          <p:cNvSpPr/>
          <p:nvPr/>
        </p:nvSpPr>
        <p:spPr>
          <a:xfrm>
            <a:off x="3912124" y="3136774"/>
            <a:ext cx="641023" cy="584451"/>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9" name="Straight Connector 8">
            <a:extLst>
              <a:ext uri="{FF2B5EF4-FFF2-40B4-BE49-F238E27FC236}">
                <a16:creationId xmlns:a16="http://schemas.microsoft.com/office/drawing/2014/main" id="{B7EE46D0-9F2C-44E5-8814-142932800DB9}"/>
              </a:ext>
            </a:extLst>
          </p:cNvPr>
          <p:cNvCxnSpPr/>
          <p:nvPr/>
        </p:nvCxnSpPr>
        <p:spPr>
          <a:xfrm>
            <a:off x="4553147" y="3429000"/>
            <a:ext cx="1432874" cy="0"/>
          </a:xfrm>
          <a:prstGeom prst="line">
            <a:avLst/>
          </a:prstGeom>
        </p:spPr>
        <p:style>
          <a:lnRef idx="1">
            <a:schemeClr val="accent1"/>
          </a:lnRef>
          <a:fillRef idx="0">
            <a:schemeClr val="accent1"/>
          </a:fillRef>
          <a:effectRef idx="0">
            <a:schemeClr val="accent1"/>
          </a:effectRef>
          <a:fontRef idx="minor">
            <a:schemeClr val="tx1"/>
          </a:fontRef>
        </p:style>
      </p:cxnSp>
      <p:sp>
        <p:nvSpPr>
          <p:cNvPr id="11" name="Multiplication Sign 10">
            <a:extLst>
              <a:ext uri="{FF2B5EF4-FFF2-40B4-BE49-F238E27FC236}">
                <a16:creationId xmlns:a16="http://schemas.microsoft.com/office/drawing/2014/main" id="{63853861-F98F-4936-8C60-9E056226A371}"/>
              </a:ext>
            </a:extLst>
          </p:cNvPr>
          <p:cNvSpPr/>
          <p:nvPr/>
        </p:nvSpPr>
        <p:spPr>
          <a:xfrm>
            <a:off x="5788843" y="2906993"/>
            <a:ext cx="1197205" cy="1044012"/>
          </a:xfrm>
          <a:prstGeom prst="mathMultiply">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Arrow: Curved Down 11">
            <a:extLst>
              <a:ext uri="{FF2B5EF4-FFF2-40B4-BE49-F238E27FC236}">
                <a16:creationId xmlns:a16="http://schemas.microsoft.com/office/drawing/2014/main" id="{0806744C-FEAD-479A-9DE3-9DEA6856D966}"/>
              </a:ext>
            </a:extLst>
          </p:cNvPr>
          <p:cNvSpPr/>
          <p:nvPr/>
        </p:nvSpPr>
        <p:spPr>
          <a:xfrm flipH="1">
            <a:off x="4015818" y="2370370"/>
            <a:ext cx="2080181" cy="766395"/>
          </a:xfrm>
          <a:prstGeom prst="curvedDownArrow">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solidFill>
                <a:schemeClr val="tx1"/>
              </a:solidFill>
            </a:endParaRPr>
          </a:p>
        </p:txBody>
      </p:sp>
      <p:sp>
        <p:nvSpPr>
          <p:cNvPr id="17" name="TextBox 16">
            <a:extLst>
              <a:ext uri="{FF2B5EF4-FFF2-40B4-BE49-F238E27FC236}">
                <a16:creationId xmlns:a16="http://schemas.microsoft.com/office/drawing/2014/main" id="{D350D286-A925-4B64-884C-2EC9A85A0600}"/>
              </a:ext>
            </a:extLst>
          </p:cNvPr>
          <p:cNvSpPr txBox="1"/>
          <p:nvPr/>
        </p:nvSpPr>
        <p:spPr>
          <a:xfrm>
            <a:off x="1848438" y="3718875"/>
            <a:ext cx="716438" cy="830997"/>
          </a:xfrm>
          <a:prstGeom prst="rect">
            <a:avLst/>
          </a:prstGeom>
          <a:noFill/>
        </p:spPr>
        <p:txBody>
          <a:bodyPr wrap="square" rtlCol="0">
            <a:spAutoFit/>
          </a:bodyPr>
          <a:lstStyle/>
          <a:p>
            <a:r>
              <a:rPr lang="en-IN" sz="4800" dirty="0"/>
              <a:t>A</a:t>
            </a:r>
          </a:p>
        </p:txBody>
      </p:sp>
      <p:sp>
        <p:nvSpPr>
          <p:cNvPr id="18" name="TextBox 17">
            <a:extLst>
              <a:ext uri="{FF2B5EF4-FFF2-40B4-BE49-F238E27FC236}">
                <a16:creationId xmlns:a16="http://schemas.microsoft.com/office/drawing/2014/main" id="{35B8B0BE-4237-493F-BBF1-A1E70720D1D2}"/>
              </a:ext>
            </a:extLst>
          </p:cNvPr>
          <p:cNvSpPr txBox="1"/>
          <p:nvPr/>
        </p:nvSpPr>
        <p:spPr>
          <a:xfrm>
            <a:off x="3936476" y="3672708"/>
            <a:ext cx="499621" cy="923330"/>
          </a:xfrm>
          <a:prstGeom prst="rect">
            <a:avLst/>
          </a:prstGeom>
          <a:noFill/>
        </p:spPr>
        <p:txBody>
          <a:bodyPr wrap="square" rtlCol="0">
            <a:spAutoFit/>
          </a:bodyPr>
          <a:lstStyle/>
          <a:p>
            <a:r>
              <a:rPr lang="en-IN" sz="5400" dirty="0"/>
              <a:t>B</a:t>
            </a:r>
          </a:p>
        </p:txBody>
      </p:sp>
    </p:spTree>
    <p:extLst>
      <p:ext uri="{BB962C8B-B14F-4D97-AF65-F5344CB8AC3E}">
        <p14:creationId xmlns:p14="http://schemas.microsoft.com/office/powerpoint/2010/main" val="1216050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par>
                          <p:cTn id="13" fill="hold">
                            <p:stCondLst>
                              <p:cond delay="0"/>
                            </p:stCondLst>
                            <p:childTnLst>
                              <p:par>
                                <p:cTn id="14" presetID="1"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8"/>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100"/>
                                  </p:stCondLst>
                                  <p:childTnLst>
                                    <p:set>
                                      <p:cBhvr>
                                        <p:cTn id="21" dur="1" fill="hold">
                                          <p:stCondLst>
                                            <p:cond delay="0"/>
                                          </p:stCondLst>
                                        </p:cTn>
                                        <p:tgtEl>
                                          <p:spTgt spid="9"/>
                                        </p:tgtEl>
                                        <p:attrNameLst>
                                          <p:attrName>style.visibility</p:attrName>
                                        </p:attrNameLst>
                                      </p:cBhvr>
                                      <p:to>
                                        <p:strVal val="visible"/>
                                      </p:to>
                                    </p:set>
                                  </p:childTnLst>
                                </p:cTn>
                              </p:par>
                            </p:childTnLst>
                          </p:cTn>
                        </p:par>
                        <p:par>
                          <p:cTn id="22" fill="hold">
                            <p:stCondLst>
                              <p:cond delay="100"/>
                            </p:stCondLst>
                            <p:childTnLst>
                              <p:par>
                                <p:cTn id="23" presetID="1" presetClass="entr" presetSubtype="0" fill="hold" grpId="0" nodeType="after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100"/>
                                  </p:stCondLst>
                                  <p:childTnLst>
                                    <p:set>
                                      <p:cBhvr>
                                        <p:cTn id="28" dur="1" fill="hold">
                                          <p:stCondLst>
                                            <p:cond delay="0"/>
                                          </p:stCondLst>
                                        </p:cTn>
                                        <p:tgtEl>
                                          <p:spTgt spid="1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2" grpId="0" animBg="1"/>
      <p:bldP spid="17" grpId="0"/>
      <p:bldP spid="1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84BC9-CBE7-4DF6-8313-364F76353A2A}"/>
              </a:ext>
            </a:extLst>
          </p:cNvPr>
          <p:cNvSpPr>
            <a:spLocks noGrp="1"/>
          </p:cNvSpPr>
          <p:nvPr>
            <p:ph type="title"/>
          </p:nvPr>
        </p:nvSpPr>
        <p:spPr/>
        <p:txBody>
          <a:bodyPr/>
          <a:lstStyle/>
          <a:p>
            <a:pPr algn="ctr"/>
            <a:r>
              <a:rPr lang="en-IN" b="1" dirty="0"/>
              <a:t>Collaboration</a:t>
            </a:r>
          </a:p>
        </p:txBody>
      </p:sp>
      <p:pic>
        <p:nvPicPr>
          <p:cNvPr id="37" name="Content Placeholder 36">
            <a:extLst>
              <a:ext uri="{FF2B5EF4-FFF2-40B4-BE49-F238E27FC236}">
                <a16:creationId xmlns:a16="http://schemas.microsoft.com/office/drawing/2014/main" id="{E7355045-B23C-43CD-92B9-3ACB3E9062DE}"/>
              </a:ext>
            </a:extLst>
          </p:cNvPr>
          <p:cNvPicPr>
            <a:picLocks noGrp="1" noChangeAspect="1"/>
          </p:cNvPicPr>
          <p:nvPr>
            <p:ph idx="1"/>
          </p:nvPr>
        </p:nvPicPr>
        <p:blipFill rotWithShape="1">
          <a:blip r:embed="rId2">
            <a:extLst>
              <a:ext uri="{28A0092B-C50C-407E-A947-70E740481C1C}">
                <a14:useLocalDpi xmlns:a14="http://schemas.microsoft.com/office/drawing/2010/main" val="0"/>
              </a:ext>
            </a:extLst>
          </a:blip>
          <a:srcRect l="6226" t="6611" r="-1505" b="10111"/>
          <a:stretch/>
        </p:blipFill>
        <p:spPr>
          <a:xfrm>
            <a:off x="7377312" y="2831640"/>
            <a:ext cx="1941817" cy="1439870"/>
          </a:xfrm>
        </p:spPr>
      </p:pic>
      <p:sp>
        <p:nvSpPr>
          <p:cNvPr id="4" name="Oval 3">
            <a:extLst>
              <a:ext uri="{FF2B5EF4-FFF2-40B4-BE49-F238E27FC236}">
                <a16:creationId xmlns:a16="http://schemas.microsoft.com/office/drawing/2014/main" id="{B5F1E0AA-442B-4C90-A8C5-9BCA606A35DD}"/>
              </a:ext>
            </a:extLst>
          </p:cNvPr>
          <p:cNvSpPr/>
          <p:nvPr/>
        </p:nvSpPr>
        <p:spPr>
          <a:xfrm>
            <a:off x="2130458" y="3405049"/>
            <a:ext cx="612743" cy="596245"/>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8" name="Connector: Elbow 7">
            <a:extLst>
              <a:ext uri="{FF2B5EF4-FFF2-40B4-BE49-F238E27FC236}">
                <a16:creationId xmlns:a16="http://schemas.microsoft.com/office/drawing/2014/main" id="{DD0A3A12-3E4C-451C-A09E-52A6E98B3919}"/>
              </a:ext>
            </a:extLst>
          </p:cNvPr>
          <p:cNvCxnSpPr>
            <a:cxnSpLocks/>
            <a:stCxn id="4" idx="6"/>
          </p:cNvCxnSpPr>
          <p:nvPr/>
        </p:nvCxnSpPr>
        <p:spPr>
          <a:xfrm flipV="1">
            <a:off x="2743201" y="2960016"/>
            <a:ext cx="1292258" cy="743156"/>
          </a:xfrm>
          <a:prstGeom prst="bentConnector3">
            <a:avLst>
              <a:gd name="adj1" fmla="val 50000"/>
            </a:avLst>
          </a:prstGeom>
          <a:ln w="28575">
            <a:tailEnd type="triangle"/>
          </a:ln>
        </p:spPr>
        <p:style>
          <a:lnRef idx="1">
            <a:schemeClr val="dk1"/>
          </a:lnRef>
          <a:fillRef idx="0">
            <a:schemeClr val="dk1"/>
          </a:fillRef>
          <a:effectRef idx="0">
            <a:schemeClr val="dk1"/>
          </a:effectRef>
          <a:fontRef idx="minor">
            <a:schemeClr val="tx1"/>
          </a:fontRef>
        </p:style>
      </p:cxnSp>
      <p:cxnSp>
        <p:nvCxnSpPr>
          <p:cNvPr id="24" name="Straight Connector 23">
            <a:extLst>
              <a:ext uri="{FF2B5EF4-FFF2-40B4-BE49-F238E27FC236}">
                <a16:creationId xmlns:a16="http://schemas.microsoft.com/office/drawing/2014/main" id="{BED38686-3144-4310-A43B-AC51ECBBCEA1}"/>
              </a:ext>
            </a:extLst>
          </p:cNvPr>
          <p:cNvCxnSpPr>
            <a:cxnSpLocks/>
          </p:cNvCxnSpPr>
          <p:nvPr/>
        </p:nvCxnSpPr>
        <p:spPr>
          <a:xfrm>
            <a:off x="3389330" y="3703169"/>
            <a:ext cx="3765614" cy="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5" name="Oval 24">
            <a:extLst>
              <a:ext uri="{FF2B5EF4-FFF2-40B4-BE49-F238E27FC236}">
                <a16:creationId xmlns:a16="http://schemas.microsoft.com/office/drawing/2014/main" id="{7AEF99B5-26EB-40F2-A4C1-C396F9EB11D1}"/>
              </a:ext>
            </a:extLst>
          </p:cNvPr>
          <p:cNvSpPr/>
          <p:nvPr/>
        </p:nvSpPr>
        <p:spPr>
          <a:xfrm>
            <a:off x="4056473" y="2809188"/>
            <a:ext cx="461915" cy="47133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27" name="Straight Arrow Connector 26">
            <a:extLst>
              <a:ext uri="{FF2B5EF4-FFF2-40B4-BE49-F238E27FC236}">
                <a16:creationId xmlns:a16="http://schemas.microsoft.com/office/drawing/2014/main" id="{2B38A7B3-E850-4E28-B6B5-73EF84FE86CA}"/>
              </a:ext>
            </a:extLst>
          </p:cNvPr>
          <p:cNvCxnSpPr>
            <a:cxnSpLocks/>
          </p:cNvCxnSpPr>
          <p:nvPr/>
        </p:nvCxnSpPr>
        <p:spPr>
          <a:xfrm>
            <a:off x="4497374" y="2960016"/>
            <a:ext cx="1328391"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Oval 27">
            <a:extLst>
              <a:ext uri="{FF2B5EF4-FFF2-40B4-BE49-F238E27FC236}">
                <a16:creationId xmlns:a16="http://schemas.microsoft.com/office/drawing/2014/main" id="{21739574-1DFE-4D72-8AD9-BD909BC502C7}"/>
              </a:ext>
            </a:extLst>
          </p:cNvPr>
          <p:cNvSpPr/>
          <p:nvPr/>
        </p:nvSpPr>
        <p:spPr>
          <a:xfrm>
            <a:off x="5825765" y="2809188"/>
            <a:ext cx="461915" cy="47133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cxnSp>
        <p:nvCxnSpPr>
          <p:cNvPr id="31" name="Straight Arrow Connector 30">
            <a:extLst>
              <a:ext uri="{FF2B5EF4-FFF2-40B4-BE49-F238E27FC236}">
                <a16:creationId xmlns:a16="http://schemas.microsoft.com/office/drawing/2014/main" id="{2F44CFEB-A22B-42B3-9CB1-1D37BF41482C}"/>
              </a:ext>
            </a:extLst>
          </p:cNvPr>
          <p:cNvCxnSpPr>
            <a:stCxn id="28" idx="6"/>
          </p:cNvCxnSpPr>
          <p:nvPr/>
        </p:nvCxnSpPr>
        <p:spPr>
          <a:xfrm>
            <a:off x="6287680" y="3044855"/>
            <a:ext cx="471339" cy="65831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Oval 31">
            <a:extLst>
              <a:ext uri="{FF2B5EF4-FFF2-40B4-BE49-F238E27FC236}">
                <a16:creationId xmlns:a16="http://schemas.microsoft.com/office/drawing/2014/main" id="{CE843865-0289-4FD9-A3B2-444A8489E2CD}"/>
              </a:ext>
            </a:extLst>
          </p:cNvPr>
          <p:cNvSpPr/>
          <p:nvPr/>
        </p:nvSpPr>
        <p:spPr>
          <a:xfrm>
            <a:off x="4334072" y="4001294"/>
            <a:ext cx="477430" cy="445031"/>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IN"/>
          </a:p>
        </p:txBody>
      </p:sp>
      <p:cxnSp>
        <p:nvCxnSpPr>
          <p:cNvPr id="34" name="Straight Arrow Connector 33">
            <a:extLst>
              <a:ext uri="{FF2B5EF4-FFF2-40B4-BE49-F238E27FC236}">
                <a16:creationId xmlns:a16="http://schemas.microsoft.com/office/drawing/2014/main" id="{1CB976EA-256D-48D7-ADE5-EA1CD469B87F}"/>
              </a:ext>
            </a:extLst>
          </p:cNvPr>
          <p:cNvCxnSpPr/>
          <p:nvPr/>
        </p:nvCxnSpPr>
        <p:spPr>
          <a:xfrm flipV="1">
            <a:off x="4811502" y="3703166"/>
            <a:ext cx="1284498" cy="538892"/>
          </a:xfrm>
          <a:prstGeom prst="straightConnector1">
            <a:avLst/>
          </a:prstGeom>
          <a:ln w="28575">
            <a:solidFill>
              <a:srgbClr val="00B050"/>
            </a:solidFill>
            <a:tailEnd type="triangle"/>
          </a:ln>
        </p:spPr>
        <p:style>
          <a:lnRef idx="1">
            <a:schemeClr val="accent1"/>
          </a:lnRef>
          <a:fillRef idx="0">
            <a:schemeClr val="accent1"/>
          </a:fillRef>
          <a:effectRef idx="0">
            <a:schemeClr val="accent1"/>
          </a:effectRef>
          <a:fontRef idx="minor">
            <a:schemeClr val="tx1"/>
          </a:fontRef>
        </p:style>
      </p:cxnSp>
      <p:pic>
        <p:nvPicPr>
          <p:cNvPr id="39" name="Picture 38">
            <a:extLst>
              <a:ext uri="{FF2B5EF4-FFF2-40B4-BE49-F238E27FC236}">
                <a16:creationId xmlns:a16="http://schemas.microsoft.com/office/drawing/2014/main" id="{A3056D52-742C-4569-A206-64107FA62C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0968" y="613822"/>
            <a:ext cx="3538979" cy="1860818"/>
          </a:xfrm>
          <a:prstGeom prst="rect">
            <a:avLst/>
          </a:prstGeom>
        </p:spPr>
      </p:pic>
      <p:pic>
        <p:nvPicPr>
          <p:cNvPr id="41" name="Picture 40">
            <a:extLst>
              <a:ext uri="{FF2B5EF4-FFF2-40B4-BE49-F238E27FC236}">
                <a16:creationId xmlns:a16="http://schemas.microsoft.com/office/drawing/2014/main" id="{7728E6D2-10BF-4F38-A910-DDE17C80C4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34493" y="4744446"/>
            <a:ext cx="2857500" cy="1600200"/>
          </a:xfrm>
          <a:prstGeom prst="rect">
            <a:avLst/>
          </a:prstGeom>
        </p:spPr>
      </p:pic>
      <p:cxnSp>
        <p:nvCxnSpPr>
          <p:cNvPr id="45" name="Connector: Elbow 44">
            <a:extLst>
              <a:ext uri="{FF2B5EF4-FFF2-40B4-BE49-F238E27FC236}">
                <a16:creationId xmlns:a16="http://schemas.microsoft.com/office/drawing/2014/main" id="{B97BBC6E-9563-43E3-9449-17FCFB5E7943}"/>
              </a:ext>
            </a:extLst>
          </p:cNvPr>
          <p:cNvCxnSpPr>
            <a:cxnSpLocks/>
          </p:cNvCxnSpPr>
          <p:nvPr/>
        </p:nvCxnSpPr>
        <p:spPr>
          <a:xfrm>
            <a:off x="3491993" y="3703168"/>
            <a:ext cx="885338" cy="520641"/>
          </a:xfrm>
          <a:prstGeom prst="bentConnector3">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66998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7"/>
                                        </p:tgtEl>
                                        <p:attrNameLst>
                                          <p:attrName>style.visibility</p:attrName>
                                        </p:attrNameLst>
                                      </p:cBhvr>
                                      <p:to>
                                        <p:strVal val="visible"/>
                                      </p:to>
                                    </p:set>
                                    <p:animEffect transition="in" filter="fade">
                                      <p:cBhvr>
                                        <p:cTn id="39" dur="500"/>
                                        <p:tgtEl>
                                          <p:spTgt spid="37"/>
                                        </p:tgtEl>
                                      </p:cBhvr>
                                    </p:animEffect>
                                  </p:childTnLst>
                                </p:cTn>
                              </p:par>
                            </p:childTnLst>
                          </p:cTn>
                        </p:par>
                        <p:par>
                          <p:cTn id="40" fill="hold">
                            <p:stCondLst>
                              <p:cond delay="500"/>
                            </p:stCondLst>
                            <p:childTnLst>
                              <p:par>
                                <p:cTn id="41" presetID="1" presetClass="entr" presetSubtype="0" fill="hold" nodeType="after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6" presetClass="emph" presetSubtype="0" fill="hold" nodeType="withEffect">
                                  <p:stCondLst>
                                    <p:cond delay="0"/>
                                  </p:stCondLst>
                                  <p:childTnLst>
                                    <p:animScale>
                                      <p:cBhvr>
                                        <p:cTn id="44" dur="2000" fill="hold"/>
                                        <p:tgtEl>
                                          <p:spTgt spid="41"/>
                                        </p:tgtEl>
                                      </p:cBhvr>
                                      <p:by x="150000" y="150000"/>
                                    </p:animScale>
                                  </p:childTnLst>
                                </p:cTn>
                              </p:par>
                            </p:childTnLst>
                          </p:cTn>
                        </p:par>
                      </p:childTnLst>
                    </p:cTn>
                  </p:par>
                  <p:par>
                    <p:cTn id="45" fill="hold">
                      <p:stCondLst>
                        <p:cond delay="indefinite"/>
                      </p:stCondLst>
                      <p:childTnLst>
                        <p:par>
                          <p:cTn id="46" fill="hold">
                            <p:stCondLst>
                              <p:cond delay="0"/>
                            </p:stCondLst>
                            <p:childTnLst>
                              <p:par>
                                <p:cTn id="47" presetID="6" presetClass="entr" presetSubtype="16" fill="hold" nodeType="click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circle(in)">
                                      <p:cBhvr>
                                        <p:cTn id="49" dur="1000"/>
                                        <p:tgtEl>
                                          <p:spTgt spid="39"/>
                                        </p:tgtEl>
                                      </p:cBhvr>
                                    </p:animEffect>
                                  </p:childTnLst>
                                </p:cTn>
                              </p:par>
                            </p:childTnLst>
                          </p:cTn>
                        </p:par>
                        <p:par>
                          <p:cTn id="50" fill="hold">
                            <p:stCondLst>
                              <p:cond delay="1000"/>
                            </p:stCondLst>
                            <p:childTnLst>
                              <p:par>
                                <p:cTn id="51" presetID="32" presetClass="emph" presetSubtype="0" repeatCount="indefinite" fill="hold" nodeType="afterEffect">
                                  <p:stCondLst>
                                    <p:cond delay="0"/>
                                  </p:stCondLst>
                                  <p:childTnLst>
                                    <p:animRot by="120000">
                                      <p:cBhvr>
                                        <p:cTn id="52" dur="100" fill="hold">
                                          <p:stCondLst>
                                            <p:cond delay="0"/>
                                          </p:stCondLst>
                                        </p:cTn>
                                        <p:tgtEl>
                                          <p:spTgt spid="41"/>
                                        </p:tgtEl>
                                        <p:attrNameLst>
                                          <p:attrName>r</p:attrName>
                                        </p:attrNameLst>
                                      </p:cBhvr>
                                    </p:animRot>
                                    <p:animRot by="-240000">
                                      <p:cBhvr>
                                        <p:cTn id="53" dur="200" fill="hold">
                                          <p:stCondLst>
                                            <p:cond delay="200"/>
                                          </p:stCondLst>
                                        </p:cTn>
                                        <p:tgtEl>
                                          <p:spTgt spid="41"/>
                                        </p:tgtEl>
                                        <p:attrNameLst>
                                          <p:attrName>r</p:attrName>
                                        </p:attrNameLst>
                                      </p:cBhvr>
                                    </p:animRot>
                                    <p:animRot by="240000">
                                      <p:cBhvr>
                                        <p:cTn id="54" dur="200" fill="hold">
                                          <p:stCondLst>
                                            <p:cond delay="400"/>
                                          </p:stCondLst>
                                        </p:cTn>
                                        <p:tgtEl>
                                          <p:spTgt spid="41"/>
                                        </p:tgtEl>
                                        <p:attrNameLst>
                                          <p:attrName>r</p:attrName>
                                        </p:attrNameLst>
                                      </p:cBhvr>
                                    </p:animRot>
                                    <p:animRot by="-240000">
                                      <p:cBhvr>
                                        <p:cTn id="55" dur="200" fill="hold">
                                          <p:stCondLst>
                                            <p:cond delay="600"/>
                                          </p:stCondLst>
                                        </p:cTn>
                                        <p:tgtEl>
                                          <p:spTgt spid="41"/>
                                        </p:tgtEl>
                                        <p:attrNameLst>
                                          <p:attrName>r</p:attrName>
                                        </p:attrNameLst>
                                      </p:cBhvr>
                                    </p:animRot>
                                    <p:animRot by="120000">
                                      <p:cBhvr>
                                        <p:cTn id="56" dur="200" fill="hold">
                                          <p:stCondLst>
                                            <p:cond delay="800"/>
                                          </p:stCondLst>
                                        </p:cTn>
                                        <p:tgtEl>
                                          <p:spTgt spid="41"/>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5" grpId="0" animBg="1"/>
      <p:bldP spid="28" grpId="0" animBg="1"/>
      <p:bldP spid="3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192903-12A1-4C47-97E9-DD3F201EE918}"/>
              </a:ext>
            </a:extLst>
          </p:cNvPr>
          <p:cNvSpPr>
            <a:spLocks noGrp="1"/>
          </p:cNvSpPr>
          <p:nvPr>
            <p:ph type="title"/>
          </p:nvPr>
        </p:nvSpPr>
        <p:spPr/>
        <p:txBody>
          <a:bodyPr/>
          <a:lstStyle/>
          <a:p>
            <a:pPr algn="ctr"/>
            <a:r>
              <a:rPr lang="en-IN" dirty="0"/>
              <a:t>How does a VCS work?</a:t>
            </a:r>
          </a:p>
        </p:txBody>
      </p:sp>
      <p:pic>
        <p:nvPicPr>
          <p:cNvPr id="6" name="Content Placeholder 5">
            <a:extLst>
              <a:ext uri="{FF2B5EF4-FFF2-40B4-BE49-F238E27FC236}">
                <a16:creationId xmlns:a16="http://schemas.microsoft.com/office/drawing/2014/main" id="{A845C0FD-5D5F-4004-86E0-CCD79BAB9582}"/>
              </a:ext>
            </a:extLst>
          </p:cNvPr>
          <p:cNvPicPr>
            <a:picLocks noGrp="1" noChangeAspect="1"/>
          </p:cNvPicPr>
          <p:nvPr>
            <p:ph idx="1"/>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1959405" y="4326902"/>
            <a:ext cx="863036" cy="648097"/>
          </a:xfrm>
        </p:spPr>
      </p:pic>
      <p:sp>
        <p:nvSpPr>
          <p:cNvPr id="4" name="Cube 3">
            <a:extLst>
              <a:ext uri="{FF2B5EF4-FFF2-40B4-BE49-F238E27FC236}">
                <a16:creationId xmlns:a16="http://schemas.microsoft.com/office/drawing/2014/main" id="{F1E2977B-ECC1-43B2-A861-D66F555930EC}"/>
              </a:ext>
            </a:extLst>
          </p:cNvPr>
          <p:cNvSpPr/>
          <p:nvPr/>
        </p:nvSpPr>
        <p:spPr>
          <a:xfrm>
            <a:off x="5024487" y="2318994"/>
            <a:ext cx="1423448" cy="1508288"/>
          </a:xfrm>
          <a:prstGeom prst="cub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IN"/>
          </a:p>
        </p:txBody>
      </p:sp>
      <p:pic>
        <p:nvPicPr>
          <p:cNvPr id="9" name="Picture 8">
            <a:extLst>
              <a:ext uri="{FF2B5EF4-FFF2-40B4-BE49-F238E27FC236}">
                <a16:creationId xmlns:a16="http://schemas.microsoft.com/office/drawing/2014/main" id="{330D73C2-8722-49E2-A716-B1D256DD3C93}"/>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4972009" y="5142643"/>
            <a:ext cx="1066489" cy="881084"/>
          </a:xfrm>
          <a:prstGeom prst="rect">
            <a:avLst/>
          </a:prstGeom>
        </p:spPr>
      </p:pic>
      <p:pic>
        <p:nvPicPr>
          <p:cNvPr id="12" name="Picture 11">
            <a:extLst>
              <a:ext uri="{FF2B5EF4-FFF2-40B4-BE49-F238E27FC236}">
                <a16:creationId xmlns:a16="http://schemas.microsoft.com/office/drawing/2014/main" id="{5539E4C6-616B-4D76-873B-ADA5BF0A34B7}"/>
              </a:ext>
            </a:extLst>
          </p:cNvPr>
          <p:cNvPicPr>
            <a:picLocks noChangeAspect="1"/>
          </p:cNvPicPr>
          <p:nvPr/>
        </p:nvPicPr>
        <p:blipFill>
          <a:blip r:embed="rId6">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7963836" y="3793658"/>
            <a:ext cx="1770366" cy="1181341"/>
          </a:xfrm>
          <a:prstGeom prst="rect">
            <a:avLst/>
          </a:prstGeom>
        </p:spPr>
      </p:pic>
      <p:cxnSp>
        <p:nvCxnSpPr>
          <p:cNvPr id="17" name="Straight Arrow Connector 16">
            <a:extLst>
              <a:ext uri="{FF2B5EF4-FFF2-40B4-BE49-F238E27FC236}">
                <a16:creationId xmlns:a16="http://schemas.microsoft.com/office/drawing/2014/main" id="{B5F035E0-2530-483F-B267-3F6D82FB15E3}"/>
              </a:ext>
            </a:extLst>
          </p:cNvPr>
          <p:cNvCxnSpPr>
            <a:endCxn id="4" idx="2"/>
          </p:cNvCxnSpPr>
          <p:nvPr/>
        </p:nvCxnSpPr>
        <p:spPr>
          <a:xfrm flipV="1">
            <a:off x="2705493" y="3251069"/>
            <a:ext cx="2318994" cy="1264370"/>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3A04CC40-8B95-4DA3-9375-5944102D9A5B}"/>
              </a:ext>
            </a:extLst>
          </p:cNvPr>
          <p:cNvCxnSpPr>
            <a:cxnSpLocks/>
            <a:endCxn id="4" idx="3"/>
          </p:cNvCxnSpPr>
          <p:nvPr/>
        </p:nvCxnSpPr>
        <p:spPr>
          <a:xfrm flipV="1">
            <a:off x="5505254" y="3827282"/>
            <a:ext cx="53026" cy="1423448"/>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E2F5E025-CCAB-45C3-AF68-B11C5FD680BC}"/>
              </a:ext>
            </a:extLst>
          </p:cNvPr>
          <p:cNvCxnSpPr/>
          <p:nvPr/>
        </p:nvCxnSpPr>
        <p:spPr>
          <a:xfrm>
            <a:off x="6447935" y="3251069"/>
            <a:ext cx="1885360" cy="1075833"/>
          </a:xfrm>
          <a:prstGeom prst="straightConnector1">
            <a:avLst/>
          </a:prstGeom>
          <a:ln w="57150">
            <a:headEnd type="triangle"/>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A060FE35-013C-4DDA-8BE2-B5091E4BF8EC}"/>
              </a:ext>
            </a:extLst>
          </p:cNvPr>
          <p:cNvSpPr txBox="1"/>
          <p:nvPr/>
        </p:nvSpPr>
        <p:spPr>
          <a:xfrm>
            <a:off x="2897856" y="3465819"/>
            <a:ext cx="967134" cy="646331"/>
          </a:xfrm>
          <a:prstGeom prst="rect">
            <a:avLst/>
          </a:prstGeom>
          <a:noFill/>
        </p:spPr>
        <p:txBody>
          <a:bodyPr wrap="square" rtlCol="0">
            <a:spAutoFit/>
          </a:bodyPr>
          <a:lstStyle/>
          <a:p>
            <a:r>
              <a:rPr lang="en-IN" sz="3600" dirty="0">
                <a:solidFill>
                  <a:srgbClr val="FF0000"/>
                </a:solidFill>
              </a:rPr>
              <a:t>Pull</a:t>
            </a:r>
          </a:p>
        </p:txBody>
      </p:sp>
      <p:sp>
        <p:nvSpPr>
          <p:cNvPr id="24" name="TextBox 23">
            <a:extLst>
              <a:ext uri="{FF2B5EF4-FFF2-40B4-BE49-F238E27FC236}">
                <a16:creationId xmlns:a16="http://schemas.microsoft.com/office/drawing/2014/main" id="{4848DC44-30B9-4005-95D5-95B5A0AA497E}"/>
              </a:ext>
            </a:extLst>
          </p:cNvPr>
          <p:cNvSpPr txBox="1"/>
          <p:nvPr/>
        </p:nvSpPr>
        <p:spPr>
          <a:xfrm>
            <a:off x="3435037" y="4112147"/>
            <a:ext cx="1213556" cy="646331"/>
          </a:xfrm>
          <a:prstGeom prst="rect">
            <a:avLst/>
          </a:prstGeom>
          <a:noFill/>
        </p:spPr>
        <p:txBody>
          <a:bodyPr wrap="square" rtlCol="0">
            <a:spAutoFit/>
          </a:bodyPr>
          <a:lstStyle/>
          <a:p>
            <a:r>
              <a:rPr lang="en-IN" sz="3600" dirty="0">
                <a:solidFill>
                  <a:srgbClr val="FF0000"/>
                </a:solidFill>
              </a:rPr>
              <a:t>Push</a:t>
            </a:r>
          </a:p>
        </p:txBody>
      </p:sp>
      <p:sp>
        <p:nvSpPr>
          <p:cNvPr id="25" name="TextBox 24">
            <a:extLst>
              <a:ext uri="{FF2B5EF4-FFF2-40B4-BE49-F238E27FC236}">
                <a16:creationId xmlns:a16="http://schemas.microsoft.com/office/drawing/2014/main" id="{B70E39CB-B411-413D-AFED-C2B5C1BD20F9}"/>
              </a:ext>
            </a:extLst>
          </p:cNvPr>
          <p:cNvSpPr txBox="1"/>
          <p:nvPr/>
        </p:nvSpPr>
        <p:spPr>
          <a:xfrm>
            <a:off x="5318760" y="2959682"/>
            <a:ext cx="834902" cy="369332"/>
          </a:xfrm>
          <a:prstGeom prst="rect">
            <a:avLst/>
          </a:prstGeom>
          <a:noFill/>
        </p:spPr>
        <p:txBody>
          <a:bodyPr wrap="square" rtlCol="0">
            <a:spAutoFit/>
          </a:bodyPr>
          <a:lstStyle/>
          <a:p>
            <a:r>
              <a:rPr lang="en-IN" dirty="0"/>
              <a:t>VCS</a:t>
            </a:r>
          </a:p>
        </p:txBody>
      </p:sp>
    </p:spTree>
    <p:extLst>
      <p:ext uri="{BB962C8B-B14F-4D97-AF65-F5344CB8AC3E}">
        <p14:creationId xmlns:p14="http://schemas.microsoft.com/office/powerpoint/2010/main" val="4254716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500"/>
                                        <p:tgtEl>
                                          <p:spTgt spid="17"/>
                                        </p:tgtEl>
                                      </p:cBhvr>
                                    </p:animEffect>
                                  </p:childTnLst>
                                </p:cTn>
                              </p:par>
                              <p:par>
                                <p:cTn id="14" presetID="10" presetClass="entr" presetSubtype="0" fill="hold"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500"/>
                                        <p:tgtEl>
                                          <p:spTgt spid="6"/>
                                        </p:tgtEl>
                                      </p:cBhvr>
                                    </p:animEffect>
                                  </p:childTnLst>
                                </p:cTn>
                              </p:par>
                              <p:par>
                                <p:cTn id="17" presetID="10" presetClass="entr" presetSubtype="0" fill="hold" nodeType="with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childTnLst>
                    </p:cTn>
                  </p:par>
                  <p:par>
                    <p:cTn id="29" fill="hold">
                      <p:stCondLst>
                        <p:cond delay="indefinite"/>
                      </p:stCondLst>
                      <p:childTnLst>
                        <p:par>
                          <p:cTn id="30" fill="hold">
                            <p:stCondLst>
                              <p:cond delay="0"/>
                            </p:stCondLst>
                            <p:childTnLst>
                              <p:par>
                                <p:cTn id="31" presetID="16" presetClass="entr" presetSubtype="21" fill="hold" grpId="0" nodeType="click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barn(inVertical)">
                                      <p:cBhvr>
                                        <p:cTn id="33" dur="500"/>
                                        <p:tgtEl>
                                          <p:spTgt spid="23"/>
                                        </p:tgtEl>
                                      </p:cBhvr>
                                    </p:animEffect>
                                  </p:childTnLst>
                                </p:cTn>
                              </p:par>
                            </p:childTnLst>
                          </p:cTn>
                        </p:par>
                      </p:childTnLst>
                    </p:cTn>
                  </p:par>
                  <p:par>
                    <p:cTn id="34" fill="hold">
                      <p:stCondLst>
                        <p:cond delay="indefinite"/>
                      </p:stCondLst>
                      <p:childTnLst>
                        <p:par>
                          <p:cTn id="35" fill="hold">
                            <p:stCondLst>
                              <p:cond delay="0"/>
                            </p:stCondLst>
                            <p:childTnLst>
                              <p:par>
                                <p:cTn id="36" presetID="16" presetClass="entr" presetSubtype="21" fill="hold" grpId="0"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barn(inVertical)">
                                      <p:cBhvr>
                                        <p:cTn id="38"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23" grpId="0"/>
      <p:bldP spid="24" grpId="0"/>
      <p:bldP spid="2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A3F591-C834-4949-9D41-78F72CCBCA6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D3EA237-834E-4884-8BBE-A96C4E8905C1}"/>
              </a:ext>
            </a:extLst>
          </p:cNvPr>
          <p:cNvSpPr>
            <a:spLocks noGrp="1"/>
          </p:cNvSpPr>
          <p:nvPr>
            <p:ph idx="1"/>
          </p:nvPr>
        </p:nvSpPr>
        <p:spPr/>
        <p:txBody>
          <a:bodyPr/>
          <a:lstStyle/>
          <a:p>
            <a:endParaRPr lang="en-IN" dirty="0"/>
          </a:p>
        </p:txBody>
      </p:sp>
      <p:pic>
        <p:nvPicPr>
          <p:cNvPr id="4" name="Picture 3">
            <a:extLst>
              <a:ext uri="{FF2B5EF4-FFF2-40B4-BE49-F238E27FC236}">
                <a16:creationId xmlns:a16="http://schemas.microsoft.com/office/drawing/2014/main" id="{1AF84E30-1DFF-4B07-BD0D-C75E94AEB2B1}"/>
              </a:ext>
            </a:extLst>
          </p:cNvPr>
          <p:cNvPicPr>
            <a:picLocks noChangeAspect="1"/>
          </p:cNvPicPr>
          <p:nvPr/>
        </p:nvPicPr>
        <p:blipFill>
          <a:blip r:embed="rId2">
            <a:extLst>
              <a:ext uri="{28A0092B-C50C-407E-A947-70E740481C1C}">
                <a14:useLocalDpi xmlns:a14="http://schemas.microsoft.com/office/drawing/2010/main" val="0"/>
              </a:ext>
              <a:ext uri="{837473B0-CC2E-450A-ABE3-18F120FF3D39}">
                <a1611:picAttrSrcUrl xmlns:a1611="http://schemas.microsoft.com/office/drawing/2016/11/main" r:id="rId3"/>
              </a:ext>
            </a:extLst>
          </a:blip>
          <a:stretch>
            <a:fillRect/>
          </a:stretch>
        </p:blipFill>
        <p:spPr>
          <a:xfrm>
            <a:off x="663010" y="64869"/>
            <a:ext cx="11143268" cy="6728261"/>
          </a:xfrm>
          <a:prstGeom prst="rect">
            <a:avLst/>
          </a:prstGeom>
        </p:spPr>
      </p:pic>
      <p:sp>
        <p:nvSpPr>
          <p:cNvPr id="6" name="Arrow: Right 5">
            <a:extLst>
              <a:ext uri="{FF2B5EF4-FFF2-40B4-BE49-F238E27FC236}">
                <a16:creationId xmlns:a16="http://schemas.microsoft.com/office/drawing/2014/main" id="{B66086B4-0CF2-486A-97AB-CAFAE25637C5}"/>
              </a:ext>
            </a:extLst>
          </p:cNvPr>
          <p:cNvSpPr/>
          <p:nvPr/>
        </p:nvSpPr>
        <p:spPr>
          <a:xfrm>
            <a:off x="4515439" y="230188"/>
            <a:ext cx="2441542" cy="461913"/>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676D2216-CBF0-40A7-93D6-4568887B0516}"/>
              </a:ext>
            </a:extLst>
          </p:cNvPr>
          <p:cNvSpPr txBox="1"/>
          <p:nvPr/>
        </p:nvSpPr>
        <p:spPr>
          <a:xfrm>
            <a:off x="6947554" y="101665"/>
            <a:ext cx="2846895" cy="769441"/>
          </a:xfrm>
          <a:prstGeom prst="rect">
            <a:avLst/>
          </a:prstGeom>
          <a:noFill/>
        </p:spPr>
        <p:txBody>
          <a:bodyPr wrap="square" rtlCol="0">
            <a:spAutoFit/>
          </a:bodyPr>
          <a:lstStyle/>
          <a:p>
            <a:r>
              <a:rPr lang="en-IN" sz="4400" dirty="0">
                <a:solidFill>
                  <a:srgbClr val="FF0000"/>
                </a:solidFill>
                <a:highlight>
                  <a:srgbClr val="FFFF00"/>
                </a:highlight>
              </a:rPr>
              <a:t>Latest</a:t>
            </a:r>
          </a:p>
        </p:txBody>
      </p:sp>
      <p:sp>
        <p:nvSpPr>
          <p:cNvPr id="8" name="Arrow: Right 7">
            <a:extLst>
              <a:ext uri="{FF2B5EF4-FFF2-40B4-BE49-F238E27FC236}">
                <a16:creationId xmlns:a16="http://schemas.microsoft.com/office/drawing/2014/main" id="{540FB1B5-8828-465A-9FDD-7D201A3BC51C}"/>
              </a:ext>
            </a:extLst>
          </p:cNvPr>
          <p:cNvSpPr/>
          <p:nvPr/>
        </p:nvSpPr>
        <p:spPr>
          <a:xfrm>
            <a:off x="5736210" y="5332361"/>
            <a:ext cx="3733015" cy="820132"/>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352CFCCB-9149-42D7-83E9-22E86C893DB5}"/>
              </a:ext>
            </a:extLst>
          </p:cNvPr>
          <p:cNvSpPr txBox="1"/>
          <p:nvPr/>
        </p:nvSpPr>
        <p:spPr>
          <a:xfrm>
            <a:off x="9341963" y="5260157"/>
            <a:ext cx="2187027" cy="923330"/>
          </a:xfrm>
          <a:prstGeom prst="rect">
            <a:avLst/>
          </a:prstGeom>
          <a:noFill/>
        </p:spPr>
        <p:txBody>
          <a:bodyPr wrap="square" rtlCol="0">
            <a:spAutoFit/>
          </a:bodyPr>
          <a:lstStyle/>
          <a:p>
            <a:r>
              <a:rPr lang="en-IN" sz="5400" b="1" dirty="0">
                <a:solidFill>
                  <a:srgbClr val="FF0000"/>
                </a:solidFill>
                <a:highlight>
                  <a:srgbClr val="FFFF00"/>
                </a:highlight>
              </a:rPr>
              <a:t>Oldest</a:t>
            </a:r>
          </a:p>
        </p:txBody>
      </p:sp>
      <p:sp>
        <p:nvSpPr>
          <p:cNvPr id="10" name="TextBox 9">
            <a:extLst>
              <a:ext uri="{FF2B5EF4-FFF2-40B4-BE49-F238E27FC236}">
                <a16:creationId xmlns:a16="http://schemas.microsoft.com/office/drawing/2014/main" id="{0BE9A227-F002-4178-8D7D-DD1BA75131E4}"/>
              </a:ext>
            </a:extLst>
          </p:cNvPr>
          <p:cNvSpPr txBox="1"/>
          <p:nvPr/>
        </p:nvSpPr>
        <p:spPr>
          <a:xfrm>
            <a:off x="8625526" y="1366887"/>
            <a:ext cx="2564090" cy="1015663"/>
          </a:xfrm>
          <a:prstGeom prst="rect">
            <a:avLst/>
          </a:prstGeom>
          <a:noFill/>
        </p:spPr>
        <p:txBody>
          <a:bodyPr wrap="square" rtlCol="0">
            <a:spAutoFit/>
          </a:bodyPr>
          <a:lstStyle/>
          <a:p>
            <a:r>
              <a:rPr lang="en-IN" sz="6000" dirty="0">
                <a:solidFill>
                  <a:schemeClr val="accent6">
                    <a:lumMod val="40000"/>
                    <a:lumOff val="60000"/>
                  </a:schemeClr>
                </a:solidFill>
              </a:rPr>
              <a:t>STACK</a:t>
            </a:r>
          </a:p>
        </p:txBody>
      </p:sp>
    </p:spTree>
    <p:extLst>
      <p:ext uri="{BB962C8B-B14F-4D97-AF65-F5344CB8AC3E}">
        <p14:creationId xmlns:p14="http://schemas.microsoft.com/office/powerpoint/2010/main" val="96377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par>
                          <p:cTn id="7" fill="hold">
                            <p:stCondLst>
                              <p:cond delay="0"/>
                            </p:stCondLst>
                            <p:childTnLst>
                              <p:par>
                                <p:cTn id="8" presetID="32" presetClass="emph" presetSubtype="0" repeatCount="indefinite" fill="hold" grpId="1" nodeType="afterEffect">
                                  <p:stCondLst>
                                    <p:cond delay="0"/>
                                  </p:stCondLst>
                                  <p:childTnLst>
                                    <p:animRot by="120000">
                                      <p:cBhvr>
                                        <p:cTn id="9" dur="100" fill="hold">
                                          <p:stCondLst>
                                            <p:cond delay="0"/>
                                          </p:stCondLst>
                                        </p:cTn>
                                        <p:tgtEl>
                                          <p:spTgt spid="10"/>
                                        </p:tgtEl>
                                        <p:attrNameLst>
                                          <p:attrName>r</p:attrName>
                                        </p:attrNameLst>
                                      </p:cBhvr>
                                    </p:animRot>
                                    <p:animRot by="-240000">
                                      <p:cBhvr>
                                        <p:cTn id="10" dur="200" fill="hold">
                                          <p:stCondLst>
                                            <p:cond delay="200"/>
                                          </p:stCondLst>
                                        </p:cTn>
                                        <p:tgtEl>
                                          <p:spTgt spid="10"/>
                                        </p:tgtEl>
                                        <p:attrNameLst>
                                          <p:attrName>r</p:attrName>
                                        </p:attrNameLst>
                                      </p:cBhvr>
                                    </p:animRot>
                                    <p:animRot by="240000">
                                      <p:cBhvr>
                                        <p:cTn id="11" dur="200" fill="hold">
                                          <p:stCondLst>
                                            <p:cond delay="400"/>
                                          </p:stCondLst>
                                        </p:cTn>
                                        <p:tgtEl>
                                          <p:spTgt spid="10"/>
                                        </p:tgtEl>
                                        <p:attrNameLst>
                                          <p:attrName>r</p:attrName>
                                        </p:attrNameLst>
                                      </p:cBhvr>
                                    </p:animRot>
                                    <p:animRot by="-240000">
                                      <p:cBhvr>
                                        <p:cTn id="12" dur="200" fill="hold">
                                          <p:stCondLst>
                                            <p:cond delay="600"/>
                                          </p:stCondLst>
                                        </p:cTn>
                                        <p:tgtEl>
                                          <p:spTgt spid="10"/>
                                        </p:tgtEl>
                                        <p:attrNameLst>
                                          <p:attrName>r</p:attrName>
                                        </p:attrNameLst>
                                      </p:cBhvr>
                                    </p:animRot>
                                    <p:animRot by="120000">
                                      <p:cBhvr>
                                        <p:cTn id="13" dur="200" fill="hold">
                                          <p:stCondLst>
                                            <p:cond delay="800"/>
                                          </p:stCondLst>
                                        </p:cTn>
                                        <p:tgtEl>
                                          <p:spTgt spid="10"/>
                                        </p:tgtEl>
                                        <p:attrNameLst>
                                          <p:attrName>r</p:attrName>
                                        </p:attrNameLst>
                                      </p:cBhvr>
                                    </p:animRo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6"/>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animBg="1"/>
      <p:bldP spid="9" grpId="0"/>
      <p:bldP spid="10" grpId="0"/>
      <p:bldP spid="10"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C1354-F189-4E9F-A9CD-1ABE30B60CCE}"/>
              </a:ext>
            </a:extLst>
          </p:cNvPr>
          <p:cNvSpPr>
            <a:spLocks noGrp="1"/>
          </p:cNvSpPr>
          <p:nvPr>
            <p:ph type="title"/>
          </p:nvPr>
        </p:nvSpPr>
        <p:spPr/>
        <p:txBody>
          <a:bodyPr/>
          <a:lstStyle/>
          <a:p>
            <a:endParaRPr lang="en-IN"/>
          </a:p>
        </p:txBody>
      </p:sp>
      <p:pic>
        <p:nvPicPr>
          <p:cNvPr id="9" name="Content Placeholder 8">
            <a:extLst>
              <a:ext uri="{FF2B5EF4-FFF2-40B4-BE49-F238E27FC236}">
                <a16:creationId xmlns:a16="http://schemas.microsoft.com/office/drawing/2014/main" id="{263A1B90-BD27-4C35-A45D-B27ADAC1AA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7309" y="1957600"/>
            <a:ext cx="4874444" cy="3212349"/>
          </a:xfrm>
        </p:spPr>
      </p:pic>
      <p:sp>
        <p:nvSpPr>
          <p:cNvPr id="13" name="TextBox 12">
            <a:extLst>
              <a:ext uri="{FF2B5EF4-FFF2-40B4-BE49-F238E27FC236}">
                <a16:creationId xmlns:a16="http://schemas.microsoft.com/office/drawing/2014/main" id="{A5FAFF86-D3A9-4E2F-BEA8-22963DADBAA5}"/>
              </a:ext>
            </a:extLst>
          </p:cNvPr>
          <p:cNvSpPr txBox="1"/>
          <p:nvPr/>
        </p:nvSpPr>
        <p:spPr>
          <a:xfrm>
            <a:off x="1017309" y="2928197"/>
            <a:ext cx="1517323" cy="1077218"/>
          </a:xfrm>
          <a:prstGeom prst="rect">
            <a:avLst/>
          </a:prstGeom>
          <a:noFill/>
        </p:spPr>
        <p:txBody>
          <a:bodyPr wrap="square" rtlCol="0">
            <a:spAutoFit/>
          </a:bodyPr>
          <a:lstStyle/>
          <a:p>
            <a:r>
              <a:rPr lang="en-IN" sz="3200" dirty="0">
                <a:solidFill>
                  <a:srgbClr val="FF0000"/>
                </a:solidFill>
              </a:rPr>
              <a:t>main branch</a:t>
            </a:r>
          </a:p>
        </p:txBody>
      </p:sp>
      <p:sp>
        <p:nvSpPr>
          <p:cNvPr id="14" name="TextBox 13">
            <a:extLst>
              <a:ext uri="{FF2B5EF4-FFF2-40B4-BE49-F238E27FC236}">
                <a16:creationId xmlns:a16="http://schemas.microsoft.com/office/drawing/2014/main" id="{C3F56059-15B2-4847-B2EE-C8B962CEB3CB}"/>
              </a:ext>
            </a:extLst>
          </p:cNvPr>
          <p:cNvSpPr txBox="1"/>
          <p:nvPr/>
        </p:nvSpPr>
        <p:spPr>
          <a:xfrm>
            <a:off x="2417190" y="1584067"/>
            <a:ext cx="1706252" cy="1077218"/>
          </a:xfrm>
          <a:prstGeom prst="rect">
            <a:avLst/>
          </a:prstGeom>
          <a:noFill/>
        </p:spPr>
        <p:txBody>
          <a:bodyPr wrap="square" rtlCol="0">
            <a:spAutoFit/>
          </a:bodyPr>
          <a:lstStyle/>
          <a:p>
            <a:r>
              <a:rPr lang="en-IN" sz="3200" dirty="0">
                <a:solidFill>
                  <a:srgbClr val="FF0000"/>
                </a:solidFill>
              </a:rPr>
              <a:t>feature branch</a:t>
            </a:r>
          </a:p>
        </p:txBody>
      </p:sp>
      <p:cxnSp>
        <p:nvCxnSpPr>
          <p:cNvPr id="17" name="Straight Arrow Connector 16">
            <a:extLst>
              <a:ext uri="{FF2B5EF4-FFF2-40B4-BE49-F238E27FC236}">
                <a16:creationId xmlns:a16="http://schemas.microsoft.com/office/drawing/2014/main" id="{522B78C2-F9B9-4E8D-A678-9CD7EAA5D5C3}"/>
              </a:ext>
            </a:extLst>
          </p:cNvPr>
          <p:cNvCxnSpPr>
            <a:cxnSpLocks/>
          </p:cNvCxnSpPr>
          <p:nvPr/>
        </p:nvCxnSpPr>
        <p:spPr>
          <a:xfrm>
            <a:off x="3978111" y="2554664"/>
            <a:ext cx="3751868" cy="202611"/>
          </a:xfrm>
          <a:prstGeom prst="straightConnector1">
            <a:avLst/>
          </a:prstGeom>
          <a:ln w="38100">
            <a:solidFill>
              <a:srgbClr val="C00000"/>
            </a:solidFill>
            <a:tailEnd type="triangle"/>
          </a:ln>
        </p:spPr>
        <p:style>
          <a:lnRef idx="1">
            <a:schemeClr val="dk1"/>
          </a:lnRef>
          <a:fillRef idx="0">
            <a:schemeClr val="dk1"/>
          </a:fillRef>
          <a:effectRef idx="0">
            <a:schemeClr val="dk1"/>
          </a:effectRef>
          <a:fontRef idx="minor">
            <a:schemeClr val="tx1"/>
          </a:fontRef>
        </p:style>
      </p:cxnSp>
      <p:sp>
        <p:nvSpPr>
          <p:cNvPr id="18" name="TextBox 17">
            <a:extLst>
              <a:ext uri="{FF2B5EF4-FFF2-40B4-BE49-F238E27FC236}">
                <a16:creationId xmlns:a16="http://schemas.microsoft.com/office/drawing/2014/main" id="{D42203F4-3206-4970-BB6D-2D1D83565351}"/>
              </a:ext>
            </a:extLst>
          </p:cNvPr>
          <p:cNvSpPr txBox="1"/>
          <p:nvPr/>
        </p:nvSpPr>
        <p:spPr>
          <a:xfrm>
            <a:off x="2601405" y="4141245"/>
            <a:ext cx="2027156" cy="584775"/>
          </a:xfrm>
          <a:prstGeom prst="rect">
            <a:avLst/>
          </a:prstGeom>
          <a:noFill/>
        </p:spPr>
        <p:txBody>
          <a:bodyPr wrap="square" rtlCol="0">
            <a:spAutoFit/>
          </a:bodyPr>
          <a:lstStyle/>
          <a:p>
            <a:r>
              <a:rPr lang="en-IN" sz="3200" dirty="0">
                <a:solidFill>
                  <a:srgbClr val="FF0000"/>
                </a:solidFill>
              </a:rPr>
              <a:t>local repo</a:t>
            </a:r>
          </a:p>
        </p:txBody>
      </p:sp>
      <p:sp>
        <p:nvSpPr>
          <p:cNvPr id="19" name="TextBox 18">
            <a:extLst>
              <a:ext uri="{FF2B5EF4-FFF2-40B4-BE49-F238E27FC236}">
                <a16:creationId xmlns:a16="http://schemas.microsoft.com/office/drawing/2014/main" id="{F2478F8B-D436-4571-9AAC-61DCBD3E53A7}"/>
              </a:ext>
            </a:extLst>
          </p:cNvPr>
          <p:cNvSpPr txBox="1"/>
          <p:nvPr/>
        </p:nvSpPr>
        <p:spPr>
          <a:xfrm>
            <a:off x="7551656" y="4115068"/>
            <a:ext cx="2309567" cy="584775"/>
          </a:xfrm>
          <a:prstGeom prst="rect">
            <a:avLst/>
          </a:prstGeom>
          <a:noFill/>
        </p:spPr>
        <p:txBody>
          <a:bodyPr wrap="square" rtlCol="0">
            <a:spAutoFit/>
          </a:bodyPr>
          <a:lstStyle/>
          <a:p>
            <a:r>
              <a:rPr lang="en-IN" sz="3200" dirty="0">
                <a:solidFill>
                  <a:srgbClr val="FF0000"/>
                </a:solidFill>
              </a:rPr>
              <a:t>remote repo</a:t>
            </a:r>
          </a:p>
        </p:txBody>
      </p:sp>
      <p:sp>
        <p:nvSpPr>
          <p:cNvPr id="20" name="TextBox 19">
            <a:extLst>
              <a:ext uri="{FF2B5EF4-FFF2-40B4-BE49-F238E27FC236}">
                <a16:creationId xmlns:a16="http://schemas.microsoft.com/office/drawing/2014/main" id="{A92A0CFA-3A54-4E0D-A97F-498A2E0FBB28}"/>
              </a:ext>
            </a:extLst>
          </p:cNvPr>
          <p:cNvSpPr txBox="1"/>
          <p:nvPr/>
        </p:nvSpPr>
        <p:spPr>
          <a:xfrm>
            <a:off x="4930219" y="2121031"/>
            <a:ext cx="1593129" cy="584775"/>
          </a:xfrm>
          <a:prstGeom prst="rect">
            <a:avLst/>
          </a:prstGeom>
          <a:noFill/>
        </p:spPr>
        <p:txBody>
          <a:bodyPr wrap="square" rtlCol="0">
            <a:spAutoFit/>
          </a:bodyPr>
          <a:lstStyle/>
          <a:p>
            <a:r>
              <a:rPr lang="en-IN" sz="3200" dirty="0"/>
              <a:t>git push</a:t>
            </a:r>
          </a:p>
        </p:txBody>
      </p:sp>
      <p:pic>
        <p:nvPicPr>
          <p:cNvPr id="22" name="Picture 21">
            <a:extLst>
              <a:ext uri="{FF2B5EF4-FFF2-40B4-BE49-F238E27FC236}">
                <a16:creationId xmlns:a16="http://schemas.microsoft.com/office/drawing/2014/main" id="{B106D174-82E3-4D76-BC50-D68DDF920F98}"/>
              </a:ext>
            </a:extLst>
          </p:cNvPr>
          <p:cNvPicPr>
            <a:picLocks noChangeAspect="1"/>
          </p:cNvPicPr>
          <p:nvPr/>
        </p:nvPicPr>
        <p:blipFill>
          <a:blip r:embed="rId3">
            <a:extLst>
              <a:ext uri="{28A0092B-C50C-407E-A947-70E740481C1C}">
                <a14:useLocalDpi xmlns:a14="http://schemas.microsoft.com/office/drawing/2010/main" val="0"/>
              </a:ext>
              <a:ext uri="{837473B0-CC2E-450A-ABE3-18F120FF3D39}">
                <a1611:picAttrSrcUrl xmlns:a1611="http://schemas.microsoft.com/office/drawing/2016/11/main" r:id="rId4"/>
              </a:ext>
            </a:extLst>
          </a:blip>
          <a:stretch>
            <a:fillRect/>
          </a:stretch>
        </p:blipFill>
        <p:spPr>
          <a:xfrm>
            <a:off x="6606998" y="2028718"/>
            <a:ext cx="3709067" cy="2086350"/>
          </a:xfrm>
          <a:prstGeom prst="rect">
            <a:avLst/>
          </a:prstGeom>
        </p:spPr>
      </p:pic>
      <p:sp>
        <p:nvSpPr>
          <p:cNvPr id="23" name="TextBox 22">
            <a:extLst>
              <a:ext uri="{FF2B5EF4-FFF2-40B4-BE49-F238E27FC236}">
                <a16:creationId xmlns:a16="http://schemas.microsoft.com/office/drawing/2014/main" id="{019E2AB1-1D60-46DD-8568-B8E36B1F2CDB}"/>
              </a:ext>
            </a:extLst>
          </p:cNvPr>
          <p:cNvSpPr txBox="1"/>
          <p:nvPr/>
        </p:nvSpPr>
        <p:spPr>
          <a:xfrm>
            <a:off x="9788044" y="7018608"/>
            <a:ext cx="2403955" cy="369332"/>
          </a:xfrm>
          <a:prstGeom prst="rect">
            <a:avLst/>
          </a:prstGeom>
          <a:noFill/>
        </p:spPr>
        <p:txBody>
          <a:bodyPr wrap="square" rtlCol="0">
            <a:spAutoFit/>
          </a:bodyPr>
          <a:lstStyle/>
          <a:p>
            <a:r>
              <a:rPr lang="en-IN" sz="900">
                <a:hlinkClick r:id="rId4" tooltip="https://lthub.ubc.ca/guides/github-instructor-guide/"/>
              </a:rPr>
              <a:t>This Photo</a:t>
            </a:r>
            <a:r>
              <a:rPr lang="en-IN" sz="900"/>
              <a:t> by Unknown Author is licensed under </a:t>
            </a:r>
            <a:r>
              <a:rPr lang="en-IN" sz="900">
                <a:hlinkClick r:id="rId5" tooltip="https://creativecommons.org/licenses/by/3.0/"/>
              </a:rPr>
              <a:t>CC BY</a:t>
            </a:r>
            <a:endParaRPr lang="en-IN" sz="900"/>
          </a:p>
        </p:txBody>
      </p:sp>
    </p:spTree>
    <p:extLst>
      <p:ext uri="{BB962C8B-B14F-4D97-AF65-F5344CB8AC3E}">
        <p14:creationId xmlns:p14="http://schemas.microsoft.com/office/powerpoint/2010/main" val="6200770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1DDC11-B1AE-4596-812E-23BC4B6D0F3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80648BF-2FD9-4192-8F7B-225DF2C2D682}"/>
              </a:ext>
            </a:extLst>
          </p:cNvPr>
          <p:cNvSpPr>
            <a:spLocks noGrp="1"/>
          </p:cNvSpPr>
          <p:nvPr>
            <p:ph idx="1"/>
          </p:nvPr>
        </p:nvSpPr>
        <p:spPr/>
        <p:txBody>
          <a:bodyPr/>
          <a:lstStyle/>
          <a:p>
            <a:endParaRPr lang="en-IN" dirty="0"/>
          </a:p>
        </p:txBody>
      </p:sp>
      <p:sp>
        <p:nvSpPr>
          <p:cNvPr id="4" name="Oval 3">
            <a:extLst>
              <a:ext uri="{FF2B5EF4-FFF2-40B4-BE49-F238E27FC236}">
                <a16:creationId xmlns:a16="http://schemas.microsoft.com/office/drawing/2014/main" id="{D8B1FFB2-4C2C-40F6-8144-D7476F91741F}"/>
              </a:ext>
            </a:extLst>
          </p:cNvPr>
          <p:cNvSpPr/>
          <p:nvPr/>
        </p:nvSpPr>
        <p:spPr>
          <a:xfrm>
            <a:off x="1800520" y="3223967"/>
            <a:ext cx="490193" cy="46191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id="{D92F7D92-2008-49CF-88CB-8361451146F9}"/>
              </a:ext>
            </a:extLst>
          </p:cNvPr>
          <p:cNvSpPr/>
          <p:nvPr/>
        </p:nvSpPr>
        <p:spPr>
          <a:xfrm>
            <a:off x="3007936" y="3223966"/>
            <a:ext cx="490193" cy="46191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id="{50AE45B1-1D57-4E2C-844A-9159E0E2715F}"/>
              </a:ext>
            </a:extLst>
          </p:cNvPr>
          <p:cNvSpPr/>
          <p:nvPr/>
        </p:nvSpPr>
        <p:spPr>
          <a:xfrm>
            <a:off x="4097516" y="3200397"/>
            <a:ext cx="490193" cy="485482"/>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id="{C89C5BF4-1521-4E81-A8C5-9524895154AC}"/>
              </a:ext>
            </a:extLst>
          </p:cNvPr>
          <p:cNvSpPr/>
          <p:nvPr/>
        </p:nvSpPr>
        <p:spPr>
          <a:xfrm>
            <a:off x="5118752" y="3223966"/>
            <a:ext cx="490193" cy="46191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9" name="Straight Arrow Connector 8">
            <a:extLst>
              <a:ext uri="{FF2B5EF4-FFF2-40B4-BE49-F238E27FC236}">
                <a16:creationId xmlns:a16="http://schemas.microsoft.com/office/drawing/2014/main" id="{CE9E3312-7E8D-4EEB-A8FB-79B2E52AAB0D}"/>
              </a:ext>
            </a:extLst>
          </p:cNvPr>
          <p:cNvCxnSpPr>
            <a:stCxn id="4" idx="6"/>
            <a:endCxn id="5" idx="2"/>
          </p:cNvCxnSpPr>
          <p:nvPr/>
        </p:nvCxnSpPr>
        <p:spPr>
          <a:xfrm flipV="1">
            <a:off x="2290713" y="3454923"/>
            <a:ext cx="717223" cy="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D22A30BD-E3EE-4698-9FEF-934808D8E872}"/>
              </a:ext>
            </a:extLst>
          </p:cNvPr>
          <p:cNvCxnSpPr>
            <a:stCxn id="5" idx="6"/>
            <a:endCxn id="6" idx="2"/>
          </p:cNvCxnSpPr>
          <p:nvPr/>
        </p:nvCxnSpPr>
        <p:spPr>
          <a:xfrm flipV="1">
            <a:off x="3498129" y="3443138"/>
            <a:ext cx="599387" cy="11785"/>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4A4DF48-A0AC-4826-B3CB-187BB53F40C5}"/>
              </a:ext>
            </a:extLst>
          </p:cNvPr>
          <p:cNvCxnSpPr>
            <a:endCxn id="7" idx="2"/>
          </p:cNvCxnSpPr>
          <p:nvPr/>
        </p:nvCxnSpPr>
        <p:spPr>
          <a:xfrm>
            <a:off x="4587709" y="3454922"/>
            <a:ext cx="531043" cy="1"/>
          </a:xfrm>
          <a:prstGeom prst="straightConnector1">
            <a:avLst/>
          </a:prstGeom>
          <a:ln w="57150">
            <a:tailEnd type="triangle"/>
          </a:ln>
        </p:spPr>
        <p:style>
          <a:lnRef idx="1">
            <a:schemeClr val="accent1"/>
          </a:lnRef>
          <a:fillRef idx="0">
            <a:schemeClr val="accent1"/>
          </a:fillRef>
          <a:effectRef idx="0">
            <a:schemeClr val="accent1"/>
          </a:effectRef>
          <a:fontRef idx="minor">
            <a:schemeClr val="tx1"/>
          </a:fontRef>
        </p:style>
      </p:cxnSp>
      <p:sp>
        <p:nvSpPr>
          <p:cNvPr id="14" name="Arrow: Curved Down 13">
            <a:extLst>
              <a:ext uri="{FF2B5EF4-FFF2-40B4-BE49-F238E27FC236}">
                <a16:creationId xmlns:a16="http://schemas.microsoft.com/office/drawing/2014/main" id="{88AFE7DB-F19F-4DC3-8B81-EB3C38B3E512}"/>
              </a:ext>
            </a:extLst>
          </p:cNvPr>
          <p:cNvSpPr/>
          <p:nvPr/>
        </p:nvSpPr>
        <p:spPr>
          <a:xfrm flipH="1">
            <a:off x="3007936" y="2245982"/>
            <a:ext cx="2475802" cy="954415"/>
          </a:xfrm>
          <a:prstGeom prst="curvedDown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IN">
              <a:solidFill>
                <a:schemeClr val="tx1"/>
              </a:solidFill>
            </a:endParaRPr>
          </a:p>
        </p:txBody>
      </p:sp>
    </p:spTree>
    <p:custDataLst>
      <p:tags r:id="rId1"/>
    </p:custDataLst>
    <p:extLst>
      <p:ext uri="{BB962C8B-B14F-4D97-AF65-F5344CB8AC3E}">
        <p14:creationId xmlns:p14="http://schemas.microsoft.com/office/powerpoint/2010/main" val="667388106"/>
      </p:ext>
    </p:extLst>
  </p:cSld>
  <p:clrMapOvr>
    <a:masterClrMapping/>
  </p:clrMapOvr>
  <mc:AlternateContent xmlns:mc="http://schemas.openxmlformats.org/markup-compatibility/2006" xmlns:p14="http://schemas.microsoft.com/office/powerpoint/2010/main">
    <mc:Choice Requires="p14">
      <p:transition spd="slow" p14:dur="2000" advTm="9377"/>
    </mc:Choice>
    <mc:Fallback xmlns="">
      <p:transition spd="slow" advTm="9377"/>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nodeType="afterEffect">
                                  <p:stCondLst>
                                    <p:cond delay="500"/>
                                  </p:stCondLst>
                                  <p:childTnLst>
                                    <p:set>
                                      <p:cBhvr>
                                        <p:cTn id="9" dur="1" fill="hold">
                                          <p:stCondLst>
                                            <p:cond delay="0"/>
                                          </p:stCondLst>
                                        </p:cTn>
                                        <p:tgtEl>
                                          <p:spTgt spid="9"/>
                                        </p:tgtEl>
                                        <p:attrNameLst>
                                          <p:attrName>style.visibility</p:attrName>
                                        </p:attrNameLst>
                                      </p:cBhvr>
                                      <p:to>
                                        <p:strVal val="visible"/>
                                      </p:to>
                                    </p:set>
                                  </p:childTnLst>
                                </p:cTn>
                              </p:par>
                            </p:childTnLst>
                          </p:cTn>
                        </p:par>
                        <p:par>
                          <p:cTn id="10" fill="hold">
                            <p:stCondLst>
                              <p:cond delay="500"/>
                            </p:stCondLst>
                            <p:childTnLst>
                              <p:par>
                                <p:cTn id="11" presetID="1" presetClass="entr" presetSubtype="0" fill="hold" grpId="0" nodeType="afterEffect">
                                  <p:stCondLst>
                                    <p:cond delay="500"/>
                                  </p:stCondLst>
                                  <p:childTnLst>
                                    <p:set>
                                      <p:cBhvr>
                                        <p:cTn id="12" dur="1" fill="hold">
                                          <p:stCondLst>
                                            <p:cond delay="0"/>
                                          </p:stCondLst>
                                        </p:cTn>
                                        <p:tgtEl>
                                          <p:spTgt spid="5"/>
                                        </p:tgtEl>
                                        <p:attrNameLst>
                                          <p:attrName>style.visibility</p:attrName>
                                        </p:attrNameLst>
                                      </p:cBhvr>
                                      <p:to>
                                        <p:strVal val="visible"/>
                                      </p:to>
                                    </p:set>
                                  </p:childTnLst>
                                </p:cTn>
                              </p:par>
                            </p:childTnLst>
                          </p:cTn>
                        </p:par>
                        <p:par>
                          <p:cTn id="13" fill="hold">
                            <p:stCondLst>
                              <p:cond delay="1000"/>
                            </p:stCondLst>
                            <p:childTnLst>
                              <p:par>
                                <p:cTn id="14" presetID="1" presetClass="entr" presetSubtype="0" fill="hold" nodeType="afterEffect">
                                  <p:stCondLst>
                                    <p:cond delay="500"/>
                                  </p:stCondLst>
                                  <p:childTnLst>
                                    <p:set>
                                      <p:cBhvr>
                                        <p:cTn id="15" dur="1" fill="hold">
                                          <p:stCondLst>
                                            <p:cond delay="0"/>
                                          </p:stCondLst>
                                        </p:cTn>
                                        <p:tgtEl>
                                          <p:spTgt spid="11"/>
                                        </p:tgtEl>
                                        <p:attrNameLst>
                                          <p:attrName>style.visibility</p:attrName>
                                        </p:attrNameLst>
                                      </p:cBhvr>
                                      <p:to>
                                        <p:strVal val="visible"/>
                                      </p:to>
                                    </p:set>
                                  </p:childTnLst>
                                </p:cTn>
                              </p:par>
                            </p:childTnLst>
                          </p:cTn>
                        </p:par>
                        <p:par>
                          <p:cTn id="16" fill="hold">
                            <p:stCondLst>
                              <p:cond delay="1500"/>
                            </p:stCondLst>
                            <p:childTnLst>
                              <p:par>
                                <p:cTn id="17" presetID="1" presetClass="entr" presetSubtype="0" fill="hold" grpId="1" nodeType="afterEffect">
                                  <p:stCondLst>
                                    <p:cond delay="500"/>
                                  </p:stCondLst>
                                  <p:childTnLst>
                                    <p:set>
                                      <p:cBhvr>
                                        <p:cTn id="18" dur="1" fill="hold">
                                          <p:stCondLst>
                                            <p:cond delay="0"/>
                                          </p:stCondLst>
                                        </p:cTn>
                                        <p:tgtEl>
                                          <p:spTgt spid="6"/>
                                        </p:tgtEl>
                                        <p:attrNameLst>
                                          <p:attrName>style.visibility</p:attrName>
                                        </p:attrNameLst>
                                      </p:cBhvr>
                                      <p:to>
                                        <p:strVal val="visible"/>
                                      </p:to>
                                    </p:set>
                                  </p:childTnLst>
                                </p:cTn>
                              </p:par>
                            </p:childTnLst>
                          </p:cTn>
                        </p:par>
                        <p:par>
                          <p:cTn id="19" fill="hold">
                            <p:stCondLst>
                              <p:cond delay="2000"/>
                            </p:stCondLst>
                            <p:childTnLst>
                              <p:par>
                                <p:cTn id="20" presetID="1" presetClass="entr" presetSubtype="0" fill="hold" nodeType="afterEffect">
                                  <p:stCondLst>
                                    <p:cond delay="500"/>
                                  </p:stCondLst>
                                  <p:childTnLst>
                                    <p:set>
                                      <p:cBhvr>
                                        <p:cTn id="21" dur="1" fill="hold">
                                          <p:stCondLst>
                                            <p:cond delay="0"/>
                                          </p:stCondLst>
                                        </p:cTn>
                                        <p:tgtEl>
                                          <p:spTgt spid="13"/>
                                        </p:tgtEl>
                                        <p:attrNameLst>
                                          <p:attrName>style.visibility</p:attrName>
                                        </p:attrNameLst>
                                      </p:cBhvr>
                                      <p:to>
                                        <p:strVal val="visible"/>
                                      </p:to>
                                    </p:set>
                                  </p:childTnLst>
                                </p:cTn>
                              </p:par>
                            </p:childTnLst>
                          </p:cTn>
                        </p:par>
                        <p:par>
                          <p:cTn id="22" fill="hold">
                            <p:stCondLst>
                              <p:cond delay="2500"/>
                            </p:stCondLst>
                            <p:childTnLst>
                              <p:par>
                                <p:cTn id="23" presetID="1" presetClass="entr" presetSubtype="0" fill="hold" grpId="1" nodeType="afterEffect">
                                  <p:stCondLst>
                                    <p:cond delay="500"/>
                                  </p:stCondLst>
                                  <p:childTnLst>
                                    <p:set>
                                      <p:cBhvr>
                                        <p:cTn id="24" dur="1" fill="hold">
                                          <p:stCondLst>
                                            <p:cond delay="0"/>
                                          </p:stCondLst>
                                        </p:cTn>
                                        <p:tgtEl>
                                          <p:spTgt spid="7"/>
                                        </p:tgtEl>
                                        <p:attrNameLst>
                                          <p:attrName>style.visibility</p:attrName>
                                        </p:attrNameLst>
                                      </p:cBhvr>
                                      <p:to>
                                        <p:strVal val="visible"/>
                                      </p:to>
                                    </p:set>
                                  </p:childTnLst>
                                </p:cTn>
                              </p:par>
                            </p:childTnLst>
                          </p:cTn>
                        </p:par>
                        <p:par>
                          <p:cTn id="25" fill="hold">
                            <p:stCondLst>
                              <p:cond delay="3000"/>
                            </p:stCondLst>
                            <p:childTnLst>
                              <p:par>
                                <p:cTn id="26" presetID="26" presetClass="entr" presetSubtype="0" fill="hold" grpId="1" nodeType="afterEffect">
                                  <p:stCondLst>
                                    <p:cond delay="500"/>
                                  </p:stCondLst>
                                  <p:childTnLst>
                                    <p:set>
                                      <p:cBhvr>
                                        <p:cTn id="27" dur="1" fill="hold">
                                          <p:stCondLst>
                                            <p:cond delay="0"/>
                                          </p:stCondLst>
                                        </p:cTn>
                                        <p:tgtEl>
                                          <p:spTgt spid="14"/>
                                        </p:tgtEl>
                                        <p:attrNameLst>
                                          <p:attrName>style.visibility</p:attrName>
                                        </p:attrNameLst>
                                      </p:cBhvr>
                                      <p:to>
                                        <p:strVal val="visible"/>
                                      </p:to>
                                    </p:set>
                                    <p:animEffect transition="in" filter="wipe(down)">
                                      <p:cBhvr>
                                        <p:cTn id="28" dur="580">
                                          <p:stCondLst>
                                            <p:cond delay="0"/>
                                          </p:stCondLst>
                                        </p:cTn>
                                        <p:tgtEl>
                                          <p:spTgt spid="14"/>
                                        </p:tgtEl>
                                      </p:cBhvr>
                                    </p:animEffect>
                                    <p:anim calcmode="lin" valueType="num">
                                      <p:cBhvr>
                                        <p:cTn id="29" dur="1822" tmFilter="0,0; 0.14,0.36; 0.43,0.73; 0.71,0.91; 1.0,1.0">
                                          <p:stCondLst>
                                            <p:cond delay="0"/>
                                          </p:stCondLst>
                                        </p:cTn>
                                        <p:tgtEl>
                                          <p:spTgt spid="14"/>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14"/>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14"/>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14"/>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14"/>
                                        </p:tgtEl>
                                        <p:attrNameLst>
                                          <p:attrName>ppt_y</p:attrName>
                                        </p:attrNameLst>
                                      </p:cBhvr>
                                      <p:tavLst>
                                        <p:tav tm="0" fmla="#ppt_y-sin(pi*$)/81">
                                          <p:val>
                                            <p:fltVal val="0"/>
                                          </p:val>
                                        </p:tav>
                                        <p:tav tm="100000">
                                          <p:val>
                                            <p:fltVal val="1"/>
                                          </p:val>
                                        </p:tav>
                                      </p:tavLst>
                                    </p:anim>
                                    <p:animScale>
                                      <p:cBhvr>
                                        <p:cTn id="34" dur="26">
                                          <p:stCondLst>
                                            <p:cond delay="650"/>
                                          </p:stCondLst>
                                        </p:cTn>
                                        <p:tgtEl>
                                          <p:spTgt spid="14"/>
                                        </p:tgtEl>
                                      </p:cBhvr>
                                      <p:to x="100000" y="60000"/>
                                    </p:animScale>
                                    <p:animScale>
                                      <p:cBhvr>
                                        <p:cTn id="35" dur="166" decel="50000">
                                          <p:stCondLst>
                                            <p:cond delay="676"/>
                                          </p:stCondLst>
                                        </p:cTn>
                                        <p:tgtEl>
                                          <p:spTgt spid="14"/>
                                        </p:tgtEl>
                                      </p:cBhvr>
                                      <p:to x="100000" y="100000"/>
                                    </p:animScale>
                                    <p:animScale>
                                      <p:cBhvr>
                                        <p:cTn id="36" dur="26">
                                          <p:stCondLst>
                                            <p:cond delay="1312"/>
                                          </p:stCondLst>
                                        </p:cTn>
                                        <p:tgtEl>
                                          <p:spTgt spid="14"/>
                                        </p:tgtEl>
                                      </p:cBhvr>
                                      <p:to x="100000" y="80000"/>
                                    </p:animScale>
                                    <p:animScale>
                                      <p:cBhvr>
                                        <p:cTn id="37" dur="166" decel="50000">
                                          <p:stCondLst>
                                            <p:cond delay="1338"/>
                                          </p:stCondLst>
                                        </p:cTn>
                                        <p:tgtEl>
                                          <p:spTgt spid="14"/>
                                        </p:tgtEl>
                                      </p:cBhvr>
                                      <p:to x="100000" y="100000"/>
                                    </p:animScale>
                                    <p:animScale>
                                      <p:cBhvr>
                                        <p:cTn id="38" dur="26">
                                          <p:stCondLst>
                                            <p:cond delay="1642"/>
                                          </p:stCondLst>
                                        </p:cTn>
                                        <p:tgtEl>
                                          <p:spTgt spid="14"/>
                                        </p:tgtEl>
                                      </p:cBhvr>
                                      <p:to x="100000" y="90000"/>
                                    </p:animScale>
                                    <p:animScale>
                                      <p:cBhvr>
                                        <p:cTn id="39" dur="166" decel="50000">
                                          <p:stCondLst>
                                            <p:cond delay="1668"/>
                                          </p:stCondLst>
                                        </p:cTn>
                                        <p:tgtEl>
                                          <p:spTgt spid="14"/>
                                        </p:tgtEl>
                                      </p:cBhvr>
                                      <p:to x="100000" y="100000"/>
                                    </p:animScale>
                                    <p:animScale>
                                      <p:cBhvr>
                                        <p:cTn id="40" dur="26">
                                          <p:stCondLst>
                                            <p:cond delay="1808"/>
                                          </p:stCondLst>
                                        </p:cTn>
                                        <p:tgtEl>
                                          <p:spTgt spid="14"/>
                                        </p:tgtEl>
                                      </p:cBhvr>
                                      <p:to x="100000" y="95000"/>
                                    </p:animScale>
                                    <p:animScale>
                                      <p:cBhvr>
                                        <p:cTn id="41" dur="166" decel="50000">
                                          <p:stCondLst>
                                            <p:cond delay="1834"/>
                                          </p:stCondLst>
                                        </p:cTn>
                                        <p:tgtEl>
                                          <p:spTgt spid="14"/>
                                        </p:tgtEl>
                                      </p:cBhvr>
                                      <p:to x="100000" y="100000"/>
                                    </p:animScale>
                                  </p:childTnLst>
                                </p:cTn>
                              </p:par>
                            </p:childTnLst>
                          </p:cTn>
                        </p:par>
                      </p:childTnLst>
                    </p:cTn>
                  </p:par>
                  <p:par>
                    <p:cTn id="42" fill="hold">
                      <p:stCondLst>
                        <p:cond delay="indefinite"/>
                      </p:stCondLst>
                      <p:childTnLst>
                        <p:par>
                          <p:cTn id="43" fill="hold">
                            <p:stCondLst>
                              <p:cond delay="0"/>
                            </p:stCondLst>
                            <p:childTnLst>
                              <p:par>
                                <p:cTn id="44" presetID="1" presetClass="exit" presetSubtype="0" fill="hold" nodeType="clickEffect">
                                  <p:stCondLst>
                                    <p:cond delay="0"/>
                                  </p:stCondLst>
                                  <p:childTnLst>
                                    <p:set>
                                      <p:cBhvr>
                                        <p:cTn id="45" dur="1" fill="hold">
                                          <p:stCondLst>
                                            <p:cond delay="0"/>
                                          </p:stCondLst>
                                        </p:cTn>
                                        <p:tgtEl>
                                          <p:spTgt spid="11"/>
                                        </p:tgtEl>
                                        <p:attrNameLst>
                                          <p:attrName>style.visibility</p:attrName>
                                        </p:attrNameLst>
                                      </p:cBhvr>
                                      <p:to>
                                        <p:strVal val="hidden"/>
                                      </p:to>
                                    </p:set>
                                  </p:childTnLst>
                                </p:cTn>
                              </p:par>
                              <p:par>
                                <p:cTn id="46" presetID="1" presetClass="exit" presetSubtype="0" fill="hold" grpId="0" nodeType="withEffect">
                                  <p:stCondLst>
                                    <p:cond delay="0"/>
                                  </p:stCondLst>
                                  <p:childTnLst>
                                    <p:set>
                                      <p:cBhvr>
                                        <p:cTn id="47" dur="1" fill="hold">
                                          <p:stCondLst>
                                            <p:cond delay="0"/>
                                          </p:stCondLst>
                                        </p:cTn>
                                        <p:tgtEl>
                                          <p:spTgt spid="6"/>
                                        </p:tgtEl>
                                        <p:attrNameLst>
                                          <p:attrName>style.visibility</p:attrName>
                                        </p:attrNameLst>
                                      </p:cBhvr>
                                      <p:to>
                                        <p:strVal val="hidden"/>
                                      </p:to>
                                    </p:set>
                                  </p:childTnLst>
                                </p:cTn>
                              </p:par>
                              <p:par>
                                <p:cTn id="48" presetID="1" presetClass="exit" presetSubtype="0" fill="hold" nodeType="withEffect">
                                  <p:stCondLst>
                                    <p:cond delay="0"/>
                                  </p:stCondLst>
                                  <p:childTnLst>
                                    <p:set>
                                      <p:cBhvr>
                                        <p:cTn id="49" dur="1" fill="hold">
                                          <p:stCondLst>
                                            <p:cond delay="0"/>
                                          </p:stCondLst>
                                        </p:cTn>
                                        <p:tgtEl>
                                          <p:spTgt spid="13"/>
                                        </p:tgtEl>
                                        <p:attrNameLst>
                                          <p:attrName>style.visibility</p:attrName>
                                        </p:attrNameLst>
                                      </p:cBhvr>
                                      <p:to>
                                        <p:strVal val="hidden"/>
                                      </p:to>
                                    </p:set>
                                  </p:childTnLst>
                                </p:cTn>
                              </p:par>
                              <p:par>
                                <p:cTn id="50" presetID="1" presetClass="exit" presetSubtype="0" fill="hold" grpId="0" nodeType="withEffect">
                                  <p:stCondLst>
                                    <p:cond delay="0"/>
                                  </p:stCondLst>
                                  <p:childTnLst>
                                    <p:set>
                                      <p:cBhvr>
                                        <p:cTn id="51" dur="1" fill="hold">
                                          <p:stCondLst>
                                            <p:cond delay="0"/>
                                          </p:stCondLst>
                                        </p:cTn>
                                        <p:tgtEl>
                                          <p:spTgt spid="7"/>
                                        </p:tgtEl>
                                        <p:attrNameLst>
                                          <p:attrName>style.visibility</p:attrName>
                                        </p:attrNameLst>
                                      </p:cBhvr>
                                      <p:to>
                                        <p:strVal val="hidden"/>
                                      </p:to>
                                    </p:set>
                                  </p:childTnLst>
                                </p:cTn>
                              </p:par>
                              <p:par>
                                <p:cTn id="52" presetID="1" presetClass="exit" presetSubtype="0" fill="hold" grpId="0" nodeType="withEffect">
                                  <p:stCondLst>
                                    <p:cond delay="0"/>
                                  </p:stCondLst>
                                  <p:childTnLst>
                                    <p:set>
                                      <p:cBhvr>
                                        <p:cTn id="53" dur="1" fill="hold">
                                          <p:stCondLst>
                                            <p:cond delay="0"/>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6" grpId="1" animBg="1"/>
      <p:bldP spid="7" grpId="0" animBg="1"/>
      <p:bldP spid="7" grpId="1" animBg="1"/>
      <p:bldP spid="14" grpId="0" animBg="1"/>
      <p:bldP spid="14" grpId="1" animBg="1"/>
    </p:bldLst>
  </p:timing>
</p:sld>
</file>

<file path=ppt/tags/tag1.xml><?xml version="1.0" encoding="utf-8"?>
<p:tagLst xmlns:a="http://schemas.openxmlformats.org/drawingml/2006/main" xmlns:r="http://schemas.openxmlformats.org/officeDocument/2006/relationships" xmlns:p="http://schemas.openxmlformats.org/presentationml/2006/main">
  <p:tag name="TIMING" val="|1.6|5.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1810</TotalTime>
  <Words>3292</Words>
  <Application>Microsoft Office PowerPoint</Application>
  <PresentationFormat>Widescreen</PresentationFormat>
  <Paragraphs>252</Paragraphs>
  <Slides>38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38</vt:i4>
      </vt:variant>
    </vt:vector>
  </HeadingPairs>
  <TitlesOfParts>
    <vt:vector size="44" baseType="lpstr">
      <vt:lpstr>Arial</vt:lpstr>
      <vt:lpstr>Calibri</vt:lpstr>
      <vt:lpstr>Calibri Light</vt:lpstr>
      <vt:lpstr>Lucida Console</vt:lpstr>
      <vt:lpstr>Wingdings</vt:lpstr>
      <vt:lpstr>Office Theme</vt:lpstr>
      <vt:lpstr>Git</vt:lpstr>
      <vt:lpstr>Requirement</vt:lpstr>
      <vt:lpstr>Procedure to setup</vt:lpstr>
      <vt:lpstr>PowerPoint Presentation</vt:lpstr>
      <vt:lpstr>Unstaged, Staged, Committed, and Pushed</vt:lpstr>
      <vt:lpstr>Making changes in a file</vt:lpstr>
      <vt:lpstr>Travelling in past</vt:lpstr>
      <vt:lpstr>Tags</vt:lpstr>
      <vt:lpstr>Commands with tag</vt:lpstr>
      <vt:lpstr>Main tasks of a version control</vt:lpstr>
      <vt:lpstr>PUll</vt:lpstr>
      <vt:lpstr>Pull merges two files line by line</vt:lpstr>
      <vt:lpstr>Binary files(audio, video, images)</vt:lpstr>
      <vt:lpstr>Fetch</vt:lpstr>
      <vt:lpstr>Branch</vt:lpstr>
      <vt:lpstr>Why do we branch?</vt:lpstr>
      <vt:lpstr>Commands</vt:lpstr>
      <vt:lpstr>stashing</vt:lpstr>
      <vt:lpstr>commands</vt:lpstr>
      <vt:lpstr>Merging Branches</vt:lpstr>
      <vt:lpstr>Merge vs Sqash</vt:lpstr>
      <vt:lpstr>Merge locally</vt:lpstr>
      <vt:lpstr>Rebasing</vt:lpstr>
      <vt:lpstr>When nothing works</vt:lpstr>
      <vt:lpstr>Ignoring Files</vt:lpstr>
      <vt:lpstr>Forking</vt:lpstr>
      <vt:lpstr>reset and revert</vt:lpstr>
      <vt:lpstr>revert</vt:lpstr>
      <vt:lpstr>Practical Use Case for git reset --soft</vt:lpstr>
      <vt:lpstr>Course Objective</vt:lpstr>
      <vt:lpstr>If your answer is yes to any of these questions. You need Git!</vt:lpstr>
      <vt:lpstr>What is git?</vt:lpstr>
      <vt:lpstr>Going Back In Time</vt:lpstr>
      <vt:lpstr>Collaboration</vt:lpstr>
      <vt:lpstr>How does a VCS work?</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dc:title>
  <dc:creator>Prateek Pandey</dc:creator>
  <cp:lastModifiedBy>Prateek Pandey</cp:lastModifiedBy>
  <cp:revision>93</cp:revision>
  <cp:lastPrinted>2022-04-22T06:29:40Z</cp:lastPrinted>
  <dcterms:created xsi:type="dcterms:W3CDTF">2022-04-20T16:14:35Z</dcterms:created>
  <dcterms:modified xsi:type="dcterms:W3CDTF">2025-08-03T06:17:55Z</dcterms:modified>
</cp:coreProperties>
</file>