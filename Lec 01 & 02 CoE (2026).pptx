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notesSlides/notesSlide17.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1.xml" ContentType="application/vnd.openxmlformats-package.core-properti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1.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6" r:id="rId20"/>
    <p:sldId id="282" r:id="rId21"/>
    <p:sldId id="284" r:id="rId22"/>
  </p:sldIdLst>
  <p:sldSz cx="12193588" cy="6858000"/>
  <p:notesSz cx="6858000" cy="121935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672" y="-90"/>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E043A9AA-6AE4-4E6C-8635-0547B1D8666B}" type="datetimeFigureOut">
              <a:rPr lang="en-US" smtClean="0"/>
              <a:pPr/>
              <a:t>7/22/2026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798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2400"/>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2400"/>
            <a:ext cx="2971800" cy="609600"/>
          </a:xfrm>
          <a:prstGeom prst="rect">
            <a:avLst/>
          </a:prstGeom>
        </p:spPr>
        <p:txBody>
          <a:bodyPr vert="horz" lIns="91440" tIns="45720" rIns="91440" bIns="45720" rtlCol="0" anchor="b"/>
          <a:lstStyle>
            <a:lvl1pPr algn="r">
              <a:defRPr sz="1200"/>
            </a:lvl1pPr>
          </a:lstStyle>
          <a:p>
            <a:fld id="{646696D6-B3E8-4477-B768-1E323685E0D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3" name="Text 3"/>
          <p:cNvSpPr/>
          <p:nvPr/>
        </p:nvSpPr>
        <p:spPr>
          <a:xfrm>
            <a:off x="731880" y="1371600"/>
            <a:ext cx="9601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E0A526"/>
                </a:solidFill>
                <a:latin typeface="Calibri"/>
                <a:ea typeface="Calibri"/>
              </a:rPr>
              <a:t>CHAPTER 01</a:t>
            </a:r>
            <a:endParaRPr lang="en-US" sz="2400" b="0" strike="noStrike" spc="-1">
              <a:solidFill>
                <a:srgbClr val="000000"/>
              </a:solidFill>
              <a:latin typeface="Arial"/>
            </a:endParaRPr>
          </a:p>
        </p:txBody>
      </p:sp>
      <p:sp>
        <p:nvSpPr>
          <p:cNvPr id="4" name="Text 4"/>
          <p:cNvSpPr/>
          <p:nvPr/>
        </p:nvSpPr>
        <p:spPr>
          <a:xfrm>
            <a:off x="731880" y="1828800"/>
            <a:ext cx="10515600" cy="11890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800" b="1" strike="noStrike" spc="-1" dirty="0">
                <a:solidFill>
                  <a:srgbClr val="FFFFFF"/>
                </a:solidFill>
                <a:latin typeface="Cambria"/>
              </a:rPr>
              <a:t>Concepts of Economics</a:t>
            </a:r>
            <a:endParaRPr lang="en-US" sz="4800" b="0" strike="noStrike" spc="-1" dirty="0">
              <a:solidFill>
                <a:srgbClr val="000000"/>
              </a:solidFill>
              <a:latin typeface="Arial"/>
            </a:endParaRPr>
          </a:p>
        </p:txBody>
      </p:sp>
      <p:sp>
        <p:nvSpPr>
          <p:cNvPr id="5" name="Text 5"/>
          <p:cNvSpPr/>
          <p:nvPr/>
        </p:nvSpPr>
        <p:spPr>
          <a:xfrm>
            <a:off x="731880" y="2971800"/>
            <a:ext cx="10058400" cy="5493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C9BBA8"/>
                </a:solidFill>
                <a:latin typeface="Calibri"/>
                <a:ea typeface="Calibri"/>
              </a:rPr>
              <a:t>Introduction</a:t>
            </a:r>
            <a:endParaRPr lang="en-US" sz="2800" b="0" strike="noStrike" spc="-1" dirty="0">
              <a:solidFill>
                <a:srgbClr val="000000"/>
              </a:solidFill>
              <a:latin typeface="Arial"/>
            </a:endParaRPr>
          </a:p>
        </p:txBody>
      </p:sp>
      <p:sp>
        <p:nvSpPr>
          <p:cNvPr id="6" name="Shape 6"/>
          <p:cNvSpPr/>
          <p:nvPr/>
        </p:nvSpPr>
        <p:spPr>
          <a:xfrm>
            <a:off x="777960" y="3703680"/>
            <a:ext cx="2011320" cy="0"/>
          </a:xfrm>
          <a:prstGeom prst="line">
            <a:avLst/>
          </a:prstGeom>
          <a:ln w="25560">
            <a:solidFill>
              <a:srgbClr val="E0A526"/>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7" name="Text 7"/>
          <p:cNvSpPr/>
          <p:nvPr/>
        </p:nvSpPr>
        <p:spPr>
          <a:xfrm>
            <a:off x="731880" y="3932280"/>
            <a:ext cx="978372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strike="noStrike" spc="-1" dirty="0">
                <a:solidFill>
                  <a:srgbClr val="AFA79C"/>
                </a:solidFill>
                <a:latin typeface="Calibri"/>
                <a:ea typeface="Calibri"/>
              </a:rPr>
              <a:t>Understanding how nations, markets, and everyday choices are all </a:t>
            </a:r>
            <a:r>
              <a:rPr lang="en-US" sz="2000" b="0" i="1" strike="noStrike" spc="-1" dirty="0" smtClean="0">
                <a:solidFill>
                  <a:srgbClr val="AFA79C"/>
                </a:solidFill>
                <a:latin typeface="Calibri"/>
                <a:ea typeface="Calibri"/>
              </a:rPr>
              <a:t>connected</a:t>
            </a:r>
            <a:endParaRPr lang="en-US" sz="2000" b="0" strike="noStrike" spc="-1" dirty="0">
              <a:solidFill>
                <a:srgbClr val="000000"/>
              </a:solidFill>
              <a:latin typeface="Arial"/>
            </a:endParaRPr>
          </a:p>
        </p:txBody>
      </p:sp>
      <p:sp>
        <p:nvSpPr>
          <p:cNvPr id="8" name="Text 8"/>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Introduction</a:t>
            </a:r>
            <a:endParaRPr lang="en-US" sz="1000" b="0" strike="noStrike" spc="-1">
              <a:solidFill>
                <a:srgbClr val="000000"/>
              </a:solidFill>
              <a:latin typeface="Arial"/>
            </a:endParaRPr>
          </a:p>
        </p:txBody>
      </p:sp>
      <p:sp>
        <p:nvSpPr>
          <p:cNvPr id="9" name="Text 9"/>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sp>
        <p:nvSpPr>
          <p:cNvPr id="10"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11"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Basic Question: Why Are Some Nations Rich?</a:t>
            </a:r>
            <a:endParaRPr lang="en-US" sz="2900" b="0" strike="noStrike" spc="-1">
              <a:solidFill>
                <a:srgbClr val="000000"/>
              </a:solidFill>
              <a:latin typeface="Arial"/>
            </a:endParaRPr>
          </a:p>
        </p:txBody>
      </p:sp>
      <p:sp>
        <p:nvSpPr>
          <p:cNvPr id="12" name="Text 2"/>
          <p:cNvSpPr/>
          <p:nvPr/>
        </p:nvSpPr>
        <p:spPr>
          <a:xfrm>
            <a:off x="549360" y="1412776"/>
            <a:ext cx="10972800" cy="1193984"/>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strike="noStrike" spc="-1" dirty="0">
                <a:solidFill>
                  <a:srgbClr val="2A2A2A"/>
                </a:solidFill>
                <a:latin typeface="Calibri"/>
                <a:ea typeface="Calibri"/>
              </a:rPr>
              <a:t>A country can print as much money as it wants — yet money alone does not make a nation rich. Real wealth comes from what an economy actually produces, not from the numbers printed on currency notes.</a:t>
            </a:r>
            <a:endParaRPr lang="en-US" sz="2200" b="0" strike="noStrike" spc="-1" dirty="0">
              <a:solidFill>
                <a:srgbClr val="000000"/>
              </a:solidFill>
              <a:latin typeface="Arial"/>
            </a:endParaRPr>
          </a:p>
        </p:txBody>
      </p:sp>
      <p:sp>
        <p:nvSpPr>
          <p:cNvPr id="13" name="Shape 3"/>
          <p:cNvSpPr/>
          <p:nvPr/>
        </p:nvSpPr>
        <p:spPr>
          <a:xfrm>
            <a:off x="549360" y="2789280"/>
            <a:ext cx="3565440" cy="3017880"/>
          </a:xfrm>
          <a:prstGeom prst="roundRect">
            <a:avLst>
              <a:gd name="adj" fmla="val 2426"/>
            </a:avLst>
          </a:prstGeom>
          <a:solidFill>
            <a:srgbClr val="FFFFFF"/>
          </a:solidFill>
          <a:ln w="0">
            <a:noFill/>
          </a:ln>
          <a:effectLst>
            <a:outerShdw dist="12600" dir="5400000" rotWithShape="0">
              <a:srgbClr val="9A8F80">
                <a:alpha val="20000"/>
              </a:srgbClr>
            </a:outerShdw>
          </a:effectLst>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4" name="Shape 4"/>
          <p:cNvSpPr/>
          <p:nvPr/>
        </p:nvSpPr>
        <p:spPr>
          <a:xfrm>
            <a:off x="804960" y="3017880"/>
            <a:ext cx="503280" cy="503280"/>
          </a:xfrm>
          <a:prstGeom prst="ellipse">
            <a:avLst/>
          </a:prstGeom>
          <a:solidFill>
            <a:srgbClr val="9C4A3A"/>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5" name="Text 5"/>
          <p:cNvSpPr/>
          <p:nvPr/>
        </p:nvSpPr>
        <p:spPr>
          <a:xfrm>
            <a:off x="804960" y="3017880"/>
            <a:ext cx="503280" cy="5032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FFFFFF"/>
                </a:solidFill>
                <a:latin typeface="Cambria"/>
              </a:rPr>
              <a:t>1</a:t>
            </a:r>
            <a:endParaRPr lang="en-US" sz="1500" b="0" strike="noStrike" spc="-1">
              <a:solidFill>
                <a:srgbClr val="000000"/>
              </a:solidFill>
              <a:latin typeface="Arial"/>
            </a:endParaRPr>
          </a:p>
        </p:txBody>
      </p:sp>
      <p:sp>
        <p:nvSpPr>
          <p:cNvPr id="16" name="Text 6"/>
          <p:cNvSpPr/>
          <p:nvPr/>
        </p:nvSpPr>
        <p:spPr>
          <a:xfrm>
            <a:off x="768202" y="3501008"/>
            <a:ext cx="3203602" cy="379416"/>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1" strike="noStrike" spc="-1" dirty="0">
                <a:solidFill>
                  <a:srgbClr val="232323"/>
                </a:solidFill>
                <a:latin typeface="Cambria"/>
                <a:ea typeface="Cambria"/>
              </a:rPr>
              <a:t>Printing money isn't wealth</a:t>
            </a:r>
            <a:endParaRPr lang="en-US" b="0" strike="noStrike" spc="-1" dirty="0">
              <a:solidFill>
                <a:srgbClr val="000000"/>
              </a:solidFill>
              <a:latin typeface="Arial"/>
            </a:endParaRPr>
          </a:p>
        </p:txBody>
      </p:sp>
      <p:sp>
        <p:nvSpPr>
          <p:cNvPr id="17" name="Text 7"/>
          <p:cNvSpPr/>
          <p:nvPr/>
        </p:nvSpPr>
        <p:spPr>
          <a:xfrm>
            <a:off x="624186" y="3933056"/>
            <a:ext cx="3384376" cy="1944216"/>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Zimbabwe and Venezuela printed huge amounts of money during crises, but prices simply shot up (hyperinflation) — people were not richer, just holding more worthless notes.</a:t>
            </a:r>
            <a:endParaRPr lang="en-US" b="0" strike="noStrike" spc="-1" dirty="0">
              <a:solidFill>
                <a:srgbClr val="000000"/>
              </a:solidFill>
              <a:latin typeface="Arial"/>
            </a:endParaRPr>
          </a:p>
        </p:txBody>
      </p:sp>
      <p:sp>
        <p:nvSpPr>
          <p:cNvPr id="18" name="Shape 8"/>
          <p:cNvSpPr/>
          <p:nvPr/>
        </p:nvSpPr>
        <p:spPr>
          <a:xfrm>
            <a:off x="4343400" y="2789280"/>
            <a:ext cx="3565440" cy="3017880"/>
          </a:xfrm>
          <a:prstGeom prst="roundRect">
            <a:avLst>
              <a:gd name="adj" fmla="val 2426"/>
            </a:avLst>
          </a:prstGeom>
          <a:solidFill>
            <a:srgbClr val="FFFFFF"/>
          </a:solidFill>
          <a:ln w="0">
            <a:noFill/>
          </a:ln>
          <a:effectLst>
            <a:outerShdw dist="12600" dir="5400000" rotWithShape="0">
              <a:srgbClr val="9A8F80">
                <a:alpha val="20000"/>
              </a:srgbClr>
            </a:outerShdw>
          </a:effectLst>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9" name="Shape 9"/>
          <p:cNvSpPr/>
          <p:nvPr/>
        </p:nvSpPr>
        <p:spPr>
          <a:xfrm>
            <a:off x="4599000" y="3017880"/>
            <a:ext cx="503280" cy="503280"/>
          </a:xfrm>
          <a:prstGeom prst="ellipse">
            <a:avLst/>
          </a:prstGeom>
          <a:solidFill>
            <a:srgbClr val="5E735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0" name="Text 10"/>
          <p:cNvSpPr/>
          <p:nvPr/>
        </p:nvSpPr>
        <p:spPr>
          <a:xfrm>
            <a:off x="4599000" y="3017880"/>
            <a:ext cx="503280" cy="5032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FFFFFF"/>
                </a:solidFill>
                <a:latin typeface="Cambria"/>
              </a:rPr>
              <a:t>2</a:t>
            </a:r>
            <a:endParaRPr lang="en-US" sz="1500" b="0" strike="noStrike" spc="-1">
              <a:solidFill>
                <a:srgbClr val="000000"/>
              </a:solidFill>
              <a:latin typeface="Arial"/>
            </a:endParaRPr>
          </a:p>
        </p:txBody>
      </p:sp>
      <p:sp>
        <p:nvSpPr>
          <p:cNvPr id="21" name="Text 11"/>
          <p:cNvSpPr/>
          <p:nvPr/>
        </p:nvSpPr>
        <p:spPr>
          <a:xfrm>
            <a:off x="4440610" y="3501008"/>
            <a:ext cx="3063960" cy="417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1" strike="noStrike" spc="-1" dirty="0">
                <a:solidFill>
                  <a:srgbClr val="232323"/>
                </a:solidFill>
                <a:latin typeface="Cambria"/>
                <a:ea typeface="Cambria"/>
              </a:rPr>
              <a:t>Real growth builds wealth</a:t>
            </a:r>
            <a:endParaRPr lang="en-US" b="0" strike="noStrike" spc="-1" dirty="0">
              <a:solidFill>
                <a:srgbClr val="000000"/>
              </a:solidFill>
              <a:latin typeface="Arial"/>
            </a:endParaRPr>
          </a:p>
        </p:txBody>
      </p:sp>
      <p:sp>
        <p:nvSpPr>
          <p:cNvPr id="22" name="Text 12"/>
          <p:cNvSpPr/>
          <p:nvPr/>
        </p:nvSpPr>
        <p:spPr>
          <a:xfrm>
            <a:off x="4368602" y="3933056"/>
            <a:ext cx="3456384" cy="1800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India's economy grew at roughly 7.6% in FY 2025–26, one of the fastest among major economies — driven by actual production, investment, and consumption, not money-printing.</a:t>
            </a:r>
            <a:endParaRPr lang="en-US" b="0" strike="noStrike" spc="-1" dirty="0">
              <a:solidFill>
                <a:srgbClr val="000000"/>
              </a:solidFill>
              <a:latin typeface="Arial"/>
            </a:endParaRPr>
          </a:p>
        </p:txBody>
      </p:sp>
      <p:sp>
        <p:nvSpPr>
          <p:cNvPr id="23" name="Shape 13"/>
          <p:cNvSpPr/>
          <p:nvPr/>
        </p:nvSpPr>
        <p:spPr>
          <a:xfrm>
            <a:off x="8113018" y="2852936"/>
            <a:ext cx="3567240" cy="3017880"/>
          </a:xfrm>
          <a:prstGeom prst="roundRect">
            <a:avLst>
              <a:gd name="adj" fmla="val 2426"/>
            </a:avLst>
          </a:prstGeom>
          <a:solidFill>
            <a:srgbClr val="FFFFFF"/>
          </a:solidFill>
          <a:ln w="0">
            <a:noFill/>
          </a:ln>
          <a:effectLst>
            <a:outerShdw dist="12600" dir="5400000" rotWithShape="0">
              <a:srgbClr val="9A8F80">
                <a:alpha val="20000"/>
              </a:srgbClr>
            </a:outerShdw>
          </a:effectLst>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24" name="Shape 14"/>
          <p:cNvSpPr/>
          <p:nvPr/>
        </p:nvSpPr>
        <p:spPr>
          <a:xfrm>
            <a:off x="8394840" y="3017880"/>
            <a:ext cx="501480" cy="503280"/>
          </a:xfrm>
          <a:prstGeom prst="ellipse">
            <a:avLst/>
          </a:prstGeom>
          <a:solidFill>
            <a:srgbClr val="7A2E2E"/>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5" name="Text 15"/>
          <p:cNvSpPr/>
          <p:nvPr/>
        </p:nvSpPr>
        <p:spPr>
          <a:xfrm>
            <a:off x="8394840" y="3017880"/>
            <a:ext cx="501480" cy="5032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FFFFFF"/>
                </a:solidFill>
                <a:latin typeface="Cambria"/>
              </a:rPr>
              <a:t>3</a:t>
            </a:r>
            <a:endParaRPr lang="en-US" sz="1500" b="0" strike="noStrike" spc="-1">
              <a:solidFill>
                <a:srgbClr val="000000"/>
              </a:solidFill>
              <a:latin typeface="Arial"/>
            </a:endParaRPr>
          </a:p>
        </p:txBody>
      </p:sp>
      <p:sp>
        <p:nvSpPr>
          <p:cNvPr id="26" name="Text 16"/>
          <p:cNvSpPr/>
          <p:nvPr/>
        </p:nvSpPr>
        <p:spPr>
          <a:xfrm>
            <a:off x="8329042" y="3429000"/>
            <a:ext cx="3102554" cy="489928"/>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1" strike="noStrike" spc="-1" dirty="0">
                <a:solidFill>
                  <a:srgbClr val="232323"/>
                </a:solidFill>
                <a:latin typeface="Cambria"/>
                <a:ea typeface="Cambria"/>
              </a:rPr>
              <a:t>It's about what you produce</a:t>
            </a:r>
            <a:endParaRPr lang="en-US" b="0" strike="noStrike" spc="-1" dirty="0">
              <a:solidFill>
                <a:srgbClr val="000000"/>
              </a:solidFill>
              <a:latin typeface="Arial"/>
            </a:endParaRPr>
          </a:p>
        </p:txBody>
      </p:sp>
      <p:sp>
        <p:nvSpPr>
          <p:cNvPr id="27" name="Text 17"/>
          <p:cNvSpPr/>
          <p:nvPr/>
        </p:nvSpPr>
        <p:spPr>
          <a:xfrm>
            <a:off x="8329042" y="3933056"/>
            <a:ext cx="3246570" cy="1728192"/>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A nation gets richer by producing more goods, services, and ideas — factories, farms, software, and skilled workers are the real engines of wealth.</a:t>
            </a:r>
            <a:endParaRPr lang="en-US" b="0" strike="noStrike" spc="-1" dirty="0">
              <a:solidFill>
                <a:srgbClr val="000000"/>
              </a:solidFill>
              <a:latin typeface="Arial"/>
            </a:endParaRPr>
          </a:p>
        </p:txBody>
      </p:sp>
      <p:sp>
        <p:nvSpPr>
          <p:cNvPr id="28" name="Text 18"/>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29" name="Text 19"/>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2</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31"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What Really Drives Economic Prosperity?</a:t>
            </a:r>
            <a:endParaRPr lang="en-US" sz="2900" b="0" strike="noStrike" spc="-1">
              <a:solidFill>
                <a:srgbClr val="000000"/>
              </a:solidFill>
              <a:latin typeface="Arial"/>
            </a:endParaRPr>
          </a:p>
        </p:txBody>
      </p:sp>
      <p:sp>
        <p:nvSpPr>
          <p:cNvPr id="32" name="Shape 2"/>
          <p:cNvSpPr/>
          <p:nvPr/>
        </p:nvSpPr>
        <p:spPr>
          <a:xfrm>
            <a:off x="549360" y="1736640"/>
            <a:ext cx="212076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33" name="Shape 3"/>
          <p:cNvSpPr/>
          <p:nvPr/>
        </p:nvSpPr>
        <p:spPr>
          <a:xfrm>
            <a:off x="549360" y="1736640"/>
            <a:ext cx="2120760" cy="5580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9000" rIns="90000" bIns="90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34" name="Text 4"/>
          <p:cNvSpPr/>
          <p:nvPr/>
        </p:nvSpPr>
        <p:spPr>
          <a:xfrm>
            <a:off x="676440" y="190188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Natural Resources</a:t>
            </a:r>
            <a:endParaRPr lang="en-US" sz="1600" b="0" strike="noStrike" spc="-1">
              <a:solidFill>
                <a:srgbClr val="000000"/>
              </a:solidFill>
              <a:latin typeface="Arial"/>
            </a:endParaRPr>
          </a:p>
        </p:txBody>
      </p:sp>
      <p:sp>
        <p:nvSpPr>
          <p:cNvPr id="35" name="Text 5"/>
          <p:cNvSpPr/>
          <p:nvPr/>
        </p:nvSpPr>
        <p:spPr>
          <a:xfrm>
            <a:off x="676440" y="265104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6E6660"/>
                </a:solidFill>
                <a:latin typeface="Calibri"/>
                <a:ea typeface="Calibri"/>
              </a:rPr>
              <a:t>Land, minerals, water</a:t>
            </a:r>
            <a:endParaRPr lang="en-US" sz="1600" b="0" strike="noStrike" spc="-1" dirty="0">
              <a:solidFill>
                <a:srgbClr val="000000"/>
              </a:solidFill>
              <a:latin typeface="Arial"/>
            </a:endParaRPr>
          </a:p>
        </p:txBody>
      </p:sp>
      <p:sp>
        <p:nvSpPr>
          <p:cNvPr id="36" name="Shape 6"/>
          <p:cNvSpPr/>
          <p:nvPr/>
        </p:nvSpPr>
        <p:spPr>
          <a:xfrm>
            <a:off x="2816280" y="1736640"/>
            <a:ext cx="212076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37" name="Shape 7"/>
          <p:cNvSpPr/>
          <p:nvPr/>
        </p:nvSpPr>
        <p:spPr>
          <a:xfrm>
            <a:off x="2816280" y="1736640"/>
            <a:ext cx="2120760" cy="5580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9000" rIns="90000" bIns="90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38" name="Text 8"/>
          <p:cNvSpPr/>
          <p:nvPr/>
        </p:nvSpPr>
        <p:spPr>
          <a:xfrm>
            <a:off x="2944800" y="190188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Human Capital</a:t>
            </a:r>
            <a:endParaRPr lang="en-US" sz="1600" b="0" strike="noStrike" spc="-1">
              <a:solidFill>
                <a:srgbClr val="000000"/>
              </a:solidFill>
              <a:latin typeface="Arial"/>
            </a:endParaRPr>
          </a:p>
        </p:txBody>
      </p:sp>
      <p:sp>
        <p:nvSpPr>
          <p:cNvPr id="39" name="Text 9"/>
          <p:cNvSpPr/>
          <p:nvPr/>
        </p:nvSpPr>
        <p:spPr>
          <a:xfrm>
            <a:off x="2944800" y="265104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6E6660"/>
                </a:solidFill>
                <a:latin typeface="Calibri"/>
                <a:ea typeface="Calibri"/>
              </a:rPr>
              <a:t>Skilled, educated workforce</a:t>
            </a:r>
            <a:endParaRPr lang="en-US" sz="1600" b="0" strike="noStrike" spc="-1" dirty="0">
              <a:solidFill>
                <a:srgbClr val="000000"/>
              </a:solidFill>
              <a:latin typeface="Arial"/>
            </a:endParaRPr>
          </a:p>
        </p:txBody>
      </p:sp>
      <p:sp>
        <p:nvSpPr>
          <p:cNvPr id="40" name="Shape 10"/>
          <p:cNvSpPr/>
          <p:nvPr/>
        </p:nvSpPr>
        <p:spPr>
          <a:xfrm>
            <a:off x="5084640" y="1736640"/>
            <a:ext cx="212112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41" name="Shape 11"/>
          <p:cNvSpPr/>
          <p:nvPr/>
        </p:nvSpPr>
        <p:spPr>
          <a:xfrm>
            <a:off x="5084640" y="1736640"/>
            <a:ext cx="2121120" cy="5580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9000" rIns="90000" bIns="90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42" name="Text 12"/>
          <p:cNvSpPr/>
          <p:nvPr/>
        </p:nvSpPr>
        <p:spPr>
          <a:xfrm>
            <a:off x="5211720" y="1901880"/>
            <a:ext cx="186552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Political Stability</a:t>
            </a:r>
            <a:endParaRPr lang="en-US" sz="1600" b="0" strike="noStrike" spc="-1">
              <a:solidFill>
                <a:srgbClr val="000000"/>
              </a:solidFill>
              <a:latin typeface="Arial"/>
            </a:endParaRPr>
          </a:p>
        </p:txBody>
      </p:sp>
      <p:sp>
        <p:nvSpPr>
          <p:cNvPr id="43" name="Text 13"/>
          <p:cNvSpPr/>
          <p:nvPr/>
        </p:nvSpPr>
        <p:spPr>
          <a:xfrm>
            <a:off x="5211720" y="2651040"/>
            <a:ext cx="186552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6E6660"/>
                </a:solidFill>
                <a:latin typeface="Calibri"/>
                <a:ea typeface="Calibri"/>
              </a:rPr>
              <a:t>Predictable laws &amp; policy</a:t>
            </a:r>
            <a:endParaRPr lang="en-US" sz="1600" b="0" strike="noStrike" spc="-1" dirty="0">
              <a:solidFill>
                <a:srgbClr val="000000"/>
              </a:solidFill>
              <a:latin typeface="Arial"/>
            </a:endParaRPr>
          </a:p>
        </p:txBody>
      </p:sp>
      <p:sp>
        <p:nvSpPr>
          <p:cNvPr id="44" name="Shape 14"/>
          <p:cNvSpPr/>
          <p:nvPr/>
        </p:nvSpPr>
        <p:spPr>
          <a:xfrm>
            <a:off x="7351560" y="1736640"/>
            <a:ext cx="212112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45" name="Shape 15"/>
          <p:cNvSpPr/>
          <p:nvPr/>
        </p:nvSpPr>
        <p:spPr>
          <a:xfrm>
            <a:off x="7351560" y="1736640"/>
            <a:ext cx="2121120" cy="5580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9000" rIns="90000" bIns="90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46" name="Text 16"/>
          <p:cNvSpPr/>
          <p:nvPr/>
        </p:nvSpPr>
        <p:spPr>
          <a:xfrm>
            <a:off x="7480440" y="190188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Infrastructure</a:t>
            </a:r>
            <a:endParaRPr lang="en-US" sz="1600" b="0" strike="noStrike" spc="-1">
              <a:solidFill>
                <a:srgbClr val="000000"/>
              </a:solidFill>
              <a:latin typeface="Arial"/>
            </a:endParaRPr>
          </a:p>
        </p:txBody>
      </p:sp>
      <p:sp>
        <p:nvSpPr>
          <p:cNvPr id="47" name="Text 17"/>
          <p:cNvSpPr/>
          <p:nvPr/>
        </p:nvSpPr>
        <p:spPr>
          <a:xfrm>
            <a:off x="7480440" y="265104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6E6660"/>
                </a:solidFill>
                <a:latin typeface="Calibri"/>
                <a:ea typeface="Calibri"/>
              </a:rPr>
              <a:t>Roads, power, digital networks</a:t>
            </a:r>
            <a:endParaRPr lang="en-US" sz="1600" b="0" strike="noStrike" spc="-1" dirty="0">
              <a:solidFill>
                <a:srgbClr val="000000"/>
              </a:solidFill>
              <a:latin typeface="Arial"/>
            </a:endParaRPr>
          </a:p>
        </p:txBody>
      </p:sp>
      <p:sp>
        <p:nvSpPr>
          <p:cNvPr id="48" name="Shape 18"/>
          <p:cNvSpPr/>
          <p:nvPr/>
        </p:nvSpPr>
        <p:spPr>
          <a:xfrm>
            <a:off x="9620280" y="1736640"/>
            <a:ext cx="212076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49" name="Shape 19"/>
          <p:cNvSpPr/>
          <p:nvPr/>
        </p:nvSpPr>
        <p:spPr>
          <a:xfrm>
            <a:off x="9620280" y="1736640"/>
            <a:ext cx="2120760" cy="5580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9000" rIns="90000" bIns="90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50" name="Text 20"/>
          <p:cNvSpPr/>
          <p:nvPr/>
        </p:nvSpPr>
        <p:spPr>
          <a:xfrm>
            <a:off x="9747360" y="190188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Economic Policies</a:t>
            </a:r>
            <a:endParaRPr lang="en-US" sz="1600" b="0" strike="noStrike" spc="-1">
              <a:solidFill>
                <a:srgbClr val="000000"/>
              </a:solidFill>
              <a:latin typeface="Arial"/>
            </a:endParaRPr>
          </a:p>
        </p:txBody>
      </p:sp>
      <p:sp>
        <p:nvSpPr>
          <p:cNvPr id="51" name="Text 21"/>
          <p:cNvSpPr/>
          <p:nvPr/>
        </p:nvSpPr>
        <p:spPr>
          <a:xfrm>
            <a:off x="9747360" y="265104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strike="noStrike" spc="-1" dirty="0">
                <a:solidFill>
                  <a:srgbClr val="6E6660"/>
                </a:solidFill>
                <a:latin typeface="Calibri"/>
                <a:ea typeface="Calibri"/>
              </a:rPr>
              <a:t>Tax, trade &amp; investment rules</a:t>
            </a:r>
            <a:endParaRPr lang="en-US" sz="1400" b="0" strike="noStrike" spc="-1" dirty="0">
              <a:solidFill>
                <a:srgbClr val="000000"/>
              </a:solidFill>
              <a:latin typeface="Arial"/>
            </a:endParaRPr>
          </a:p>
        </p:txBody>
      </p:sp>
      <p:sp>
        <p:nvSpPr>
          <p:cNvPr id="52" name="Shape 22"/>
          <p:cNvSpPr/>
          <p:nvPr/>
        </p:nvSpPr>
        <p:spPr>
          <a:xfrm>
            <a:off x="549360" y="3611520"/>
            <a:ext cx="212076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53" name="Shape 23"/>
          <p:cNvSpPr/>
          <p:nvPr/>
        </p:nvSpPr>
        <p:spPr>
          <a:xfrm>
            <a:off x="549360" y="3611520"/>
            <a:ext cx="2120760" cy="5544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8640" rIns="90000" bIns="864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54" name="Text 24"/>
          <p:cNvSpPr/>
          <p:nvPr/>
        </p:nvSpPr>
        <p:spPr>
          <a:xfrm>
            <a:off x="676440" y="377676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International Trade</a:t>
            </a:r>
            <a:endParaRPr lang="en-US" sz="1600" b="0" strike="noStrike" spc="-1">
              <a:solidFill>
                <a:srgbClr val="000000"/>
              </a:solidFill>
              <a:latin typeface="Arial"/>
            </a:endParaRPr>
          </a:p>
        </p:txBody>
      </p:sp>
      <p:sp>
        <p:nvSpPr>
          <p:cNvPr id="55" name="Text 25"/>
          <p:cNvSpPr/>
          <p:nvPr/>
        </p:nvSpPr>
        <p:spPr>
          <a:xfrm>
            <a:off x="676440" y="452592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strike="noStrike" spc="-1" dirty="0">
                <a:solidFill>
                  <a:srgbClr val="6E6660"/>
                </a:solidFill>
                <a:latin typeface="Calibri"/>
                <a:ea typeface="Calibri"/>
              </a:rPr>
              <a:t>Exporting &amp; importing goods</a:t>
            </a:r>
            <a:endParaRPr lang="en-US" sz="1400" b="0" strike="noStrike" spc="-1" dirty="0">
              <a:solidFill>
                <a:srgbClr val="000000"/>
              </a:solidFill>
              <a:latin typeface="Arial"/>
            </a:endParaRPr>
          </a:p>
        </p:txBody>
      </p:sp>
      <p:sp>
        <p:nvSpPr>
          <p:cNvPr id="56" name="Shape 26"/>
          <p:cNvSpPr/>
          <p:nvPr/>
        </p:nvSpPr>
        <p:spPr>
          <a:xfrm>
            <a:off x="2816280" y="3611520"/>
            <a:ext cx="212076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57" name="Shape 27"/>
          <p:cNvSpPr/>
          <p:nvPr/>
        </p:nvSpPr>
        <p:spPr>
          <a:xfrm>
            <a:off x="2816280" y="3611520"/>
            <a:ext cx="2120760" cy="5544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8640" rIns="90000" bIns="864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58" name="Text 28"/>
          <p:cNvSpPr/>
          <p:nvPr/>
        </p:nvSpPr>
        <p:spPr>
          <a:xfrm>
            <a:off x="2944800" y="377676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Financial System</a:t>
            </a:r>
            <a:endParaRPr lang="en-US" sz="1600" b="0" strike="noStrike" spc="-1">
              <a:solidFill>
                <a:srgbClr val="000000"/>
              </a:solidFill>
              <a:latin typeface="Arial"/>
            </a:endParaRPr>
          </a:p>
        </p:txBody>
      </p:sp>
      <p:sp>
        <p:nvSpPr>
          <p:cNvPr id="59" name="Text 29"/>
          <p:cNvSpPr/>
          <p:nvPr/>
        </p:nvSpPr>
        <p:spPr>
          <a:xfrm>
            <a:off x="2944800" y="452592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6E6660"/>
                </a:solidFill>
                <a:latin typeface="Calibri"/>
                <a:ea typeface="Calibri"/>
              </a:rPr>
              <a:t>Banks, capital &amp; credit access</a:t>
            </a:r>
            <a:endParaRPr lang="en-US" sz="1600" b="0" strike="noStrike" spc="-1" dirty="0">
              <a:solidFill>
                <a:srgbClr val="000000"/>
              </a:solidFill>
              <a:latin typeface="Arial"/>
            </a:endParaRPr>
          </a:p>
        </p:txBody>
      </p:sp>
      <p:sp>
        <p:nvSpPr>
          <p:cNvPr id="60" name="Shape 30"/>
          <p:cNvSpPr/>
          <p:nvPr/>
        </p:nvSpPr>
        <p:spPr>
          <a:xfrm>
            <a:off x="5084640" y="3611520"/>
            <a:ext cx="212112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61" name="Shape 31"/>
          <p:cNvSpPr/>
          <p:nvPr/>
        </p:nvSpPr>
        <p:spPr>
          <a:xfrm>
            <a:off x="5084640" y="3611520"/>
            <a:ext cx="2121120" cy="5544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8640" rIns="90000" bIns="864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62" name="Text 32"/>
          <p:cNvSpPr/>
          <p:nvPr/>
        </p:nvSpPr>
        <p:spPr>
          <a:xfrm>
            <a:off x="5211720" y="3776760"/>
            <a:ext cx="186552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Rule of Law</a:t>
            </a:r>
            <a:endParaRPr lang="en-US" sz="1600" b="0" strike="noStrike" spc="-1">
              <a:solidFill>
                <a:srgbClr val="000000"/>
              </a:solidFill>
              <a:latin typeface="Arial"/>
            </a:endParaRPr>
          </a:p>
        </p:txBody>
      </p:sp>
      <p:sp>
        <p:nvSpPr>
          <p:cNvPr id="63" name="Text 33"/>
          <p:cNvSpPr/>
          <p:nvPr/>
        </p:nvSpPr>
        <p:spPr>
          <a:xfrm>
            <a:off x="5211720" y="4525920"/>
            <a:ext cx="186552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6E6660"/>
                </a:solidFill>
                <a:latin typeface="Calibri"/>
                <a:ea typeface="Calibri"/>
              </a:rPr>
              <a:t>Enforceable contracts &amp; property rights</a:t>
            </a:r>
            <a:endParaRPr lang="en-US" sz="1600" b="0" strike="noStrike" spc="-1" dirty="0">
              <a:solidFill>
                <a:srgbClr val="000000"/>
              </a:solidFill>
              <a:latin typeface="Arial"/>
            </a:endParaRPr>
          </a:p>
        </p:txBody>
      </p:sp>
      <p:sp>
        <p:nvSpPr>
          <p:cNvPr id="64" name="Shape 34"/>
          <p:cNvSpPr/>
          <p:nvPr/>
        </p:nvSpPr>
        <p:spPr>
          <a:xfrm>
            <a:off x="7351560" y="3611520"/>
            <a:ext cx="212112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65" name="Shape 35"/>
          <p:cNvSpPr/>
          <p:nvPr/>
        </p:nvSpPr>
        <p:spPr>
          <a:xfrm>
            <a:off x="7351560" y="3611520"/>
            <a:ext cx="2121120" cy="5544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8640" rIns="90000" bIns="864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66" name="Text 36"/>
          <p:cNvSpPr/>
          <p:nvPr/>
        </p:nvSpPr>
        <p:spPr>
          <a:xfrm>
            <a:off x="7480440" y="377676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Innovation &amp; Technology</a:t>
            </a:r>
            <a:endParaRPr lang="en-US" sz="1600" b="0" strike="noStrike" spc="-1">
              <a:solidFill>
                <a:srgbClr val="000000"/>
              </a:solidFill>
              <a:latin typeface="Arial"/>
            </a:endParaRPr>
          </a:p>
        </p:txBody>
      </p:sp>
      <p:sp>
        <p:nvSpPr>
          <p:cNvPr id="67" name="Text 37"/>
          <p:cNvSpPr/>
          <p:nvPr/>
        </p:nvSpPr>
        <p:spPr>
          <a:xfrm>
            <a:off x="7480440" y="452592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6E6660"/>
                </a:solidFill>
                <a:latin typeface="Calibri"/>
                <a:ea typeface="Calibri"/>
              </a:rPr>
              <a:t>New ideas, products &amp; processes</a:t>
            </a:r>
            <a:endParaRPr lang="en-US" sz="1600" b="0" strike="noStrike" spc="-1" dirty="0">
              <a:solidFill>
                <a:srgbClr val="000000"/>
              </a:solidFill>
              <a:latin typeface="Arial"/>
            </a:endParaRPr>
          </a:p>
        </p:txBody>
      </p:sp>
      <p:sp>
        <p:nvSpPr>
          <p:cNvPr id="68" name="Shape 38"/>
          <p:cNvSpPr/>
          <p:nvPr/>
        </p:nvSpPr>
        <p:spPr>
          <a:xfrm>
            <a:off x="9620280" y="3611520"/>
            <a:ext cx="2120760" cy="1692360"/>
          </a:xfrm>
          <a:prstGeom prst="roundRect">
            <a:avLst>
              <a:gd name="adj" fmla="val 3782"/>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69" name="Shape 39"/>
          <p:cNvSpPr/>
          <p:nvPr/>
        </p:nvSpPr>
        <p:spPr>
          <a:xfrm>
            <a:off x="9620280" y="3611520"/>
            <a:ext cx="2120760" cy="5544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8640" rIns="90000" bIns="864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70" name="Text 40"/>
          <p:cNvSpPr/>
          <p:nvPr/>
        </p:nvSpPr>
        <p:spPr>
          <a:xfrm>
            <a:off x="9747360" y="377676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Historical &amp; Cultural Factors</a:t>
            </a:r>
            <a:endParaRPr lang="en-US" sz="1600" b="0" strike="noStrike" spc="-1">
              <a:solidFill>
                <a:srgbClr val="000000"/>
              </a:solidFill>
              <a:latin typeface="Arial"/>
            </a:endParaRPr>
          </a:p>
        </p:txBody>
      </p:sp>
      <p:sp>
        <p:nvSpPr>
          <p:cNvPr id="71" name="Text 41"/>
          <p:cNvSpPr/>
          <p:nvPr/>
        </p:nvSpPr>
        <p:spPr>
          <a:xfrm>
            <a:off x="9747360" y="4525920"/>
            <a:ext cx="186516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6E6660"/>
                </a:solidFill>
                <a:latin typeface="Calibri"/>
                <a:ea typeface="Calibri"/>
              </a:rPr>
              <a:t>Institutions built over time</a:t>
            </a:r>
            <a:endParaRPr lang="en-US" sz="1600" b="0" strike="noStrike" spc="-1" dirty="0">
              <a:solidFill>
                <a:srgbClr val="000000"/>
              </a:solidFill>
              <a:latin typeface="Arial"/>
            </a:endParaRPr>
          </a:p>
        </p:txBody>
      </p:sp>
      <p:sp>
        <p:nvSpPr>
          <p:cNvPr id="72" name="Text 42"/>
          <p:cNvSpPr/>
          <p:nvPr/>
        </p:nvSpPr>
        <p:spPr>
          <a:xfrm>
            <a:off x="549360" y="5807160"/>
            <a:ext cx="11063160" cy="501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strike="noStrike" spc="-1">
                <a:solidFill>
                  <a:srgbClr val="6E6660"/>
                </a:solidFill>
                <a:latin typeface="Calibri"/>
                <a:ea typeface="Calibri"/>
              </a:rPr>
              <a:t>India -&gt; Rapid highway and port expansion (Infrastructure), Startup India's 100+ unicorns (Innovation), and predictable GST rules (Economic Policies) are all pieces of the same puzzle.</a:t>
            </a:r>
            <a:endParaRPr lang="en-US" sz="1600" b="0" strike="noStrike" spc="-1">
              <a:solidFill>
                <a:srgbClr val="000000"/>
              </a:solidFill>
              <a:latin typeface="Arial"/>
            </a:endParaRPr>
          </a:p>
        </p:txBody>
      </p:sp>
      <p:sp>
        <p:nvSpPr>
          <p:cNvPr id="73" name="Text 43"/>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74" name="Text 44"/>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3</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sp>
        <p:nvSpPr>
          <p:cNvPr id="75"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76"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Common Misconceptions About Economics</a:t>
            </a:r>
            <a:endParaRPr lang="en-US" sz="2900" b="0" strike="noStrike" spc="-1">
              <a:solidFill>
                <a:srgbClr val="000000"/>
              </a:solidFill>
              <a:latin typeface="Arial"/>
            </a:endParaRPr>
          </a:p>
        </p:txBody>
      </p:sp>
      <p:sp>
        <p:nvSpPr>
          <p:cNvPr id="77" name="Shape 2"/>
          <p:cNvSpPr/>
          <p:nvPr/>
        </p:nvSpPr>
        <p:spPr>
          <a:xfrm>
            <a:off x="549360" y="1828800"/>
            <a:ext cx="11063160" cy="1828800"/>
          </a:xfrm>
          <a:prstGeom prst="roundRect">
            <a:avLst>
              <a:gd name="adj" fmla="val 4000"/>
            </a:avLst>
          </a:prstGeom>
          <a:solidFill>
            <a:srgbClr val="FFFFFF"/>
          </a:solidFill>
          <a:ln w="0">
            <a:noFill/>
          </a:ln>
          <a:effectLst>
            <a:outerShdw dist="12600" dir="5400000" rotWithShape="0">
              <a:srgbClr val="9A8F80">
                <a:alpha val="18000"/>
              </a:srgbClr>
            </a:outerShdw>
          </a:effectLst>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78" name="Text 3"/>
          <p:cNvSpPr/>
          <p:nvPr/>
        </p:nvSpPr>
        <p:spPr>
          <a:xfrm>
            <a:off x="868320" y="2011320"/>
            <a:ext cx="3292560" cy="1463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700" b="1" i="1" strike="noStrike" spc="-1">
                <a:solidFill>
                  <a:srgbClr val="9C4A3A"/>
                </a:solidFill>
                <a:latin typeface="Cambria"/>
              </a:rPr>
              <a:t>“It's dry and academic”</a:t>
            </a:r>
            <a:endParaRPr lang="en-US" sz="1700" b="0" strike="noStrike" spc="-1">
              <a:solidFill>
                <a:srgbClr val="000000"/>
              </a:solidFill>
              <a:latin typeface="Arial"/>
            </a:endParaRPr>
          </a:p>
        </p:txBody>
      </p:sp>
      <p:sp>
        <p:nvSpPr>
          <p:cNvPr id="79" name="Text 4"/>
          <p:cNvSpPr/>
          <p:nvPr/>
        </p:nvSpPr>
        <p:spPr>
          <a:xfrm>
            <a:off x="4389480" y="2011320"/>
            <a:ext cx="6948360" cy="1463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Yes, economics uses statistics, graphs, and formulas — but underneath, it explains everyday things: why onion prices spike before a festival, or why your salary doesn't stretch as far as it used to.</a:t>
            </a:r>
            <a:endParaRPr lang="en-US" b="0" strike="noStrike" spc="-1" dirty="0">
              <a:solidFill>
                <a:srgbClr val="000000"/>
              </a:solidFill>
              <a:latin typeface="Arial"/>
            </a:endParaRPr>
          </a:p>
        </p:txBody>
      </p:sp>
      <p:sp>
        <p:nvSpPr>
          <p:cNvPr id="80" name="Shape 5"/>
          <p:cNvSpPr/>
          <p:nvPr/>
        </p:nvSpPr>
        <p:spPr>
          <a:xfrm>
            <a:off x="549360" y="3932280"/>
            <a:ext cx="11063160" cy="1828800"/>
          </a:xfrm>
          <a:prstGeom prst="roundRect">
            <a:avLst>
              <a:gd name="adj" fmla="val 4000"/>
            </a:avLst>
          </a:prstGeom>
          <a:solidFill>
            <a:srgbClr val="FFFFFF"/>
          </a:solidFill>
          <a:ln w="0">
            <a:noFill/>
          </a:ln>
          <a:effectLst>
            <a:outerShdw dist="12600" dir="5400000" rotWithShape="0">
              <a:srgbClr val="9A8F80">
                <a:alpha val="18000"/>
              </a:srgbClr>
            </a:outerShdw>
          </a:effectLst>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81" name="Text 6"/>
          <p:cNvSpPr/>
          <p:nvPr/>
        </p:nvSpPr>
        <p:spPr>
          <a:xfrm>
            <a:off x="868320" y="4114800"/>
            <a:ext cx="3292560" cy="1463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700" b="1" i="1" strike="noStrike" spc="-1">
                <a:solidFill>
                  <a:srgbClr val="7A2E2E"/>
                </a:solidFill>
                <a:latin typeface="Cambria"/>
              </a:rPr>
              <a:t>“It's all about money”</a:t>
            </a:r>
            <a:endParaRPr lang="en-US" sz="1700" b="0" strike="noStrike" spc="-1">
              <a:solidFill>
                <a:srgbClr val="000000"/>
              </a:solidFill>
              <a:latin typeface="Arial"/>
            </a:endParaRPr>
          </a:p>
        </p:txBody>
      </p:sp>
      <p:sp>
        <p:nvSpPr>
          <p:cNvPr id="82" name="Text 7"/>
          <p:cNvSpPr/>
          <p:nvPr/>
        </p:nvSpPr>
        <p:spPr>
          <a:xfrm>
            <a:off x="4389480" y="4114800"/>
            <a:ext cx="6948360" cy="1463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Money is just one tool economics studies. At its core, economics is about choices — how a farmer decides what to grow, or how a family decides what to spend on.</a:t>
            </a:r>
            <a:endParaRPr lang="en-US" b="0" strike="noStrike" spc="-1" dirty="0">
              <a:solidFill>
                <a:srgbClr val="000000"/>
              </a:solidFill>
              <a:latin typeface="Arial"/>
            </a:endParaRPr>
          </a:p>
        </p:txBody>
      </p:sp>
      <p:sp>
        <p:nvSpPr>
          <p:cNvPr id="83" name="Text 8"/>
          <p:cNvSpPr/>
          <p:nvPr/>
        </p:nvSpPr>
        <p:spPr>
          <a:xfrm>
            <a:off x="549360" y="5989680"/>
            <a:ext cx="1097280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strike="noStrike" spc="-1" dirty="0">
                <a:solidFill>
                  <a:srgbClr val="6E6660"/>
                </a:solidFill>
                <a:latin typeface="Calibri"/>
                <a:ea typeface="Calibri"/>
              </a:rPr>
              <a:t>So — what is economics, </a:t>
            </a:r>
            <a:r>
              <a:rPr lang="en-US" sz="2400" b="0" i="1" strike="noStrike" spc="-1" dirty="0" smtClean="0">
                <a:solidFill>
                  <a:srgbClr val="6E6660"/>
                </a:solidFill>
                <a:latin typeface="Calibri"/>
                <a:ea typeface="Calibri"/>
              </a:rPr>
              <a:t>really</a:t>
            </a:r>
            <a:endParaRPr lang="en-US" sz="2400" b="0" strike="noStrike" spc="-1" dirty="0">
              <a:solidFill>
                <a:srgbClr val="000000"/>
              </a:solidFill>
              <a:latin typeface="Arial"/>
            </a:endParaRPr>
          </a:p>
        </p:txBody>
      </p:sp>
      <p:sp>
        <p:nvSpPr>
          <p:cNvPr id="84" name="Text 9"/>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85" name="Text 10"/>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4</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86" name="Text 1"/>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E0A526"/>
                </a:solidFill>
                <a:latin typeface="Calibri"/>
                <a:ea typeface="Calibri"/>
              </a:rPr>
              <a:t>INTRODUCTION</a:t>
            </a:r>
            <a:endParaRPr lang="en-US" sz="1300" b="0" strike="noStrike" spc="-1">
              <a:solidFill>
                <a:srgbClr val="000000"/>
              </a:solidFill>
              <a:latin typeface="Arial"/>
            </a:endParaRPr>
          </a:p>
        </p:txBody>
      </p:sp>
      <p:sp>
        <p:nvSpPr>
          <p:cNvPr id="87" name="Text 2"/>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FFFFFF"/>
                </a:solidFill>
                <a:latin typeface="Cambria"/>
              </a:rPr>
              <a:t>What Is an “Economy”?</a:t>
            </a:r>
            <a:endParaRPr lang="en-US" sz="2900" b="0" strike="noStrike" spc="-1">
              <a:solidFill>
                <a:srgbClr val="000000"/>
              </a:solidFill>
              <a:latin typeface="Arial"/>
            </a:endParaRPr>
          </a:p>
        </p:txBody>
      </p:sp>
      <p:sp>
        <p:nvSpPr>
          <p:cNvPr id="88" name="Shape 3"/>
          <p:cNvSpPr/>
          <p:nvPr/>
        </p:nvSpPr>
        <p:spPr>
          <a:xfrm>
            <a:off x="639720" y="2103480"/>
            <a:ext cx="10882440" cy="1919160"/>
          </a:xfrm>
          <a:prstGeom prst="roundRect">
            <a:avLst>
              <a:gd name="adj" fmla="val 3810"/>
            </a:avLst>
          </a:prstGeom>
          <a:solidFill>
            <a:srgbClr val="2E2E2E"/>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89" name="Text 4"/>
          <p:cNvSpPr/>
          <p:nvPr/>
        </p:nvSpPr>
        <p:spPr>
          <a:xfrm>
            <a:off x="914400" y="2286000"/>
            <a:ext cx="36576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strike="noStrike" spc="-1">
                <a:solidFill>
                  <a:srgbClr val="E0A526"/>
                </a:solidFill>
                <a:latin typeface="Calibri"/>
                <a:ea typeface="Calibri"/>
              </a:rPr>
              <a:t>ECONOMY</a:t>
            </a:r>
            <a:endParaRPr lang="en-US" sz="1200" b="0" strike="noStrike" spc="-1">
              <a:solidFill>
                <a:srgbClr val="000000"/>
              </a:solidFill>
              <a:latin typeface="Arial"/>
            </a:endParaRPr>
          </a:p>
        </p:txBody>
      </p:sp>
      <p:sp>
        <p:nvSpPr>
          <p:cNvPr id="90" name="Text 5"/>
          <p:cNvSpPr/>
          <p:nvPr/>
        </p:nvSpPr>
        <p:spPr>
          <a:xfrm>
            <a:off x="914400" y="2651040"/>
            <a:ext cx="10333080" cy="11890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i="1" strike="noStrike" spc="-1" dirty="0">
                <a:solidFill>
                  <a:srgbClr val="FFFFFF"/>
                </a:solidFill>
                <a:latin typeface="Cambria"/>
              </a:rPr>
              <a:t>The system by which goods and services are produced, sold, and bought in a country or region.</a:t>
            </a:r>
            <a:endParaRPr lang="en-US" sz="2800" b="0" strike="noStrike" spc="-1" dirty="0">
              <a:solidFill>
                <a:srgbClr val="000000"/>
              </a:solidFill>
              <a:latin typeface="Arial"/>
            </a:endParaRPr>
          </a:p>
        </p:txBody>
      </p:sp>
      <p:sp>
        <p:nvSpPr>
          <p:cNvPr id="91" name="Text 6"/>
          <p:cNvSpPr/>
          <p:nvPr/>
        </p:nvSpPr>
        <p:spPr>
          <a:xfrm>
            <a:off x="639720" y="4479840"/>
            <a:ext cx="10882440" cy="11890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smtClean="0">
                <a:solidFill>
                  <a:srgbClr val="C9BBA8"/>
                </a:solidFill>
                <a:latin typeface="Calibri"/>
                <a:ea typeface="Calibri"/>
              </a:rPr>
              <a:t>Example</a:t>
            </a:r>
            <a:r>
              <a:rPr lang="en-US" sz="2000" b="0" strike="noStrike" spc="-1" dirty="0">
                <a:solidFill>
                  <a:srgbClr val="C9BBA8"/>
                </a:solidFill>
                <a:latin typeface="Calibri"/>
                <a:ea typeface="Calibri"/>
              </a:rPr>
              <a:t>: think of your local market — vegetable vendors grow and sell produce, tailors stitch and sell clothes, customers buy with money earned from their own jobs. Multiply this by millions of towns and cities, and you get a country's economy.</a:t>
            </a:r>
            <a:endParaRPr lang="en-US" sz="2000" b="0" strike="noStrike" spc="-1" dirty="0">
              <a:solidFill>
                <a:srgbClr val="000000"/>
              </a:solidFill>
              <a:latin typeface="Arial"/>
            </a:endParaRPr>
          </a:p>
        </p:txBody>
      </p:sp>
      <p:sp>
        <p:nvSpPr>
          <p:cNvPr id="92" name="Text 7"/>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Introduction</a:t>
            </a:r>
            <a:endParaRPr lang="en-US" sz="1000" b="0" strike="noStrike" spc="-1">
              <a:solidFill>
                <a:srgbClr val="000000"/>
              </a:solidFill>
              <a:latin typeface="Arial"/>
            </a:endParaRPr>
          </a:p>
        </p:txBody>
      </p:sp>
      <p:sp>
        <p:nvSpPr>
          <p:cNvPr id="93" name="Text 8"/>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5</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95"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Types of Economies</a:t>
            </a:r>
            <a:endParaRPr lang="en-US" sz="2900" b="0" strike="noStrike" spc="-1">
              <a:solidFill>
                <a:srgbClr val="000000"/>
              </a:solidFill>
              <a:latin typeface="Arial"/>
            </a:endParaRPr>
          </a:p>
        </p:txBody>
      </p:sp>
      <p:sp>
        <p:nvSpPr>
          <p:cNvPr id="96" name="Shape 2"/>
          <p:cNvSpPr/>
          <p:nvPr/>
        </p:nvSpPr>
        <p:spPr>
          <a:xfrm>
            <a:off x="549360" y="1736640"/>
            <a:ext cx="3565440" cy="4160880"/>
          </a:xfrm>
          <a:custGeom>
            <a:avLst/>
            <a:gdLst>
              <a:gd name="textAreaLeft" fmla="*/ 21240 w 3565440"/>
              <a:gd name="textAreaRight" fmla="*/ 3544200 w 3565440"/>
              <a:gd name="textAreaTop" fmla="*/ 21240 h 4160880"/>
              <a:gd name="textAreaBottom" fmla="*/ 4139640 h 4160880"/>
            </a:gdLst>
            <a:ahLst/>
            <a:cxnLst/>
            <a:rect l="textAreaLeft" t="textAreaTop" r="textAreaRight" b="textAreaBottom"/>
            <a:pathLst>
              <a:path w="21600" h="25207">
                <a:moveTo>
                  <a:pt x="443" y="0"/>
                </a:moveTo>
                <a:arcTo wR="443" hR="443" stAng="16200000" swAng="-5400000"/>
                <a:lnTo>
                  <a:pt x="0" y="24764"/>
                </a:lnTo>
                <a:arcTo wR="443" hR="443" stAng="10800000" swAng="-5400000"/>
                <a:lnTo>
                  <a:pt x="21157" y="25207"/>
                </a:lnTo>
                <a:arcTo wR="443" hR="443" stAng="5400000" swAng="-5400000"/>
                <a:lnTo>
                  <a:pt x="21600" y="443"/>
                </a:lnTo>
                <a:arcTo wR="443" hR="443" stAng="0" swAng="-5400000"/>
                <a:close/>
              </a:path>
            </a:pathLst>
          </a:cu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97" name="Shape 3"/>
          <p:cNvSpPr/>
          <p:nvPr/>
        </p:nvSpPr>
        <p:spPr>
          <a:xfrm>
            <a:off x="549360" y="1736640"/>
            <a:ext cx="3565440" cy="73080"/>
          </a:xfrm>
          <a:prstGeom prst="rect">
            <a:avLst/>
          </a:prstGeom>
          <a:solidFill>
            <a:srgbClr val="E0A526"/>
          </a:solidFill>
          <a:ln w="0">
            <a:noFill/>
          </a:ln>
        </p:spPr>
        <p:style>
          <a:lnRef idx="0">
            <a:scrgbClr r="0" g="0" b="0"/>
          </a:lnRef>
          <a:fillRef idx="0">
            <a:scrgbClr r="0" g="0" b="0"/>
          </a:fillRef>
          <a:effectRef idx="0">
            <a:scrgbClr r="0" g="0" b="0"/>
          </a:effectRef>
          <a:fontRef idx="minor"/>
        </p:style>
        <p:txBody>
          <a:bodyPr lIns="90000" tIns="26280" rIns="90000" bIns="2628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98" name="Text 4"/>
          <p:cNvSpPr/>
          <p:nvPr/>
        </p:nvSpPr>
        <p:spPr>
          <a:xfrm>
            <a:off x="804960" y="2011320"/>
            <a:ext cx="3062160" cy="5493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Market Economy</a:t>
            </a:r>
            <a:endParaRPr lang="en-US" sz="1600" b="0" strike="noStrike" spc="-1">
              <a:solidFill>
                <a:srgbClr val="000000"/>
              </a:solidFill>
              <a:latin typeface="Arial"/>
            </a:endParaRPr>
          </a:p>
        </p:txBody>
      </p:sp>
      <p:sp>
        <p:nvSpPr>
          <p:cNvPr id="99" name="Text 5"/>
          <p:cNvSpPr/>
          <p:nvPr/>
        </p:nvSpPr>
        <p:spPr>
          <a:xfrm>
            <a:off x="804960" y="2606760"/>
            <a:ext cx="3062160" cy="1004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Driven by supply and demand, with minimal government intervention.</a:t>
            </a:r>
            <a:endParaRPr lang="en-US" b="0" strike="noStrike" spc="-1" dirty="0">
              <a:solidFill>
                <a:srgbClr val="000000"/>
              </a:solidFill>
              <a:latin typeface="Arial"/>
            </a:endParaRPr>
          </a:p>
        </p:txBody>
      </p:sp>
      <p:sp>
        <p:nvSpPr>
          <p:cNvPr id="100" name="Shape 6"/>
          <p:cNvSpPr/>
          <p:nvPr/>
        </p:nvSpPr>
        <p:spPr>
          <a:xfrm>
            <a:off x="804960" y="3657600"/>
            <a:ext cx="3062160" cy="0"/>
          </a:xfrm>
          <a:prstGeom prst="line">
            <a:avLst/>
          </a:prstGeom>
          <a:ln w="12600">
            <a:solidFill>
              <a:srgbClr val="E3DDD3"/>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01" name="Text 7"/>
          <p:cNvSpPr/>
          <p:nvPr/>
        </p:nvSpPr>
        <p:spPr>
          <a:xfrm>
            <a:off x="804960" y="3840120"/>
            <a:ext cx="3062160" cy="1920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strike="noStrike" spc="-1" dirty="0">
                <a:solidFill>
                  <a:srgbClr val="6E6660"/>
                </a:solidFill>
                <a:latin typeface="Calibri"/>
                <a:ea typeface="Calibri"/>
              </a:rPr>
              <a:t>Example: prices of vegetables in a local </a:t>
            </a:r>
            <a:r>
              <a:rPr lang="en-US" sz="1600" b="0" i="1" strike="noStrike" spc="-1" dirty="0" smtClean="0">
                <a:solidFill>
                  <a:srgbClr val="6E6660"/>
                </a:solidFill>
                <a:latin typeface="Calibri"/>
                <a:ea typeface="Calibri"/>
              </a:rPr>
              <a:t>market </a:t>
            </a:r>
            <a:r>
              <a:rPr lang="en-US" sz="1600" b="0" i="1" strike="noStrike" spc="-1" dirty="0">
                <a:solidFill>
                  <a:srgbClr val="6E6660"/>
                </a:solidFill>
                <a:latin typeface="Calibri"/>
                <a:ea typeface="Calibri"/>
              </a:rPr>
              <a:t>shift daily based on how much is grown and how much people want to buy.</a:t>
            </a:r>
            <a:endParaRPr lang="en-US" sz="1600" b="0" strike="noStrike" spc="-1" dirty="0">
              <a:solidFill>
                <a:srgbClr val="000000"/>
              </a:solidFill>
              <a:latin typeface="Arial"/>
            </a:endParaRPr>
          </a:p>
        </p:txBody>
      </p:sp>
      <p:sp>
        <p:nvSpPr>
          <p:cNvPr id="102" name="Shape 8"/>
          <p:cNvSpPr/>
          <p:nvPr/>
        </p:nvSpPr>
        <p:spPr>
          <a:xfrm>
            <a:off x="4343400" y="1736640"/>
            <a:ext cx="3565440" cy="4160880"/>
          </a:xfrm>
          <a:custGeom>
            <a:avLst/>
            <a:gdLst>
              <a:gd name="textAreaLeft" fmla="*/ 21240 w 3565440"/>
              <a:gd name="textAreaRight" fmla="*/ 3544200 w 3565440"/>
              <a:gd name="textAreaTop" fmla="*/ 21240 h 4160880"/>
              <a:gd name="textAreaBottom" fmla="*/ 4139640 h 4160880"/>
            </a:gdLst>
            <a:ahLst/>
            <a:cxnLst/>
            <a:rect l="textAreaLeft" t="textAreaTop" r="textAreaRight" b="textAreaBottom"/>
            <a:pathLst>
              <a:path w="21600" h="25207">
                <a:moveTo>
                  <a:pt x="443" y="0"/>
                </a:moveTo>
                <a:arcTo wR="443" hR="443" stAng="16200000" swAng="-5400000"/>
                <a:lnTo>
                  <a:pt x="0" y="24764"/>
                </a:lnTo>
                <a:arcTo wR="443" hR="443" stAng="10800000" swAng="-5400000"/>
                <a:lnTo>
                  <a:pt x="21157" y="25207"/>
                </a:lnTo>
                <a:arcTo wR="443" hR="443" stAng="5400000" swAng="-5400000"/>
                <a:lnTo>
                  <a:pt x="21600" y="443"/>
                </a:lnTo>
                <a:arcTo wR="443" hR="443" stAng="0" swAng="-5400000"/>
                <a:close/>
              </a:path>
            </a:pathLst>
          </a:cu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03" name="Shape 9"/>
          <p:cNvSpPr/>
          <p:nvPr/>
        </p:nvSpPr>
        <p:spPr>
          <a:xfrm>
            <a:off x="4343400" y="1736640"/>
            <a:ext cx="3565440" cy="73080"/>
          </a:xfrm>
          <a:prstGeom prst="rect">
            <a:avLst/>
          </a:prstGeom>
          <a:solidFill>
            <a:srgbClr val="7A2E2E"/>
          </a:solidFill>
          <a:ln w="0">
            <a:noFill/>
          </a:ln>
        </p:spPr>
        <p:style>
          <a:lnRef idx="0">
            <a:scrgbClr r="0" g="0" b="0"/>
          </a:lnRef>
          <a:fillRef idx="0">
            <a:scrgbClr r="0" g="0" b="0"/>
          </a:fillRef>
          <a:effectRef idx="0">
            <a:scrgbClr r="0" g="0" b="0"/>
          </a:effectRef>
          <a:fontRef idx="minor"/>
        </p:style>
        <p:txBody>
          <a:bodyPr lIns="90000" tIns="26280" rIns="90000" bIns="2628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04" name="Text 10"/>
          <p:cNvSpPr/>
          <p:nvPr/>
        </p:nvSpPr>
        <p:spPr>
          <a:xfrm>
            <a:off x="4599000" y="2011320"/>
            <a:ext cx="3063960" cy="5493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232323"/>
                </a:solidFill>
                <a:latin typeface="Cambria"/>
              </a:rPr>
              <a:t>Command Economy</a:t>
            </a:r>
            <a:endParaRPr lang="en-US" sz="1600" b="0" strike="noStrike" spc="-1">
              <a:solidFill>
                <a:srgbClr val="000000"/>
              </a:solidFill>
              <a:latin typeface="Arial"/>
            </a:endParaRPr>
          </a:p>
        </p:txBody>
      </p:sp>
      <p:sp>
        <p:nvSpPr>
          <p:cNvPr id="105" name="Text 11"/>
          <p:cNvSpPr/>
          <p:nvPr/>
        </p:nvSpPr>
        <p:spPr>
          <a:xfrm>
            <a:off x="4599000" y="2606760"/>
            <a:ext cx="3063960" cy="1004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Centrally planned — the government controls what is produced and distributed.</a:t>
            </a:r>
            <a:endParaRPr lang="en-US" b="0" strike="noStrike" spc="-1" dirty="0">
              <a:solidFill>
                <a:srgbClr val="000000"/>
              </a:solidFill>
              <a:latin typeface="Arial"/>
            </a:endParaRPr>
          </a:p>
        </p:txBody>
      </p:sp>
      <p:sp>
        <p:nvSpPr>
          <p:cNvPr id="106" name="Shape 12"/>
          <p:cNvSpPr/>
          <p:nvPr/>
        </p:nvSpPr>
        <p:spPr>
          <a:xfrm>
            <a:off x="4599000" y="3657600"/>
            <a:ext cx="3063960" cy="0"/>
          </a:xfrm>
          <a:prstGeom prst="line">
            <a:avLst/>
          </a:prstGeom>
          <a:ln w="12600">
            <a:solidFill>
              <a:srgbClr val="E3DDD3"/>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07" name="Text 13"/>
          <p:cNvSpPr/>
          <p:nvPr/>
        </p:nvSpPr>
        <p:spPr>
          <a:xfrm>
            <a:off x="4599000" y="3840120"/>
            <a:ext cx="3063960" cy="1920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strike="noStrike" spc="-1" dirty="0">
                <a:solidFill>
                  <a:srgbClr val="6E6660"/>
                </a:solidFill>
                <a:latin typeface="Calibri"/>
                <a:ea typeface="Calibri"/>
              </a:rPr>
              <a:t>Example: the erstwhile Soviet Union, where the state decided factory output and prices rather than the market.</a:t>
            </a:r>
            <a:endParaRPr lang="en-US" sz="1600" b="0" strike="noStrike" spc="-1" dirty="0">
              <a:solidFill>
                <a:srgbClr val="000000"/>
              </a:solidFill>
              <a:latin typeface="Arial"/>
            </a:endParaRPr>
          </a:p>
        </p:txBody>
      </p:sp>
      <p:sp>
        <p:nvSpPr>
          <p:cNvPr id="108" name="Shape 14"/>
          <p:cNvSpPr/>
          <p:nvPr/>
        </p:nvSpPr>
        <p:spPr>
          <a:xfrm>
            <a:off x="8137440" y="1736640"/>
            <a:ext cx="3567240" cy="4160880"/>
          </a:xfrm>
          <a:custGeom>
            <a:avLst/>
            <a:gdLst>
              <a:gd name="textAreaLeft" fmla="*/ 21240 w 3567240"/>
              <a:gd name="textAreaRight" fmla="*/ 3546000 w 3567240"/>
              <a:gd name="textAreaTop" fmla="*/ 21240 h 4160880"/>
              <a:gd name="textAreaBottom" fmla="*/ 4139640 h 4160880"/>
            </a:gdLst>
            <a:ahLst/>
            <a:cxnLst/>
            <a:rect l="textAreaLeft" t="textAreaTop" r="textAreaRight" b="textAreaBottom"/>
            <a:pathLst>
              <a:path w="21600" h="25194">
                <a:moveTo>
                  <a:pt x="443" y="0"/>
                </a:moveTo>
                <a:arcTo wR="443" hR="443" stAng="16200000" swAng="-5400000"/>
                <a:lnTo>
                  <a:pt x="0" y="24751"/>
                </a:lnTo>
                <a:arcTo wR="443" hR="443" stAng="10800000" swAng="-5400000"/>
                <a:lnTo>
                  <a:pt x="21157" y="25194"/>
                </a:lnTo>
                <a:arcTo wR="443" hR="443" stAng="5400000" swAng="-5400000"/>
                <a:lnTo>
                  <a:pt x="21600" y="443"/>
                </a:lnTo>
                <a:arcTo wR="443" hR="443" stAng="0" swAng="-5400000"/>
                <a:close/>
              </a:path>
            </a:pathLst>
          </a:custGeom>
          <a:solidFill>
            <a:srgbClr val="23232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09" name="Shape 15"/>
          <p:cNvSpPr/>
          <p:nvPr/>
        </p:nvSpPr>
        <p:spPr>
          <a:xfrm>
            <a:off x="8137440" y="1736640"/>
            <a:ext cx="3567240" cy="73080"/>
          </a:xfrm>
          <a:prstGeom prst="rect">
            <a:avLst/>
          </a:prstGeom>
          <a:solidFill>
            <a:srgbClr val="4A5A44"/>
          </a:solidFill>
          <a:ln w="0">
            <a:noFill/>
          </a:ln>
        </p:spPr>
        <p:style>
          <a:lnRef idx="0">
            <a:scrgbClr r="0" g="0" b="0"/>
          </a:lnRef>
          <a:fillRef idx="0">
            <a:scrgbClr r="0" g="0" b="0"/>
          </a:fillRef>
          <a:effectRef idx="0">
            <a:scrgbClr r="0" g="0" b="0"/>
          </a:effectRef>
          <a:fontRef idx="minor"/>
        </p:style>
        <p:txBody>
          <a:bodyPr lIns="90000" tIns="26280" rIns="90000" bIns="2628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10" name="Text 16"/>
          <p:cNvSpPr/>
          <p:nvPr/>
        </p:nvSpPr>
        <p:spPr>
          <a:xfrm>
            <a:off x="8394840" y="2011320"/>
            <a:ext cx="3062160" cy="5493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a:solidFill>
                  <a:srgbClr val="E0A526"/>
                </a:solidFill>
                <a:latin typeface="Cambria"/>
              </a:rPr>
              <a:t>Mixed Economy</a:t>
            </a:r>
            <a:endParaRPr lang="en-US" sz="1600" b="0" strike="noStrike" spc="-1">
              <a:solidFill>
                <a:srgbClr val="000000"/>
              </a:solidFill>
              <a:latin typeface="Arial"/>
            </a:endParaRPr>
          </a:p>
        </p:txBody>
      </p:sp>
      <p:sp>
        <p:nvSpPr>
          <p:cNvPr id="111" name="Text 17"/>
          <p:cNvSpPr/>
          <p:nvPr/>
        </p:nvSpPr>
        <p:spPr>
          <a:xfrm>
            <a:off x="8394840" y="2606760"/>
            <a:ext cx="3062160" cy="1004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FFFFFF"/>
                </a:solidFill>
                <a:latin typeface="Calibri"/>
                <a:ea typeface="Calibri"/>
              </a:rPr>
              <a:t>Combines market and government elements — the most common system in the world today.</a:t>
            </a:r>
            <a:endParaRPr lang="en-US" b="0" strike="noStrike" spc="-1" dirty="0">
              <a:solidFill>
                <a:srgbClr val="000000"/>
              </a:solidFill>
              <a:latin typeface="Arial"/>
            </a:endParaRPr>
          </a:p>
        </p:txBody>
      </p:sp>
      <p:sp>
        <p:nvSpPr>
          <p:cNvPr id="112" name="Shape 18"/>
          <p:cNvSpPr/>
          <p:nvPr/>
        </p:nvSpPr>
        <p:spPr>
          <a:xfrm>
            <a:off x="8394840" y="3657600"/>
            <a:ext cx="3062160" cy="0"/>
          </a:xfrm>
          <a:prstGeom prst="line">
            <a:avLst/>
          </a:prstGeom>
          <a:ln w="12600">
            <a:solidFill>
              <a:srgbClr val="4A4A4A"/>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13" name="Text 19"/>
          <p:cNvSpPr/>
          <p:nvPr/>
        </p:nvSpPr>
        <p:spPr>
          <a:xfrm>
            <a:off x="8394840" y="3840120"/>
            <a:ext cx="3062160" cy="1920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strike="noStrike" spc="-1" dirty="0">
                <a:solidFill>
                  <a:srgbClr val="C9BBA8"/>
                </a:solidFill>
                <a:latin typeface="Calibri"/>
                <a:ea typeface="Calibri"/>
              </a:rPr>
              <a:t>India example: private companies compete freely (UPI-based </a:t>
            </a:r>
            <a:r>
              <a:rPr lang="en-US" sz="1600" b="0" i="1" strike="noStrike" spc="-1" dirty="0" err="1">
                <a:solidFill>
                  <a:srgbClr val="C9BBA8"/>
                </a:solidFill>
                <a:latin typeface="Calibri"/>
                <a:ea typeface="Calibri"/>
              </a:rPr>
              <a:t>fintech</a:t>
            </a:r>
            <a:r>
              <a:rPr lang="en-US" sz="1600" b="0" i="1" strike="noStrike" spc="-1" dirty="0">
                <a:solidFill>
                  <a:srgbClr val="C9BBA8"/>
                </a:solidFill>
                <a:latin typeface="Calibri"/>
                <a:ea typeface="Calibri"/>
              </a:rPr>
              <a:t>, e-commerce), while the government runs railways and public sector banks.</a:t>
            </a:r>
            <a:endParaRPr lang="en-US" sz="1600" b="0" strike="noStrike" spc="-1" dirty="0">
              <a:solidFill>
                <a:srgbClr val="000000"/>
              </a:solidFill>
              <a:latin typeface="Arial"/>
            </a:endParaRPr>
          </a:p>
        </p:txBody>
      </p:sp>
      <p:sp>
        <p:nvSpPr>
          <p:cNvPr id="114" name="Text 20"/>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115" name="Text 21"/>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6</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sp>
        <p:nvSpPr>
          <p:cNvPr id="116"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117"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The Circular Flow of the Economy</a:t>
            </a:r>
            <a:endParaRPr lang="en-US" sz="2900" b="0" strike="noStrike" spc="-1">
              <a:solidFill>
                <a:srgbClr val="000000"/>
              </a:solidFill>
              <a:latin typeface="Arial"/>
            </a:endParaRPr>
          </a:p>
        </p:txBody>
      </p:sp>
      <p:sp>
        <p:nvSpPr>
          <p:cNvPr id="118" name="Text 2"/>
          <p:cNvSpPr/>
          <p:nvPr/>
        </p:nvSpPr>
        <p:spPr>
          <a:xfrm>
            <a:off x="549360" y="1646280"/>
            <a:ext cx="10972800" cy="547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strike="noStrike" spc="-1">
                <a:solidFill>
                  <a:srgbClr val="2A2A2A"/>
                </a:solidFill>
                <a:latin typeface="Calibri"/>
                <a:ea typeface="Calibri"/>
              </a:rPr>
              <a:t>Households and firms depend on each other in a continuous loop — money and goods keep moving between them.</a:t>
            </a:r>
            <a:endParaRPr lang="en-US" sz="1400" b="0" strike="noStrike" spc="-1">
              <a:solidFill>
                <a:srgbClr val="000000"/>
              </a:solidFill>
              <a:latin typeface="Arial"/>
            </a:endParaRPr>
          </a:p>
        </p:txBody>
      </p:sp>
      <p:sp>
        <p:nvSpPr>
          <p:cNvPr id="119" name="Shape 3"/>
          <p:cNvSpPr/>
          <p:nvPr/>
        </p:nvSpPr>
        <p:spPr>
          <a:xfrm>
            <a:off x="914400" y="3017880"/>
            <a:ext cx="3108240" cy="1371600"/>
          </a:xfrm>
          <a:prstGeom prst="roundRect">
            <a:avLst>
              <a:gd name="adj" fmla="val 5333"/>
            </a:avLst>
          </a:prstGeom>
          <a:solidFill>
            <a:srgbClr val="23232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20" name="Text 4"/>
          <p:cNvSpPr/>
          <p:nvPr/>
        </p:nvSpPr>
        <p:spPr>
          <a:xfrm>
            <a:off x="914400" y="3246480"/>
            <a:ext cx="31082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FFFFFF"/>
                </a:solidFill>
                <a:latin typeface="Cambria"/>
              </a:rPr>
              <a:t>HOUSEHOLDS</a:t>
            </a:r>
            <a:endParaRPr lang="en-US" sz="1500" b="0" strike="noStrike" spc="-1">
              <a:solidFill>
                <a:srgbClr val="000000"/>
              </a:solidFill>
              <a:latin typeface="Arial"/>
            </a:endParaRPr>
          </a:p>
        </p:txBody>
      </p:sp>
      <p:sp>
        <p:nvSpPr>
          <p:cNvPr id="121" name="Text 5"/>
          <p:cNvSpPr/>
          <p:nvPr/>
        </p:nvSpPr>
        <p:spPr>
          <a:xfrm>
            <a:off x="1050840" y="3657600"/>
            <a:ext cx="2835360" cy="6397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C9BBA8"/>
                </a:solidFill>
                <a:latin typeface="Calibri"/>
                <a:ea typeface="Calibri"/>
              </a:rPr>
              <a:t>Workers who earn income</a:t>
            </a:r>
            <a:endParaRPr lang="en-US" sz="1100" b="0" strike="noStrike" spc="-1">
              <a:solidFill>
                <a:srgbClr val="000000"/>
              </a:solidFill>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C9BBA8"/>
                </a:solidFill>
                <a:latin typeface="Calibri"/>
                <a:ea typeface="Calibri"/>
              </a:rPr>
              <a:t>and spend it on goods</a:t>
            </a:r>
            <a:endParaRPr lang="en-US" sz="1100" b="0" strike="noStrike" spc="-1">
              <a:solidFill>
                <a:srgbClr val="000000"/>
              </a:solidFill>
              <a:latin typeface="Arial"/>
            </a:endParaRPr>
          </a:p>
        </p:txBody>
      </p:sp>
      <p:sp>
        <p:nvSpPr>
          <p:cNvPr id="122" name="Shape 6"/>
          <p:cNvSpPr/>
          <p:nvPr/>
        </p:nvSpPr>
        <p:spPr>
          <a:xfrm>
            <a:off x="8166240" y="3017880"/>
            <a:ext cx="3108240" cy="1371600"/>
          </a:xfrm>
          <a:prstGeom prst="roundRect">
            <a:avLst>
              <a:gd name="adj" fmla="val 5333"/>
            </a:avLst>
          </a:prstGeom>
          <a:solidFill>
            <a:srgbClr val="7A2E2E"/>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23" name="Text 7"/>
          <p:cNvSpPr/>
          <p:nvPr/>
        </p:nvSpPr>
        <p:spPr>
          <a:xfrm>
            <a:off x="8166240" y="3246480"/>
            <a:ext cx="31082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FFFFFF"/>
                </a:solidFill>
                <a:latin typeface="Cambria"/>
              </a:rPr>
              <a:t>FIRMS</a:t>
            </a:r>
            <a:endParaRPr lang="en-US" sz="1500" b="0" strike="noStrike" spc="-1">
              <a:solidFill>
                <a:srgbClr val="000000"/>
              </a:solidFill>
              <a:latin typeface="Arial"/>
            </a:endParaRPr>
          </a:p>
        </p:txBody>
      </p:sp>
      <p:sp>
        <p:nvSpPr>
          <p:cNvPr id="124" name="Text 8"/>
          <p:cNvSpPr/>
          <p:nvPr/>
        </p:nvSpPr>
        <p:spPr>
          <a:xfrm>
            <a:off x="8302680" y="3657600"/>
            <a:ext cx="2835360" cy="6397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F0E2E2"/>
                </a:solidFill>
                <a:latin typeface="Calibri"/>
                <a:ea typeface="Calibri"/>
              </a:rPr>
              <a:t>Businesses that hire workers</a:t>
            </a:r>
            <a:endParaRPr lang="en-US" sz="1100" b="0" strike="noStrike" spc="-1">
              <a:solidFill>
                <a:srgbClr val="000000"/>
              </a:solidFill>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F0E2E2"/>
                </a:solidFill>
                <a:latin typeface="Calibri"/>
                <a:ea typeface="Calibri"/>
              </a:rPr>
              <a:t>and sell goods &amp; services</a:t>
            </a:r>
            <a:endParaRPr lang="en-US" sz="1100" b="0" strike="noStrike" spc="-1">
              <a:solidFill>
                <a:srgbClr val="000000"/>
              </a:solidFill>
              <a:latin typeface="Arial"/>
            </a:endParaRPr>
          </a:p>
        </p:txBody>
      </p:sp>
      <p:sp>
        <p:nvSpPr>
          <p:cNvPr id="125" name="Shape 9"/>
          <p:cNvSpPr/>
          <p:nvPr/>
        </p:nvSpPr>
        <p:spPr>
          <a:xfrm>
            <a:off x="4251240" y="2514600"/>
            <a:ext cx="3686400" cy="384120"/>
          </a:xfrm>
          <a:prstGeom prst="rightArrow">
            <a:avLst>
              <a:gd name="adj1" fmla="val 50000"/>
              <a:gd name="adj2" fmla="val 50029"/>
            </a:avLst>
          </a:prstGeom>
          <a:solidFill>
            <a:srgbClr val="E0A52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26" name="Text 10"/>
          <p:cNvSpPr/>
          <p:nvPr/>
        </p:nvSpPr>
        <p:spPr>
          <a:xfrm>
            <a:off x="4114800" y="2103480"/>
            <a:ext cx="44164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i="1" strike="noStrike" spc="-1">
                <a:solidFill>
                  <a:srgbClr val="6E6660"/>
                </a:solidFill>
                <a:latin typeface="Calibri"/>
                <a:ea typeface="Calibri"/>
              </a:rPr>
              <a:t>Money spent buying goods &amp; services</a:t>
            </a:r>
            <a:endParaRPr lang="en-US" sz="1100" b="0" strike="noStrike" spc="-1">
              <a:solidFill>
                <a:srgbClr val="000000"/>
              </a:solidFill>
              <a:latin typeface="Arial"/>
            </a:endParaRPr>
          </a:p>
        </p:txBody>
      </p:sp>
      <p:sp>
        <p:nvSpPr>
          <p:cNvPr id="127" name="Shape 11"/>
          <p:cNvSpPr/>
          <p:nvPr/>
        </p:nvSpPr>
        <p:spPr>
          <a:xfrm>
            <a:off x="4251240" y="4525920"/>
            <a:ext cx="3686400" cy="384120"/>
          </a:xfrm>
          <a:prstGeom prst="leftArrow">
            <a:avLst>
              <a:gd name="adj1" fmla="val 50000"/>
              <a:gd name="adj2" fmla="val 50029"/>
            </a:avLst>
          </a:prstGeom>
          <a:solidFill>
            <a:srgbClr val="5E735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28" name="Text 12"/>
          <p:cNvSpPr/>
          <p:nvPr/>
        </p:nvSpPr>
        <p:spPr>
          <a:xfrm>
            <a:off x="4114800" y="4983120"/>
            <a:ext cx="4416480" cy="3668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i="1" strike="noStrike" spc="-1">
                <a:solidFill>
                  <a:srgbClr val="6E6660"/>
                </a:solidFill>
                <a:latin typeface="Calibri"/>
                <a:ea typeface="Calibri"/>
              </a:rPr>
              <a:t>Wages, salaries, rent &amp; profit paid to households</a:t>
            </a:r>
            <a:endParaRPr lang="en-US" sz="1100" b="0" strike="noStrike" spc="-1">
              <a:solidFill>
                <a:srgbClr val="000000"/>
              </a:solidFill>
              <a:latin typeface="Arial"/>
            </a:endParaRPr>
          </a:p>
        </p:txBody>
      </p:sp>
      <p:sp>
        <p:nvSpPr>
          <p:cNvPr id="129" name="Text 13"/>
          <p:cNvSpPr/>
          <p:nvPr/>
        </p:nvSpPr>
        <p:spPr>
          <a:xfrm>
            <a:off x="549360" y="5989680"/>
            <a:ext cx="10972800" cy="5032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i="1" strike="noStrike" spc="-1">
                <a:solidFill>
                  <a:srgbClr val="6E6660"/>
                </a:solidFill>
                <a:latin typeface="Calibri"/>
                <a:ea typeface="Calibri"/>
              </a:rPr>
              <a:t>Example: an IT employee in Bengaluru earns a salary (income) from a firm, then spends part of it on rent, groceries, and an OTT subscription — feeding money straight back to other firms.</a:t>
            </a:r>
            <a:endParaRPr lang="en-US" sz="1200" b="0" strike="noStrike" spc="-1">
              <a:solidFill>
                <a:srgbClr val="000000"/>
              </a:solidFill>
              <a:latin typeface="Arial"/>
            </a:endParaRPr>
          </a:p>
        </p:txBody>
      </p:sp>
      <p:sp>
        <p:nvSpPr>
          <p:cNvPr id="130" name="Text 14"/>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131" name="Text 15"/>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7</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133"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Economics: A Formal Definition</a:t>
            </a:r>
            <a:endParaRPr lang="en-US" sz="2900" b="0" strike="noStrike" spc="-1">
              <a:solidFill>
                <a:srgbClr val="000000"/>
              </a:solidFill>
              <a:latin typeface="Arial"/>
            </a:endParaRPr>
          </a:p>
        </p:txBody>
      </p:sp>
      <p:sp>
        <p:nvSpPr>
          <p:cNvPr id="134" name="Shape 2"/>
          <p:cNvSpPr/>
          <p:nvPr/>
        </p:nvSpPr>
        <p:spPr>
          <a:xfrm>
            <a:off x="549360" y="1828800"/>
            <a:ext cx="11063160" cy="2193840"/>
          </a:xfrm>
          <a:prstGeom prst="roundRect">
            <a:avLst>
              <a:gd name="adj" fmla="val 3333"/>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35" name="Text 3"/>
          <p:cNvSpPr/>
          <p:nvPr/>
        </p:nvSpPr>
        <p:spPr>
          <a:xfrm>
            <a:off x="914400" y="2057400"/>
            <a:ext cx="10423440" cy="1736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strike="noStrike" spc="-1" dirty="0">
                <a:solidFill>
                  <a:srgbClr val="232323"/>
                </a:solidFill>
                <a:latin typeface="Cambria"/>
              </a:rPr>
              <a:t>Economics is the social science that studies the behaviour of individuals, businesses, and societies concerning the production, distribution, and consumption of goods and services.</a:t>
            </a:r>
            <a:endParaRPr lang="en-US" sz="2400" b="0" strike="noStrike" spc="-1" dirty="0">
              <a:solidFill>
                <a:srgbClr val="000000"/>
              </a:solidFill>
              <a:latin typeface="Arial"/>
            </a:endParaRPr>
          </a:p>
        </p:txBody>
      </p:sp>
      <p:sp>
        <p:nvSpPr>
          <p:cNvPr id="136" name="Shape 4"/>
          <p:cNvSpPr/>
          <p:nvPr/>
        </p:nvSpPr>
        <p:spPr>
          <a:xfrm>
            <a:off x="549360" y="4343400"/>
            <a:ext cx="3565440" cy="1554120"/>
          </a:xfrm>
          <a:prstGeom prst="roundRect">
            <a:avLst>
              <a:gd name="adj" fmla="val 4704"/>
            </a:avLst>
          </a:prstGeom>
          <a:solidFill>
            <a:srgbClr val="23232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37" name="Text 5"/>
          <p:cNvSpPr/>
          <p:nvPr/>
        </p:nvSpPr>
        <p:spPr>
          <a:xfrm>
            <a:off x="777960" y="4525920"/>
            <a:ext cx="3108240" cy="4111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E0A526"/>
                </a:solidFill>
                <a:latin typeface="Cambria"/>
              </a:rPr>
              <a:t>Production</a:t>
            </a:r>
            <a:endParaRPr lang="en-US" sz="1500" b="0" strike="noStrike" spc="-1">
              <a:solidFill>
                <a:srgbClr val="000000"/>
              </a:solidFill>
              <a:latin typeface="Arial"/>
            </a:endParaRPr>
          </a:p>
        </p:txBody>
      </p:sp>
      <p:sp>
        <p:nvSpPr>
          <p:cNvPr id="138" name="Text 6"/>
          <p:cNvSpPr/>
          <p:nvPr/>
        </p:nvSpPr>
        <p:spPr>
          <a:xfrm>
            <a:off x="777960" y="4937040"/>
            <a:ext cx="3108240" cy="8701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strike="noStrike" spc="-1" dirty="0">
                <a:solidFill>
                  <a:srgbClr val="C9BBA8"/>
                </a:solidFill>
                <a:latin typeface="Calibri"/>
                <a:ea typeface="Calibri"/>
              </a:rPr>
              <a:t>How goods get made — a textile mill weaving cloth</a:t>
            </a:r>
            <a:endParaRPr lang="en-US" sz="1400" b="0" strike="noStrike" spc="-1" dirty="0">
              <a:solidFill>
                <a:srgbClr val="000000"/>
              </a:solidFill>
              <a:latin typeface="Arial"/>
            </a:endParaRPr>
          </a:p>
        </p:txBody>
      </p:sp>
      <p:sp>
        <p:nvSpPr>
          <p:cNvPr id="139" name="Shape 7"/>
          <p:cNvSpPr/>
          <p:nvPr/>
        </p:nvSpPr>
        <p:spPr>
          <a:xfrm>
            <a:off x="4343400" y="4343400"/>
            <a:ext cx="3565440" cy="1554120"/>
          </a:xfrm>
          <a:prstGeom prst="roundRect">
            <a:avLst>
              <a:gd name="adj" fmla="val 4704"/>
            </a:avLst>
          </a:prstGeom>
          <a:solidFill>
            <a:srgbClr val="23232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40" name="Text 8"/>
          <p:cNvSpPr/>
          <p:nvPr/>
        </p:nvSpPr>
        <p:spPr>
          <a:xfrm>
            <a:off x="4572000" y="4525920"/>
            <a:ext cx="3108240" cy="4111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E0A526"/>
                </a:solidFill>
                <a:latin typeface="Cambria"/>
              </a:rPr>
              <a:t>Distribution</a:t>
            </a:r>
            <a:endParaRPr lang="en-US" sz="1500" b="0" strike="noStrike" spc="-1">
              <a:solidFill>
                <a:srgbClr val="000000"/>
              </a:solidFill>
              <a:latin typeface="Arial"/>
            </a:endParaRPr>
          </a:p>
        </p:txBody>
      </p:sp>
      <p:sp>
        <p:nvSpPr>
          <p:cNvPr id="141" name="Text 9"/>
          <p:cNvSpPr/>
          <p:nvPr/>
        </p:nvSpPr>
        <p:spPr>
          <a:xfrm>
            <a:off x="4572000" y="4937040"/>
            <a:ext cx="3108240" cy="8701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strike="noStrike" spc="-1" dirty="0">
                <a:solidFill>
                  <a:srgbClr val="C9BBA8"/>
                </a:solidFill>
                <a:latin typeface="Calibri"/>
                <a:ea typeface="Calibri"/>
              </a:rPr>
              <a:t>How goods reach people — a delivery app bringing groceries to your door</a:t>
            </a:r>
            <a:endParaRPr lang="en-US" sz="1400" b="0" strike="noStrike" spc="-1" dirty="0">
              <a:solidFill>
                <a:srgbClr val="000000"/>
              </a:solidFill>
              <a:latin typeface="Arial"/>
            </a:endParaRPr>
          </a:p>
        </p:txBody>
      </p:sp>
      <p:sp>
        <p:nvSpPr>
          <p:cNvPr id="142" name="Shape 10"/>
          <p:cNvSpPr/>
          <p:nvPr/>
        </p:nvSpPr>
        <p:spPr>
          <a:xfrm>
            <a:off x="8137440" y="4343400"/>
            <a:ext cx="3567240" cy="1554120"/>
          </a:xfrm>
          <a:prstGeom prst="roundRect">
            <a:avLst>
              <a:gd name="adj" fmla="val 4704"/>
            </a:avLst>
          </a:prstGeom>
          <a:solidFill>
            <a:srgbClr val="23232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43" name="Text 11"/>
          <p:cNvSpPr/>
          <p:nvPr/>
        </p:nvSpPr>
        <p:spPr>
          <a:xfrm>
            <a:off x="8366040" y="4525920"/>
            <a:ext cx="3110040" cy="4111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E0A526"/>
                </a:solidFill>
                <a:latin typeface="Cambria"/>
              </a:rPr>
              <a:t>Consumption</a:t>
            </a:r>
            <a:endParaRPr lang="en-US" sz="1500" b="0" strike="noStrike" spc="-1">
              <a:solidFill>
                <a:srgbClr val="000000"/>
              </a:solidFill>
              <a:latin typeface="Arial"/>
            </a:endParaRPr>
          </a:p>
        </p:txBody>
      </p:sp>
      <p:sp>
        <p:nvSpPr>
          <p:cNvPr id="144" name="Text 12"/>
          <p:cNvSpPr/>
          <p:nvPr/>
        </p:nvSpPr>
        <p:spPr>
          <a:xfrm>
            <a:off x="8366040" y="4937040"/>
            <a:ext cx="3110040" cy="8701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strike="noStrike" spc="-1" dirty="0">
                <a:solidFill>
                  <a:srgbClr val="C9BBA8"/>
                </a:solidFill>
                <a:latin typeface="Calibri"/>
                <a:ea typeface="Calibri"/>
              </a:rPr>
              <a:t>How goods get used — a family cooking dinner with those groceries</a:t>
            </a:r>
            <a:endParaRPr lang="en-US" sz="1400" b="0" strike="noStrike" spc="-1" dirty="0">
              <a:solidFill>
                <a:srgbClr val="000000"/>
              </a:solidFill>
              <a:latin typeface="Arial"/>
            </a:endParaRPr>
          </a:p>
        </p:txBody>
      </p:sp>
      <p:sp>
        <p:nvSpPr>
          <p:cNvPr id="145" name="Text 13"/>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146" name="Text 14"/>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8</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sp>
        <p:nvSpPr>
          <p:cNvPr id="147"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148"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Key Concepts in Macroeconomics &amp; Microeconomics</a:t>
            </a:r>
            <a:endParaRPr lang="en-US" sz="2900" b="0" strike="noStrike" spc="-1">
              <a:solidFill>
                <a:srgbClr val="000000"/>
              </a:solidFill>
              <a:latin typeface="Arial"/>
            </a:endParaRPr>
          </a:p>
        </p:txBody>
      </p:sp>
      <p:sp>
        <p:nvSpPr>
          <p:cNvPr id="149" name="Shape 2"/>
          <p:cNvSpPr/>
          <p:nvPr/>
        </p:nvSpPr>
        <p:spPr>
          <a:xfrm>
            <a:off x="549360" y="1692360"/>
            <a:ext cx="5440320" cy="4479840"/>
          </a:xfrm>
          <a:prstGeom prst="roundRect">
            <a:avLst>
              <a:gd name="adj" fmla="val 1634"/>
            </a:avLst>
          </a:prstGeom>
          <a:solidFill>
            <a:srgbClr val="23232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50" name="Text 3"/>
          <p:cNvSpPr/>
          <p:nvPr/>
        </p:nvSpPr>
        <p:spPr>
          <a:xfrm>
            <a:off x="822240" y="1874880"/>
            <a:ext cx="48466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E0A526"/>
                </a:solidFill>
                <a:latin typeface="Cambria"/>
              </a:rPr>
              <a:t>MACROECONOMICS</a:t>
            </a:r>
            <a:endParaRPr lang="en-US" sz="1500" b="0" strike="noStrike" spc="-1">
              <a:solidFill>
                <a:srgbClr val="000000"/>
              </a:solidFill>
              <a:latin typeface="Arial"/>
            </a:endParaRPr>
          </a:p>
        </p:txBody>
      </p:sp>
      <p:sp>
        <p:nvSpPr>
          <p:cNvPr id="151" name="Text 4"/>
          <p:cNvSpPr/>
          <p:nvPr/>
        </p:nvSpPr>
        <p:spPr>
          <a:xfrm>
            <a:off x="822240" y="237816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FFFFFF"/>
                </a:solidFill>
                <a:latin typeface="Calibri"/>
                <a:ea typeface="Calibri"/>
              </a:rPr>
              <a:t>GDP: </a:t>
            </a:r>
            <a:r>
              <a:rPr lang="en-US" sz="1400" b="0" strike="noStrike" spc="-1" dirty="0">
                <a:solidFill>
                  <a:srgbClr val="C9BBA8"/>
                </a:solidFill>
                <a:latin typeface="Calibri"/>
                <a:ea typeface="Calibri"/>
              </a:rPr>
              <a:t>6.6% growth projected for FY 2026–27 (RBI, June 2026)</a:t>
            </a:r>
            <a:endParaRPr lang="en-US" sz="1400" b="0" strike="noStrike" spc="-1" dirty="0">
              <a:solidFill>
                <a:srgbClr val="000000"/>
              </a:solidFill>
              <a:latin typeface="Arial"/>
            </a:endParaRPr>
          </a:p>
        </p:txBody>
      </p:sp>
      <p:sp>
        <p:nvSpPr>
          <p:cNvPr id="152" name="Text 5"/>
          <p:cNvSpPr/>
          <p:nvPr/>
        </p:nvSpPr>
        <p:spPr>
          <a:xfrm>
            <a:off x="822240" y="315432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FFFFFF"/>
                </a:solidFill>
                <a:latin typeface="Calibri"/>
                <a:ea typeface="Calibri"/>
              </a:rPr>
              <a:t>Inflation: </a:t>
            </a:r>
            <a:r>
              <a:rPr lang="en-US" sz="1400" b="0" strike="noStrike" spc="-1" dirty="0">
                <a:solidFill>
                  <a:srgbClr val="C9BBA8"/>
                </a:solidFill>
                <a:latin typeface="Calibri"/>
                <a:ea typeface="Calibri"/>
              </a:rPr>
              <a:t>Retail inflation projected near 5.1% for FY 2026–27</a:t>
            </a:r>
            <a:endParaRPr lang="en-US" sz="1400" b="0" strike="noStrike" spc="-1" dirty="0">
              <a:solidFill>
                <a:srgbClr val="000000"/>
              </a:solidFill>
              <a:latin typeface="Arial"/>
            </a:endParaRPr>
          </a:p>
        </p:txBody>
      </p:sp>
      <p:sp>
        <p:nvSpPr>
          <p:cNvPr id="153" name="Text 6"/>
          <p:cNvSpPr/>
          <p:nvPr/>
        </p:nvSpPr>
        <p:spPr>
          <a:xfrm>
            <a:off x="822240" y="393228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FFFFFF"/>
                </a:solidFill>
                <a:latin typeface="Calibri"/>
                <a:ea typeface="Calibri"/>
              </a:rPr>
              <a:t>Unemployment: </a:t>
            </a:r>
            <a:r>
              <a:rPr lang="en-US" sz="1400" b="0" strike="noStrike" spc="-1" dirty="0">
                <a:solidFill>
                  <a:srgbClr val="C9BBA8"/>
                </a:solidFill>
                <a:latin typeface="Calibri"/>
                <a:ea typeface="Calibri"/>
              </a:rPr>
              <a:t>Near 5% nationally in early-2026 PLFS data</a:t>
            </a:r>
            <a:endParaRPr lang="en-US" sz="1400" b="0" strike="noStrike" spc="-1" dirty="0">
              <a:solidFill>
                <a:srgbClr val="000000"/>
              </a:solidFill>
              <a:latin typeface="Arial"/>
            </a:endParaRPr>
          </a:p>
        </p:txBody>
      </p:sp>
      <p:sp>
        <p:nvSpPr>
          <p:cNvPr id="154" name="Text 7"/>
          <p:cNvSpPr/>
          <p:nvPr/>
        </p:nvSpPr>
        <p:spPr>
          <a:xfrm>
            <a:off x="822240" y="470844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FFFFFF"/>
                </a:solidFill>
                <a:latin typeface="Calibri"/>
                <a:ea typeface="Calibri"/>
              </a:rPr>
              <a:t>Monetary Policy: </a:t>
            </a:r>
            <a:r>
              <a:rPr lang="en-US" sz="1400" b="0" strike="noStrike" spc="-1" dirty="0">
                <a:solidFill>
                  <a:srgbClr val="C9BBA8"/>
                </a:solidFill>
                <a:latin typeface="Calibri"/>
                <a:ea typeface="Calibri"/>
              </a:rPr>
              <a:t>RBI held the repo rate at 5.25% in June 2026</a:t>
            </a:r>
            <a:endParaRPr lang="en-US" sz="1400" b="0" strike="noStrike" spc="-1" dirty="0">
              <a:solidFill>
                <a:srgbClr val="000000"/>
              </a:solidFill>
              <a:latin typeface="Arial"/>
            </a:endParaRPr>
          </a:p>
        </p:txBody>
      </p:sp>
      <p:sp>
        <p:nvSpPr>
          <p:cNvPr id="155" name="Text 8"/>
          <p:cNvSpPr/>
          <p:nvPr/>
        </p:nvSpPr>
        <p:spPr>
          <a:xfrm>
            <a:off x="822240" y="548640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FFFFFF"/>
                </a:solidFill>
                <a:latin typeface="Calibri"/>
                <a:ea typeface="Calibri"/>
              </a:rPr>
              <a:t>Fiscal Policy: </a:t>
            </a:r>
            <a:r>
              <a:rPr lang="en-US" sz="1400" b="0" strike="noStrike" spc="-1" dirty="0">
                <a:solidFill>
                  <a:srgbClr val="C9BBA8"/>
                </a:solidFill>
                <a:latin typeface="Calibri"/>
                <a:ea typeface="Calibri"/>
              </a:rPr>
              <a:t>Union Budget's tax &amp; spending choices shape growth</a:t>
            </a:r>
            <a:endParaRPr lang="en-US" sz="1400" b="0" strike="noStrike" spc="-1" dirty="0">
              <a:solidFill>
                <a:srgbClr val="000000"/>
              </a:solidFill>
              <a:latin typeface="Arial"/>
            </a:endParaRPr>
          </a:p>
        </p:txBody>
      </p:sp>
      <p:sp>
        <p:nvSpPr>
          <p:cNvPr id="156" name="Shape 9"/>
          <p:cNvSpPr/>
          <p:nvPr/>
        </p:nvSpPr>
        <p:spPr>
          <a:xfrm>
            <a:off x="6172200" y="1692360"/>
            <a:ext cx="5440320" cy="4479840"/>
          </a:xfrm>
          <a:prstGeom prst="roundRect">
            <a:avLst>
              <a:gd name="adj" fmla="val 1634"/>
            </a:avLst>
          </a:prstGeom>
          <a:solidFill>
            <a:srgbClr val="FFFFFF"/>
          </a:solidFill>
          <a:ln w="12600">
            <a:solidFill>
              <a:srgbClr val="E3DDD3"/>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57" name="Text 10"/>
          <p:cNvSpPr/>
          <p:nvPr/>
        </p:nvSpPr>
        <p:spPr>
          <a:xfrm>
            <a:off x="6446880" y="1874880"/>
            <a:ext cx="48466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7A2E2E"/>
                </a:solidFill>
                <a:latin typeface="Cambria"/>
              </a:rPr>
              <a:t>MICROECONOMICS</a:t>
            </a:r>
            <a:endParaRPr lang="en-US" sz="1500" b="0" strike="noStrike" spc="-1">
              <a:solidFill>
                <a:srgbClr val="000000"/>
              </a:solidFill>
              <a:latin typeface="Arial"/>
            </a:endParaRPr>
          </a:p>
        </p:txBody>
      </p:sp>
      <p:sp>
        <p:nvSpPr>
          <p:cNvPr id="158" name="Text 11"/>
          <p:cNvSpPr/>
          <p:nvPr/>
        </p:nvSpPr>
        <p:spPr>
          <a:xfrm>
            <a:off x="6446880" y="237816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232323"/>
                </a:solidFill>
                <a:latin typeface="Calibri"/>
                <a:ea typeface="Calibri"/>
              </a:rPr>
              <a:t>Supply &amp; Demand: </a:t>
            </a:r>
            <a:r>
              <a:rPr lang="en-US" sz="1400" b="0" strike="noStrike" spc="-1" dirty="0">
                <a:solidFill>
                  <a:srgbClr val="2A2A2A"/>
                </a:solidFill>
                <a:latin typeface="Calibri"/>
                <a:ea typeface="Calibri"/>
              </a:rPr>
              <a:t>Tomato prices spike when monsoon damages the crop</a:t>
            </a:r>
            <a:endParaRPr lang="en-US" sz="1400" b="0" strike="noStrike" spc="-1" dirty="0">
              <a:solidFill>
                <a:srgbClr val="000000"/>
              </a:solidFill>
              <a:latin typeface="Arial"/>
            </a:endParaRPr>
          </a:p>
        </p:txBody>
      </p:sp>
      <p:sp>
        <p:nvSpPr>
          <p:cNvPr id="159" name="Text 12"/>
          <p:cNvSpPr/>
          <p:nvPr/>
        </p:nvSpPr>
        <p:spPr>
          <a:xfrm>
            <a:off x="6446880" y="315432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232323"/>
                </a:solidFill>
                <a:latin typeface="Calibri"/>
                <a:ea typeface="Calibri"/>
              </a:rPr>
              <a:t>Consumer Behaviour: </a:t>
            </a:r>
            <a:r>
              <a:rPr lang="en-US" sz="1400" b="0" strike="noStrike" spc="-1" dirty="0">
                <a:solidFill>
                  <a:srgbClr val="2A2A2A"/>
                </a:solidFill>
                <a:latin typeface="Calibri"/>
                <a:ea typeface="Calibri"/>
              </a:rPr>
              <a:t>Festive discounts on e-commerce apps boost buying</a:t>
            </a:r>
            <a:endParaRPr lang="en-US" sz="1400" b="0" strike="noStrike" spc="-1" dirty="0">
              <a:solidFill>
                <a:srgbClr val="000000"/>
              </a:solidFill>
              <a:latin typeface="Arial"/>
            </a:endParaRPr>
          </a:p>
        </p:txBody>
      </p:sp>
      <p:sp>
        <p:nvSpPr>
          <p:cNvPr id="160" name="Text 13"/>
          <p:cNvSpPr/>
          <p:nvPr/>
        </p:nvSpPr>
        <p:spPr>
          <a:xfrm>
            <a:off x="6446880" y="393228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232323"/>
                </a:solidFill>
                <a:latin typeface="Calibri"/>
                <a:ea typeface="Calibri"/>
              </a:rPr>
              <a:t>Producer Behaviour: </a:t>
            </a:r>
            <a:r>
              <a:rPr lang="en-US" sz="1400" b="0" strike="noStrike" spc="-1" dirty="0">
                <a:solidFill>
                  <a:srgbClr val="2A2A2A"/>
                </a:solidFill>
                <a:latin typeface="Calibri"/>
                <a:ea typeface="Calibri"/>
              </a:rPr>
              <a:t>A </a:t>
            </a:r>
            <a:r>
              <a:rPr lang="en-US" sz="1400" b="0" strike="noStrike" spc="-1" dirty="0" err="1">
                <a:solidFill>
                  <a:srgbClr val="2A2A2A"/>
                </a:solidFill>
                <a:latin typeface="Calibri"/>
                <a:ea typeface="Calibri"/>
              </a:rPr>
              <a:t>dhaba</a:t>
            </a:r>
            <a:r>
              <a:rPr lang="en-US" sz="1400" b="0" strike="noStrike" spc="-1" dirty="0">
                <a:solidFill>
                  <a:srgbClr val="2A2A2A"/>
                </a:solidFill>
                <a:latin typeface="Calibri"/>
                <a:ea typeface="Calibri"/>
              </a:rPr>
              <a:t> plans meals based on daily footfall</a:t>
            </a:r>
            <a:endParaRPr lang="en-US" sz="1400" b="0" strike="noStrike" spc="-1" dirty="0">
              <a:solidFill>
                <a:srgbClr val="000000"/>
              </a:solidFill>
              <a:latin typeface="Arial"/>
            </a:endParaRPr>
          </a:p>
        </p:txBody>
      </p:sp>
      <p:sp>
        <p:nvSpPr>
          <p:cNvPr id="161" name="Text 14"/>
          <p:cNvSpPr/>
          <p:nvPr/>
        </p:nvSpPr>
        <p:spPr>
          <a:xfrm>
            <a:off x="6446880" y="470844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232323"/>
                </a:solidFill>
                <a:latin typeface="Calibri"/>
                <a:ea typeface="Calibri"/>
              </a:rPr>
              <a:t>Market Structure: </a:t>
            </a:r>
            <a:r>
              <a:rPr lang="en-US" sz="1400" b="0" strike="noStrike" spc="-1" dirty="0">
                <a:solidFill>
                  <a:srgbClr val="2A2A2A"/>
                </a:solidFill>
                <a:latin typeface="Calibri"/>
                <a:ea typeface="Calibri"/>
              </a:rPr>
              <a:t>One barber shop, many competitors nearby</a:t>
            </a:r>
            <a:endParaRPr lang="en-US" sz="1400" b="0" strike="noStrike" spc="-1" dirty="0">
              <a:solidFill>
                <a:srgbClr val="000000"/>
              </a:solidFill>
              <a:latin typeface="Arial"/>
            </a:endParaRPr>
          </a:p>
        </p:txBody>
      </p:sp>
      <p:sp>
        <p:nvSpPr>
          <p:cNvPr id="162" name="Text 15"/>
          <p:cNvSpPr/>
          <p:nvPr/>
        </p:nvSpPr>
        <p:spPr>
          <a:xfrm>
            <a:off x="6446880" y="5486400"/>
            <a:ext cx="4846680" cy="685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232323"/>
                </a:solidFill>
                <a:latin typeface="Calibri"/>
                <a:ea typeface="Calibri"/>
              </a:rPr>
              <a:t>Elasticity: </a:t>
            </a:r>
            <a:r>
              <a:rPr lang="en-US" sz="1400" b="0" strike="noStrike" spc="-1" dirty="0">
                <a:solidFill>
                  <a:srgbClr val="2A2A2A"/>
                </a:solidFill>
                <a:latin typeface="Calibri"/>
                <a:ea typeface="Calibri"/>
              </a:rPr>
              <a:t>Petrol price hikes barely change buying habits</a:t>
            </a:r>
            <a:endParaRPr lang="en-US" sz="1400" b="0" strike="noStrike" spc="-1" dirty="0">
              <a:solidFill>
                <a:srgbClr val="000000"/>
              </a:solidFill>
              <a:latin typeface="Arial"/>
            </a:endParaRPr>
          </a:p>
        </p:txBody>
      </p:sp>
      <p:sp>
        <p:nvSpPr>
          <p:cNvPr id="163" name="Text 16"/>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164" name="Text 17"/>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9</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166"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Where Does the Word “Economics” Come From?</a:t>
            </a:r>
            <a:endParaRPr lang="en-US" sz="2900" b="0" strike="noStrike" spc="-1">
              <a:solidFill>
                <a:srgbClr val="000000"/>
              </a:solidFill>
              <a:latin typeface="Arial"/>
            </a:endParaRPr>
          </a:p>
        </p:txBody>
      </p:sp>
      <p:sp>
        <p:nvSpPr>
          <p:cNvPr id="167" name="Shape 2"/>
          <p:cNvSpPr/>
          <p:nvPr/>
        </p:nvSpPr>
        <p:spPr>
          <a:xfrm>
            <a:off x="1371600" y="1920960"/>
            <a:ext cx="9418680" cy="3200400"/>
          </a:xfrm>
          <a:prstGeom prst="roundRect">
            <a:avLst>
              <a:gd name="adj" fmla="val 2856"/>
            </a:avLst>
          </a:prstGeom>
          <a:solidFill>
            <a:srgbClr val="F6F5F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68" name="Text 3"/>
          <p:cNvSpPr/>
          <p:nvPr/>
        </p:nvSpPr>
        <p:spPr>
          <a:xfrm>
            <a:off x="1828800" y="2286000"/>
            <a:ext cx="850428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0" strike="noStrike" spc="-1">
                <a:solidFill>
                  <a:srgbClr val="6E6660"/>
                </a:solidFill>
                <a:latin typeface="Calibri"/>
                <a:ea typeface="Calibri"/>
              </a:rPr>
              <a:t>The word is derived from the Greek word</a:t>
            </a:r>
            <a:endParaRPr lang="en-US" sz="1500" b="0" strike="noStrike" spc="-1">
              <a:solidFill>
                <a:srgbClr val="000000"/>
              </a:solidFill>
              <a:latin typeface="Arial"/>
            </a:endParaRPr>
          </a:p>
        </p:txBody>
      </p:sp>
      <p:sp>
        <p:nvSpPr>
          <p:cNvPr id="169" name="Text 4"/>
          <p:cNvSpPr/>
          <p:nvPr/>
        </p:nvSpPr>
        <p:spPr>
          <a:xfrm>
            <a:off x="1828800" y="2743200"/>
            <a:ext cx="8504280" cy="9144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1" strike="noStrike" spc="-1">
                <a:solidFill>
                  <a:srgbClr val="7A2E2E"/>
                </a:solidFill>
                <a:latin typeface="Cambria"/>
              </a:rPr>
              <a:t>Oikonomia</a:t>
            </a:r>
            <a:endParaRPr lang="en-US" sz="4400" b="0" strike="noStrike" spc="-1">
              <a:solidFill>
                <a:srgbClr val="000000"/>
              </a:solidFill>
              <a:latin typeface="Arial"/>
            </a:endParaRPr>
          </a:p>
        </p:txBody>
      </p:sp>
      <p:sp>
        <p:nvSpPr>
          <p:cNvPr id="170" name="Text 5"/>
          <p:cNvSpPr/>
          <p:nvPr/>
        </p:nvSpPr>
        <p:spPr>
          <a:xfrm>
            <a:off x="1828800" y="3657600"/>
            <a:ext cx="8504280" cy="5032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strike="noStrike" spc="-1">
                <a:solidFill>
                  <a:srgbClr val="232323"/>
                </a:solidFill>
                <a:latin typeface="Calibri"/>
                <a:ea typeface="Calibri"/>
              </a:rPr>
              <a:t>meaning “household management”</a:t>
            </a:r>
            <a:endParaRPr lang="en-US" sz="1600" b="0" strike="noStrike" spc="-1">
              <a:solidFill>
                <a:srgbClr val="000000"/>
              </a:solidFill>
              <a:latin typeface="Arial"/>
            </a:endParaRPr>
          </a:p>
        </p:txBody>
      </p:sp>
      <p:sp>
        <p:nvSpPr>
          <p:cNvPr id="171" name="Text 6"/>
          <p:cNvSpPr/>
          <p:nvPr/>
        </p:nvSpPr>
        <p:spPr>
          <a:xfrm>
            <a:off x="2103480" y="4343400"/>
            <a:ext cx="7954920" cy="731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6E6660"/>
                </a:solidFill>
                <a:latin typeface="Calibri"/>
                <a:ea typeface="Calibri"/>
              </a:rPr>
              <a:t>Simple example: just as a family manages a limited monthly income across rent, groceries, and savings, a nation manages its limited resources across its many needs.</a:t>
            </a:r>
            <a:endParaRPr lang="en-US" sz="1200" b="0" strike="noStrike" spc="-1">
              <a:solidFill>
                <a:srgbClr val="000000"/>
              </a:solidFill>
              <a:latin typeface="Arial"/>
            </a:endParaRPr>
          </a:p>
        </p:txBody>
      </p:sp>
      <p:sp>
        <p:nvSpPr>
          <p:cNvPr id="172" name="Text 7"/>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173" name="Text 8"/>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10</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175" name="Text 1"/>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E0A526"/>
                </a:solidFill>
                <a:latin typeface="Calibri"/>
                <a:ea typeface="Calibri"/>
              </a:rPr>
              <a:t>INTRODUCTION</a:t>
            </a:r>
            <a:endParaRPr lang="en-US" sz="1300" b="0" strike="noStrike" spc="-1">
              <a:solidFill>
                <a:srgbClr val="000000"/>
              </a:solidFill>
              <a:latin typeface="Arial"/>
            </a:endParaRPr>
          </a:p>
        </p:txBody>
      </p:sp>
      <p:sp>
        <p:nvSpPr>
          <p:cNvPr id="176" name="Text 2"/>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FFFFFF"/>
                </a:solidFill>
                <a:latin typeface="Cambria"/>
              </a:rPr>
              <a:t>Economics: The Study of Scarcity and Choice</a:t>
            </a:r>
            <a:endParaRPr lang="en-US" sz="2900" b="0" strike="noStrike" spc="-1">
              <a:solidFill>
                <a:srgbClr val="000000"/>
              </a:solidFill>
              <a:latin typeface="Arial"/>
            </a:endParaRPr>
          </a:p>
        </p:txBody>
      </p:sp>
      <p:sp>
        <p:nvSpPr>
          <p:cNvPr id="177" name="Text 3"/>
          <p:cNvSpPr/>
          <p:nvPr/>
        </p:nvSpPr>
        <p:spPr>
          <a:xfrm>
            <a:off x="639720" y="1920960"/>
            <a:ext cx="10882440" cy="9144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C9BBA8"/>
                </a:solidFill>
                <a:latin typeface="Calibri"/>
                <a:ea typeface="Calibri"/>
              </a:rPr>
              <a:t>Economics is a social science that examines how individuals, businesses, and societies allocate scarce resources to satisfy unlimited wants and needs.</a:t>
            </a:r>
            <a:endParaRPr lang="en-US" sz="2000" b="0" strike="noStrike" spc="-1" dirty="0">
              <a:solidFill>
                <a:srgbClr val="000000"/>
              </a:solidFill>
              <a:latin typeface="Arial"/>
            </a:endParaRPr>
          </a:p>
        </p:txBody>
      </p:sp>
      <p:sp>
        <p:nvSpPr>
          <p:cNvPr id="178" name="Shape 4"/>
          <p:cNvSpPr/>
          <p:nvPr/>
        </p:nvSpPr>
        <p:spPr>
          <a:xfrm>
            <a:off x="639720" y="3108240"/>
            <a:ext cx="10882440" cy="3129072"/>
          </a:xfrm>
          <a:prstGeom prst="roundRect">
            <a:avLst>
              <a:gd name="adj" fmla="val 3079"/>
            </a:avLst>
          </a:prstGeom>
          <a:solidFill>
            <a:srgbClr val="2E2E2E"/>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179" name="Text 5"/>
          <p:cNvSpPr/>
          <p:nvPr/>
        </p:nvSpPr>
        <p:spPr>
          <a:xfrm>
            <a:off x="914400" y="3336840"/>
            <a:ext cx="1033308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E0A526"/>
                </a:solidFill>
                <a:latin typeface="Cambria"/>
              </a:rPr>
              <a:t>Why Economics Matters</a:t>
            </a:r>
            <a:endParaRPr lang="en-US" sz="2000" b="0" strike="noStrike" spc="-1" dirty="0">
              <a:solidFill>
                <a:srgbClr val="000000"/>
              </a:solidFill>
              <a:latin typeface="Arial"/>
            </a:endParaRPr>
          </a:p>
        </p:txBody>
      </p:sp>
      <p:sp>
        <p:nvSpPr>
          <p:cNvPr id="180" name="Text 6"/>
          <p:cNvSpPr/>
          <p:nvPr/>
        </p:nvSpPr>
        <p:spPr>
          <a:xfrm>
            <a:off x="914400" y="3840120"/>
            <a:ext cx="10333080" cy="6397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FFFFFF"/>
                </a:solidFill>
                <a:latin typeface="Calibri"/>
                <a:ea typeface="Calibri"/>
              </a:rPr>
              <a:t>Economics helps us understand how markets function, how policies impact the economy, and how societies can improve their living standards.</a:t>
            </a:r>
            <a:endParaRPr lang="en-US" b="0" strike="noStrike" spc="-1" dirty="0">
              <a:solidFill>
                <a:srgbClr val="000000"/>
              </a:solidFill>
              <a:latin typeface="Arial"/>
            </a:endParaRPr>
          </a:p>
        </p:txBody>
      </p:sp>
      <p:sp>
        <p:nvSpPr>
          <p:cNvPr id="181" name="Text 7"/>
          <p:cNvSpPr/>
          <p:nvPr/>
        </p:nvSpPr>
        <p:spPr>
          <a:xfrm>
            <a:off x="912218" y="5013176"/>
            <a:ext cx="10333080" cy="731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i="1" strike="noStrike" spc="-1" dirty="0">
                <a:solidFill>
                  <a:srgbClr val="C9BBA8"/>
                </a:solidFill>
                <a:latin typeface="Calibri"/>
                <a:ea typeface="Calibri"/>
              </a:rPr>
              <a:t>Everyday example: knowing why fuel prices rise helps you understand why your monthly bike-taxi bill went up too — it's the same economic chain at work.</a:t>
            </a:r>
            <a:endParaRPr lang="en-US" b="0" strike="noStrike" spc="-1" dirty="0">
              <a:solidFill>
                <a:srgbClr val="000000"/>
              </a:solidFill>
              <a:latin typeface="Arial"/>
            </a:endParaRPr>
          </a:p>
        </p:txBody>
      </p:sp>
      <p:sp>
        <p:nvSpPr>
          <p:cNvPr id="182" name="Text 8"/>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Introduction</a:t>
            </a:r>
            <a:endParaRPr lang="en-US" sz="1000" b="0" strike="noStrike" spc="-1">
              <a:solidFill>
                <a:srgbClr val="000000"/>
              </a:solidFill>
              <a:latin typeface="Arial"/>
            </a:endParaRPr>
          </a:p>
        </p:txBody>
      </p:sp>
      <p:sp>
        <p:nvSpPr>
          <p:cNvPr id="183" name="Text 9"/>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11</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3"/>
        </a:solidFill>
        <a:effectLst/>
      </p:bgPr>
    </p:bg>
    <p:spTree>
      <p:nvGrpSpPr>
        <p:cNvPr id="1" name=""/>
        <p:cNvGrpSpPr/>
        <p:nvPr/>
      </p:nvGrpSpPr>
      <p:grpSpPr>
        <a:xfrm>
          <a:off x="0" y="0"/>
          <a:ext cx="0" cy="0"/>
          <a:chOff x="0" y="0"/>
          <a:chExt cx="0" cy="0"/>
        </a:xfrm>
      </p:grpSpPr>
      <p:sp>
        <p:nvSpPr>
          <p:cNvPr id="184"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a:t>
            </a:r>
            <a:endParaRPr lang="en-US" sz="1300" b="0" strike="noStrike" spc="-1">
              <a:solidFill>
                <a:srgbClr val="000000"/>
              </a:solidFill>
              <a:latin typeface="Arial"/>
            </a:endParaRPr>
          </a:p>
        </p:txBody>
      </p:sp>
      <p:sp>
        <p:nvSpPr>
          <p:cNvPr id="185"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The Central Problem of an Economy</a:t>
            </a:r>
            <a:endParaRPr lang="en-US" sz="2900" b="0" strike="noStrike" spc="-1">
              <a:solidFill>
                <a:srgbClr val="000000"/>
              </a:solidFill>
              <a:latin typeface="Arial"/>
            </a:endParaRPr>
          </a:p>
        </p:txBody>
      </p:sp>
      <p:sp>
        <p:nvSpPr>
          <p:cNvPr id="186" name="Text 2"/>
          <p:cNvSpPr/>
          <p:nvPr/>
        </p:nvSpPr>
        <p:spPr>
          <a:xfrm>
            <a:off x="552178" y="1412776"/>
            <a:ext cx="10972800" cy="683128"/>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Because resources are scarce, every economy — big or small — must answer three questions. How a country answers them shapes its economic 'ideology'.</a:t>
            </a:r>
            <a:endParaRPr lang="en-US" b="0" strike="noStrike" spc="-1" dirty="0">
              <a:solidFill>
                <a:srgbClr val="000000"/>
              </a:solidFill>
              <a:latin typeface="Arial"/>
            </a:endParaRPr>
          </a:p>
        </p:txBody>
      </p:sp>
      <p:sp>
        <p:nvSpPr>
          <p:cNvPr id="187" name="Shape 3"/>
          <p:cNvSpPr/>
          <p:nvPr/>
        </p:nvSpPr>
        <p:spPr>
          <a:xfrm>
            <a:off x="549360" y="2378160"/>
            <a:ext cx="3565440" cy="2376360"/>
          </a:xfrm>
          <a:prstGeom prst="roundRect">
            <a:avLst>
              <a:gd name="adj" fmla="val 3079"/>
            </a:avLst>
          </a:prstGeom>
          <a:solidFill>
            <a:srgbClr val="FFFFFF"/>
          </a:solidFill>
          <a:ln w="0">
            <a:noFill/>
          </a:ln>
          <a:effectLst>
            <a:outerShdw dist="12600" dir="5400000" rotWithShape="0">
              <a:srgbClr val="9A8F80">
                <a:alpha val="18000"/>
              </a:srgbClr>
            </a:outerShdw>
          </a:effectLst>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88" name="Text 4"/>
          <p:cNvSpPr/>
          <p:nvPr/>
        </p:nvSpPr>
        <p:spPr>
          <a:xfrm>
            <a:off x="804960" y="2606760"/>
            <a:ext cx="3062160" cy="547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232323"/>
                </a:solidFill>
                <a:latin typeface="Cambria"/>
                <a:ea typeface="Cambria"/>
              </a:rPr>
              <a:t>WHAT to produce?</a:t>
            </a:r>
            <a:endParaRPr lang="en-US" sz="1500" b="0" strike="noStrike" spc="-1">
              <a:solidFill>
                <a:srgbClr val="000000"/>
              </a:solidFill>
              <a:latin typeface="Arial"/>
            </a:endParaRPr>
          </a:p>
        </p:txBody>
      </p:sp>
      <p:sp>
        <p:nvSpPr>
          <p:cNvPr id="189" name="Text 5"/>
          <p:cNvSpPr/>
          <p:nvPr/>
        </p:nvSpPr>
        <p:spPr>
          <a:xfrm>
            <a:off x="804960" y="3200400"/>
            <a:ext cx="3062160" cy="1463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Should farmland grow wheat or sugarcane? Should factories make more phones or more cars?</a:t>
            </a:r>
            <a:endParaRPr lang="en-US" b="0" strike="noStrike" spc="-1" dirty="0">
              <a:solidFill>
                <a:srgbClr val="000000"/>
              </a:solidFill>
              <a:latin typeface="Arial"/>
            </a:endParaRPr>
          </a:p>
        </p:txBody>
      </p:sp>
      <p:sp>
        <p:nvSpPr>
          <p:cNvPr id="190" name="Shape 6"/>
          <p:cNvSpPr/>
          <p:nvPr/>
        </p:nvSpPr>
        <p:spPr>
          <a:xfrm>
            <a:off x="4343400" y="2378160"/>
            <a:ext cx="3565440" cy="2376360"/>
          </a:xfrm>
          <a:prstGeom prst="roundRect">
            <a:avLst>
              <a:gd name="adj" fmla="val 3079"/>
            </a:avLst>
          </a:prstGeom>
          <a:solidFill>
            <a:srgbClr val="232323"/>
          </a:solidFill>
          <a:ln w="0">
            <a:noFill/>
          </a:ln>
          <a:effectLst>
            <a:outerShdw dist="12600" dir="5400000" rotWithShape="0">
              <a:srgbClr val="9A8F80">
                <a:alpha val="18000"/>
              </a:srgbClr>
            </a:outerShdw>
          </a:effectLst>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91" name="Text 7"/>
          <p:cNvSpPr/>
          <p:nvPr/>
        </p:nvSpPr>
        <p:spPr>
          <a:xfrm>
            <a:off x="4599000" y="2606760"/>
            <a:ext cx="3063960" cy="547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E0A526"/>
                </a:solidFill>
                <a:latin typeface="Cambria"/>
                <a:ea typeface="Cambria"/>
              </a:rPr>
              <a:t>HOW to produce?</a:t>
            </a:r>
            <a:endParaRPr lang="en-US" sz="1500" b="0" strike="noStrike" spc="-1">
              <a:solidFill>
                <a:srgbClr val="000000"/>
              </a:solidFill>
              <a:latin typeface="Arial"/>
            </a:endParaRPr>
          </a:p>
        </p:txBody>
      </p:sp>
      <p:sp>
        <p:nvSpPr>
          <p:cNvPr id="192" name="Text 8"/>
          <p:cNvSpPr/>
          <p:nvPr/>
        </p:nvSpPr>
        <p:spPr>
          <a:xfrm>
            <a:off x="4599000" y="3200400"/>
            <a:ext cx="3063960" cy="1463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C9BBA8"/>
                </a:solidFill>
                <a:latin typeface="Calibri"/>
                <a:ea typeface="Calibri"/>
              </a:rPr>
              <a:t>Should goods be made using more workers, or more machines and automation?</a:t>
            </a:r>
            <a:endParaRPr lang="en-US" sz="2000" b="0" strike="noStrike" spc="-1" dirty="0">
              <a:solidFill>
                <a:srgbClr val="000000"/>
              </a:solidFill>
              <a:latin typeface="Arial"/>
            </a:endParaRPr>
          </a:p>
        </p:txBody>
      </p:sp>
      <p:sp>
        <p:nvSpPr>
          <p:cNvPr id="193" name="Shape 9"/>
          <p:cNvSpPr/>
          <p:nvPr/>
        </p:nvSpPr>
        <p:spPr>
          <a:xfrm>
            <a:off x="8137440" y="2378160"/>
            <a:ext cx="3567240" cy="2376360"/>
          </a:xfrm>
          <a:prstGeom prst="roundRect">
            <a:avLst>
              <a:gd name="adj" fmla="val 3079"/>
            </a:avLst>
          </a:prstGeom>
          <a:solidFill>
            <a:srgbClr val="FFFFFF"/>
          </a:solidFill>
          <a:ln w="0">
            <a:noFill/>
          </a:ln>
          <a:effectLst>
            <a:outerShdw dist="12600" dir="5400000" rotWithShape="0">
              <a:srgbClr val="9A8F80">
                <a:alpha val="18000"/>
              </a:srgbClr>
            </a:outerShdw>
          </a:effectLst>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94" name="Text 10"/>
          <p:cNvSpPr/>
          <p:nvPr/>
        </p:nvSpPr>
        <p:spPr>
          <a:xfrm>
            <a:off x="8394840" y="2606760"/>
            <a:ext cx="3062160" cy="547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232323"/>
                </a:solidFill>
                <a:latin typeface="Cambria"/>
                <a:ea typeface="Cambria"/>
              </a:rPr>
              <a:t>FOR WHOM to produce?</a:t>
            </a:r>
            <a:endParaRPr lang="en-US" sz="1500" b="0" strike="noStrike" spc="-1">
              <a:solidFill>
                <a:srgbClr val="000000"/>
              </a:solidFill>
              <a:latin typeface="Arial"/>
            </a:endParaRPr>
          </a:p>
        </p:txBody>
      </p:sp>
      <p:sp>
        <p:nvSpPr>
          <p:cNvPr id="195" name="Text 11"/>
          <p:cNvSpPr/>
          <p:nvPr/>
        </p:nvSpPr>
        <p:spPr>
          <a:xfrm>
            <a:off x="8394840" y="3200400"/>
            <a:ext cx="3062160" cy="14637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2A2A2A"/>
                </a:solidFill>
                <a:latin typeface="Calibri"/>
                <a:ea typeface="Calibri"/>
              </a:rPr>
              <a:t>Once goods are made, who gets them first — and who can afford them?</a:t>
            </a:r>
            <a:endParaRPr lang="en-US" sz="2000" b="0" strike="noStrike" spc="-1" dirty="0">
              <a:solidFill>
                <a:srgbClr val="000000"/>
              </a:solidFill>
              <a:latin typeface="Arial"/>
            </a:endParaRPr>
          </a:p>
        </p:txBody>
      </p:sp>
      <p:sp>
        <p:nvSpPr>
          <p:cNvPr id="196" name="Text 12"/>
          <p:cNvSpPr/>
          <p:nvPr/>
        </p:nvSpPr>
        <p:spPr>
          <a:xfrm>
            <a:off x="549360" y="5029200"/>
            <a:ext cx="10972800" cy="1136104"/>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1" i="1" strike="noStrike" spc="-1" dirty="0">
                <a:solidFill>
                  <a:srgbClr val="6E6660"/>
                </a:solidFill>
                <a:latin typeface="Calibri"/>
                <a:ea typeface="Calibri"/>
              </a:rPr>
              <a:t>Different economic ideologies — Communism, Capitalism, and Mixed Economy — answer these three questions differently. Let's look at each.</a:t>
            </a:r>
            <a:endParaRPr lang="en-US" b="1" strike="noStrike" spc="-1" dirty="0">
              <a:solidFill>
                <a:srgbClr val="000000"/>
              </a:solidFill>
              <a:latin typeface="Arial"/>
            </a:endParaRPr>
          </a:p>
        </p:txBody>
      </p:sp>
      <p:sp>
        <p:nvSpPr>
          <p:cNvPr id="197" name="Text 13"/>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198" name="Text 14"/>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12</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9"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 · IDEOLOGY</a:t>
            </a:r>
            <a:endParaRPr lang="en-US" sz="1300" b="0" strike="noStrike" spc="-1">
              <a:solidFill>
                <a:srgbClr val="000000"/>
              </a:solidFill>
              <a:latin typeface="Arial"/>
            </a:endParaRPr>
          </a:p>
        </p:txBody>
      </p:sp>
      <p:sp>
        <p:nvSpPr>
          <p:cNvPr id="200"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Communism</a:t>
            </a:r>
            <a:endParaRPr lang="en-US" sz="2900" b="0" strike="noStrike" spc="-1">
              <a:solidFill>
                <a:srgbClr val="000000"/>
              </a:solidFill>
              <a:latin typeface="Arial"/>
            </a:endParaRPr>
          </a:p>
        </p:txBody>
      </p:sp>
      <p:sp>
        <p:nvSpPr>
          <p:cNvPr id="201" name="Text 2"/>
          <p:cNvSpPr/>
          <p:nvPr/>
        </p:nvSpPr>
        <p:spPr>
          <a:xfrm>
            <a:off x="624186" y="1340768"/>
            <a:ext cx="10972800" cy="6397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The government owns all resources and industries, and decides what is produced and how it is shared — aiming for equality above individual profit.</a:t>
            </a:r>
            <a:endParaRPr lang="en-US" b="0" strike="noStrike" spc="-1" dirty="0">
              <a:solidFill>
                <a:srgbClr val="000000"/>
              </a:solidFill>
              <a:latin typeface="Arial"/>
            </a:endParaRPr>
          </a:p>
        </p:txBody>
      </p:sp>
      <p:sp>
        <p:nvSpPr>
          <p:cNvPr id="202" name="Text 3"/>
          <p:cNvSpPr/>
          <p:nvPr/>
        </p:nvSpPr>
        <p:spPr>
          <a:xfrm>
            <a:off x="552178" y="2204864"/>
            <a:ext cx="10972800" cy="547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i="1" spc="-1" dirty="0" smtClean="0">
                <a:solidFill>
                  <a:srgbClr val="6E6660"/>
                </a:solidFill>
                <a:latin typeface="Calibri"/>
                <a:ea typeface="Calibri"/>
              </a:rPr>
              <a:t>Example: T</a:t>
            </a:r>
            <a:r>
              <a:rPr lang="en-US" sz="1600" b="0" i="1" strike="noStrike" spc="-1" dirty="0" smtClean="0">
                <a:solidFill>
                  <a:srgbClr val="6E6660"/>
                </a:solidFill>
                <a:latin typeface="Calibri"/>
                <a:ea typeface="Calibri"/>
              </a:rPr>
              <a:t>he </a:t>
            </a:r>
            <a:r>
              <a:rPr lang="en-US" sz="1600" b="0" i="1" strike="noStrike" spc="-1" dirty="0">
                <a:solidFill>
                  <a:srgbClr val="6E6660"/>
                </a:solidFill>
                <a:latin typeface="Calibri"/>
                <a:ea typeface="Calibri"/>
              </a:rPr>
              <a:t>former Soviet Union ran a fully communist system; today, only a few countries such as North Korea and Cuba still follow a largely state-controlled model.</a:t>
            </a:r>
            <a:endParaRPr lang="en-US" sz="1600" b="0" strike="noStrike" spc="-1" dirty="0">
              <a:solidFill>
                <a:srgbClr val="000000"/>
              </a:solidFill>
              <a:latin typeface="Arial"/>
            </a:endParaRPr>
          </a:p>
        </p:txBody>
      </p:sp>
      <p:sp>
        <p:nvSpPr>
          <p:cNvPr id="203" name="Shape 4"/>
          <p:cNvSpPr/>
          <p:nvPr/>
        </p:nvSpPr>
        <p:spPr>
          <a:xfrm>
            <a:off x="549360" y="3108240"/>
            <a:ext cx="5440320" cy="2743200"/>
          </a:xfrm>
          <a:prstGeom prst="roundRect">
            <a:avLst>
              <a:gd name="adj" fmla="val 2667"/>
            </a:avLst>
          </a:prstGeom>
          <a:solidFill>
            <a:srgbClr val="EAF0E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04" name="Text 5"/>
          <p:cNvSpPr/>
          <p:nvPr/>
        </p:nvSpPr>
        <p:spPr>
          <a:xfrm>
            <a:off x="840210" y="3212976"/>
            <a:ext cx="48466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dirty="0">
                <a:solidFill>
                  <a:srgbClr val="5E7350"/>
                </a:solidFill>
                <a:latin typeface="Cambria"/>
              </a:rPr>
              <a:t>Advantages</a:t>
            </a:r>
            <a:endParaRPr lang="en-US" sz="1500" b="0" strike="noStrike" spc="-1" dirty="0">
              <a:solidFill>
                <a:srgbClr val="000000"/>
              </a:solidFill>
              <a:latin typeface="Arial"/>
            </a:endParaRPr>
          </a:p>
        </p:txBody>
      </p:sp>
      <p:sp>
        <p:nvSpPr>
          <p:cNvPr id="205" name="Text 6"/>
          <p:cNvSpPr/>
          <p:nvPr/>
        </p:nvSpPr>
        <p:spPr>
          <a:xfrm>
            <a:off x="822240" y="3703680"/>
            <a:ext cx="4846680" cy="20113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Elimination of class struggles</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Central planning avoids duplication of effort</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Aims for social equality across citizens</a:t>
            </a:r>
            <a:endParaRPr lang="en-US" b="0" strike="noStrike" spc="-1" dirty="0">
              <a:solidFill>
                <a:srgbClr val="000000"/>
              </a:solidFill>
              <a:latin typeface="Arial"/>
            </a:endParaRPr>
          </a:p>
          <a:p>
            <a:pPr marL="343080" indent="-343080">
              <a:lnSpc>
                <a:spcPct val="115000"/>
              </a:lnSpc>
              <a:spcAft>
                <a:spcPts val="799"/>
              </a:spcAft>
              <a:buClr>
                <a:srgbClr val="2A2A2A"/>
              </a:buCl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dirty="0">
              <a:solidFill>
                <a:srgbClr val="000000"/>
              </a:solidFill>
              <a:latin typeface="Arial"/>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dirty="0">
                <a:solidFill>
                  <a:srgbClr val="000000"/>
                </a:solidFill>
                <a:latin typeface="Arial"/>
              </a:rPr>
              <a:t> </a:t>
            </a:r>
          </a:p>
        </p:txBody>
      </p:sp>
      <p:sp>
        <p:nvSpPr>
          <p:cNvPr id="206" name="Shape 7"/>
          <p:cNvSpPr/>
          <p:nvPr/>
        </p:nvSpPr>
        <p:spPr>
          <a:xfrm>
            <a:off x="6172200" y="3108240"/>
            <a:ext cx="5440320" cy="2743200"/>
          </a:xfrm>
          <a:prstGeom prst="roundRect">
            <a:avLst>
              <a:gd name="adj" fmla="val 2667"/>
            </a:avLst>
          </a:prstGeom>
          <a:solidFill>
            <a:srgbClr val="F2E4E1"/>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07" name="Text 8"/>
          <p:cNvSpPr/>
          <p:nvPr/>
        </p:nvSpPr>
        <p:spPr>
          <a:xfrm>
            <a:off x="6456834" y="3140968"/>
            <a:ext cx="48466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dirty="0">
                <a:solidFill>
                  <a:srgbClr val="9C4A3A"/>
                </a:solidFill>
                <a:latin typeface="Cambria"/>
              </a:rPr>
              <a:t>Disadvantages</a:t>
            </a:r>
            <a:endParaRPr lang="en-US" sz="1500" b="0" strike="noStrike" spc="-1" dirty="0">
              <a:solidFill>
                <a:srgbClr val="000000"/>
              </a:solidFill>
              <a:latin typeface="Arial"/>
            </a:endParaRPr>
          </a:p>
        </p:txBody>
      </p:sp>
      <p:sp>
        <p:nvSpPr>
          <p:cNvPr id="208" name="Text 9"/>
          <p:cNvSpPr/>
          <p:nvPr/>
        </p:nvSpPr>
        <p:spPr>
          <a:xfrm>
            <a:off x="6446880" y="3703680"/>
            <a:ext cx="4846680" cy="20113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Lack of incentive to work harder or innovate</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Heavy </a:t>
            </a:r>
            <a:r>
              <a:rPr lang="en-US" b="0" strike="noStrike" spc="-1" dirty="0" smtClean="0">
                <a:solidFill>
                  <a:srgbClr val="2A2A2A"/>
                </a:solidFill>
                <a:latin typeface="Calibri"/>
                <a:ea typeface="Calibri"/>
              </a:rPr>
              <a:t>centralization </a:t>
            </a:r>
            <a:r>
              <a:rPr lang="en-US" b="0" strike="noStrike" spc="-1" dirty="0">
                <a:solidFill>
                  <a:srgbClr val="2A2A2A"/>
                </a:solidFill>
                <a:latin typeface="Calibri"/>
                <a:ea typeface="Calibri"/>
              </a:rPr>
              <a:t>of power in the state</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Limited individual freedom and choice</a:t>
            </a:r>
            <a:endParaRPr lang="en-US" b="0" strike="noStrike" spc="-1" dirty="0">
              <a:solidFill>
                <a:srgbClr val="000000"/>
              </a:solidFill>
              <a:latin typeface="Arial"/>
            </a:endParaRPr>
          </a:p>
          <a:p>
            <a:pPr marL="343080" indent="-343080">
              <a:lnSpc>
                <a:spcPct val="115000"/>
              </a:lnSpc>
              <a:spcAft>
                <a:spcPts val="799"/>
              </a:spcAft>
              <a:buClr>
                <a:srgbClr val="2A2A2A"/>
              </a:buCl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dirty="0">
              <a:solidFill>
                <a:srgbClr val="000000"/>
              </a:solidFill>
              <a:latin typeface="Arial"/>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000000"/>
                </a:solidFill>
                <a:latin typeface="Arial"/>
              </a:rPr>
              <a:t> </a:t>
            </a:r>
          </a:p>
        </p:txBody>
      </p:sp>
      <p:sp>
        <p:nvSpPr>
          <p:cNvPr id="209" name="Text 10"/>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210" name="Text 11"/>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13</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1"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 · IDEOLOGY</a:t>
            </a:r>
            <a:endParaRPr lang="en-US" sz="1300" b="0" strike="noStrike" spc="-1">
              <a:solidFill>
                <a:srgbClr val="000000"/>
              </a:solidFill>
              <a:latin typeface="Arial"/>
            </a:endParaRPr>
          </a:p>
        </p:txBody>
      </p:sp>
      <p:sp>
        <p:nvSpPr>
          <p:cNvPr id="212"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232323"/>
                </a:solidFill>
                <a:latin typeface="Cambria"/>
              </a:rPr>
              <a:t>Capitalism</a:t>
            </a:r>
            <a:endParaRPr lang="en-US" sz="2900" b="0" strike="noStrike" spc="-1">
              <a:solidFill>
                <a:srgbClr val="000000"/>
              </a:solidFill>
              <a:latin typeface="Arial"/>
            </a:endParaRPr>
          </a:p>
        </p:txBody>
      </p:sp>
      <p:sp>
        <p:nvSpPr>
          <p:cNvPr id="213" name="Text 2"/>
          <p:cNvSpPr/>
          <p:nvPr/>
        </p:nvSpPr>
        <p:spPr>
          <a:xfrm>
            <a:off x="552178" y="1412776"/>
            <a:ext cx="10972800" cy="6397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2A2A2A"/>
                </a:solidFill>
                <a:latin typeface="Calibri"/>
                <a:ea typeface="Calibri"/>
              </a:rPr>
              <a:t>Private individuals and businesses own resources and decide what to produce, guided mainly by prices, competition, and profit.</a:t>
            </a:r>
            <a:endParaRPr lang="en-US" sz="2000" b="0" strike="noStrike" spc="-1" dirty="0">
              <a:solidFill>
                <a:srgbClr val="000000"/>
              </a:solidFill>
              <a:latin typeface="Arial"/>
            </a:endParaRPr>
          </a:p>
        </p:txBody>
      </p:sp>
      <p:sp>
        <p:nvSpPr>
          <p:cNvPr id="214" name="Text 3"/>
          <p:cNvSpPr/>
          <p:nvPr/>
        </p:nvSpPr>
        <p:spPr>
          <a:xfrm>
            <a:off x="552178" y="2204864"/>
            <a:ext cx="10972800" cy="547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i="1" strike="noStrike" spc="-1" dirty="0" smtClean="0">
                <a:solidFill>
                  <a:srgbClr val="6E6660"/>
                </a:solidFill>
                <a:latin typeface="Calibri"/>
                <a:ea typeface="Calibri"/>
              </a:rPr>
              <a:t>Example</a:t>
            </a:r>
            <a:r>
              <a:rPr lang="en-US" sz="1600" b="0" i="1" strike="noStrike" spc="-1" dirty="0">
                <a:solidFill>
                  <a:srgbClr val="6E6660"/>
                </a:solidFill>
                <a:latin typeface="Calibri"/>
                <a:ea typeface="Calibri"/>
              </a:rPr>
              <a:t>: India's 1991 economic liberalisation opened many sectors to private companies; today's boom in private-sector unicorns and IT firms builds on that same capitalist shift.</a:t>
            </a:r>
            <a:endParaRPr lang="en-US" sz="1600" b="0" strike="noStrike" spc="-1" dirty="0">
              <a:solidFill>
                <a:srgbClr val="000000"/>
              </a:solidFill>
              <a:latin typeface="Arial"/>
            </a:endParaRPr>
          </a:p>
        </p:txBody>
      </p:sp>
      <p:sp>
        <p:nvSpPr>
          <p:cNvPr id="215" name="Shape 4"/>
          <p:cNvSpPr/>
          <p:nvPr/>
        </p:nvSpPr>
        <p:spPr>
          <a:xfrm>
            <a:off x="549360" y="3108240"/>
            <a:ext cx="5440320" cy="2743200"/>
          </a:xfrm>
          <a:prstGeom prst="roundRect">
            <a:avLst>
              <a:gd name="adj" fmla="val 2667"/>
            </a:avLst>
          </a:prstGeom>
          <a:solidFill>
            <a:srgbClr val="EAF0E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16" name="Text 5"/>
          <p:cNvSpPr/>
          <p:nvPr/>
        </p:nvSpPr>
        <p:spPr>
          <a:xfrm>
            <a:off x="822240" y="3292560"/>
            <a:ext cx="48466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5E7350"/>
                </a:solidFill>
                <a:latin typeface="Cambria"/>
              </a:rPr>
              <a:t>Advantages</a:t>
            </a:r>
            <a:endParaRPr lang="en-US" sz="1500" b="0" strike="noStrike" spc="-1">
              <a:solidFill>
                <a:srgbClr val="000000"/>
              </a:solidFill>
              <a:latin typeface="Arial"/>
            </a:endParaRPr>
          </a:p>
        </p:txBody>
      </p:sp>
      <p:sp>
        <p:nvSpPr>
          <p:cNvPr id="217" name="Text 6"/>
          <p:cNvSpPr/>
          <p:nvPr/>
        </p:nvSpPr>
        <p:spPr>
          <a:xfrm>
            <a:off x="822240" y="3703680"/>
            <a:ext cx="4846680" cy="20113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Economic efficiency through competition</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Individual freedom to start and run a business</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Wide consumer choice of goods &amp; services</a:t>
            </a:r>
            <a:endParaRPr lang="en-US" sz="1200"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dirty="0">
              <a:solidFill>
                <a:srgbClr val="000000"/>
              </a:solidFill>
              <a:latin typeface="Arial"/>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dirty="0">
                <a:solidFill>
                  <a:srgbClr val="000000"/>
                </a:solidFill>
                <a:latin typeface="Arial"/>
              </a:rPr>
              <a:t> </a:t>
            </a:r>
          </a:p>
        </p:txBody>
      </p:sp>
      <p:sp>
        <p:nvSpPr>
          <p:cNvPr id="218" name="Shape 7"/>
          <p:cNvSpPr/>
          <p:nvPr/>
        </p:nvSpPr>
        <p:spPr>
          <a:xfrm>
            <a:off x="6172200" y="3108240"/>
            <a:ext cx="5440320" cy="2743200"/>
          </a:xfrm>
          <a:prstGeom prst="roundRect">
            <a:avLst>
              <a:gd name="adj" fmla="val 2667"/>
            </a:avLst>
          </a:prstGeom>
          <a:solidFill>
            <a:srgbClr val="F2E4E1"/>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19" name="Text 8"/>
          <p:cNvSpPr/>
          <p:nvPr/>
        </p:nvSpPr>
        <p:spPr>
          <a:xfrm>
            <a:off x="6446880" y="3292560"/>
            <a:ext cx="48466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9C4A3A"/>
                </a:solidFill>
                <a:latin typeface="Cambria"/>
              </a:rPr>
              <a:t>Disadvantages</a:t>
            </a:r>
            <a:endParaRPr lang="en-US" sz="1500" b="0" strike="noStrike" spc="-1">
              <a:solidFill>
                <a:srgbClr val="000000"/>
              </a:solidFill>
              <a:latin typeface="Arial"/>
            </a:endParaRPr>
          </a:p>
        </p:txBody>
      </p:sp>
      <p:sp>
        <p:nvSpPr>
          <p:cNvPr id="220" name="Text 9"/>
          <p:cNvSpPr/>
          <p:nvPr/>
        </p:nvSpPr>
        <p:spPr>
          <a:xfrm>
            <a:off x="6446880" y="3703680"/>
            <a:ext cx="4846680" cy="20113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Income inequality between rich and poor</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Weaker social safety nets for the vulnerable</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Environmental concerns from profit-driven </a:t>
            </a:r>
            <a:r>
              <a:rPr lang="en-US" b="0" strike="noStrike" spc="-1" dirty="0" smtClean="0">
                <a:solidFill>
                  <a:srgbClr val="2A2A2A"/>
                </a:solidFill>
                <a:latin typeface="Calibri"/>
                <a:ea typeface="Calibri"/>
              </a:rPr>
              <a:t>growth</a:t>
            </a:r>
            <a:endParaRPr lang="en-US" sz="1800" b="0" strike="noStrike" spc="-1" dirty="0">
              <a:solidFill>
                <a:srgbClr val="000000"/>
              </a:solidFill>
              <a:latin typeface="Arial"/>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dirty="0">
                <a:solidFill>
                  <a:srgbClr val="000000"/>
                </a:solidFill>
                <a:latin typeface="Arial"/>
              </a:rPr>
              <a:t> </a:t>
            </a:r>
          </a:p>
        </p:txBody>
      </p:sp>
      <p:sp>
        <p:nvSpPr>
          <p:cNvPr id="221" name="Text 10"/>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222" name="Text 11"/>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14</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224" name="Text 1"/>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E0A526"/>
                </a:solidFill>
                <a:latin typeface="Calibri"/>
                <a:ea typeface="Calibri"/>
              </a:rPr>
              <a:t>INTRODUCTION · IDEOLOGY</a:t>
            </a:r>
            <a:endParaRPr lang="en-US" sz="1300" b="0" strike="noStrike" spc="-1">
              <a:solidFill>
                <a:srgbClr val="000000"/>
              </a:solidFill>
              <a:latin typeface="Arial"/>
            </a:endParaRPr>
          </a:p>
        </p:txBody>
      </p:sp>
      <p:sp>
        <p:nvSpPr>
          <p:cNvPr id="225" name="Text 2"/>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FFFFFF"/>
                </a:solidFill>
                <a:latin typeface="Cambria"/>
              </a:rPr>
              <a:t>Mixed Economy</a:t>
            </a:r>
            <a:endParaRPr lang="en-US" sz="2900" b="0" strike="noStrike" spc="-1">
              <a:solidFill>
                <a:srgbClr val="000000"/>
              </a:solidFill>
              <a:latin typeface="Arial"/>
            </a:endParaRPr>
          </a:p>
        </p:txBody>
      </p:sp>
      <p:sp>
        <p:nvSpPr>
          <p:cNvPr id="226" name="Text 3"/>
          <p:cNvSpPr/>
          <p:nvPr/>
        </p:nvSpPr>
        <p:spPr>
          <a:xfrm>
            <a:off x="624186" y="1484784"/>
            <a:ext cx="10882440" cy="10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C9BBA8"/>
                </a:solidFill>
                <a:latin typeface="Calibri"/>
                <a:ea typeface="Calibri"/>
              </a:rPr>
              <a:t>A mixed economy blends private enterprise with government intervention — most countries in the world, including India, run this way.</a:t>
            </a:r>
            <a:endParaRPr lang="en-US" sz="2800" b="0" strike="noStrike" spc="-1" dirty="0">
              <a:solidFill>
                <a:srgbClr val="000000"/>
              </a:solidFill>
              <a:latin typeface="Arial"/>
            </a:endParaRPr>
          </a:p>
        </p:txBody>
      </p:sp>
      <p:sp>
        <p:nvSpPr>
          <p:cNvPr id="227" name="Shape 4"/>
          <p:cNvSpPr/>
          <p:nvPr/>
        </p:nvSpPr>
        <p:spPr>
          <a:xfrm>
            <a:off x="1189080" y="3292560"/>
            <a:ext cx="3290760" cy="1371600"/>
          </a:xfrm>
          <a:prstGeom prst="roundRect">
            <a:avLst>
              <a:gd name="adj" fmla="val 5333"/>
            </a:avLst>
          </a:prstGeom>
          <a:solidFill>
            <a:srgbClr val="E0A52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28" name="Text 5"/>
          <p:cNvSpPr/>
          <p:nvPr/>
        </p:nvSpPr>
        <p:spPr>
          <a:xfrm>
            <a:off x="1189080" y="3278184"/>
            <a:ext cx="3290760" cy="3668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232323"/>
                </a:solidFill>
                <a:latin typeface="Cambria"/>
              </a:rPr>
              <a:t>PRIVATE SECTOR</a:t>
            </a:r>
            <a:endParaRPr lang="en-US" sz="1400" b="0" strike="noStrike" spc="-1" dirty="0">
              <a:solidFill>
                <a:srgbClr val="000000"/>
              </a:solidFill>
              <a:latin typeface="Arial"/>
            </a:endParaRPr>
          </a:p>
        </p:txBody>
      </p:sp>
      <p:sp>
        <p:nvSpPr>
          <p:cNvPr id="229" name="Text 6"/>
          <p:cNvSpPr/>
          <p:nvPr/>
        </p:nvSpPr>
        <p:spPr>
          <a:xfrm>
            <a:off x="1325520" y="3645024"/>
            <a:ext cx="3017880" cy="926976"/>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3A2E0F"/>
                </a:solidFill>
                <a:latin typeface="Calibri"/>
                <a:ea typeface="Calibri"/>
              </a:rPr>
              <a:t>Companies, shops &amp; startups</a:t>
            </a:r>
            <a:endParaRPr lang="en-US" b="0" strike="noStrike" spc="-1" dirty="0">
              <a:solidFill>
                <a:srgbClr val="000000"/>
              </a:solidFill>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3A2E0F"/>
                </a:solidFill>
                <a:latin typeface="Calibri"/>
                <a:ea typeface="Calibri"/>
              </a:rPr>
              <a:t>competing for profit</a:t>
            </a:r>
            <a:endParaRPr lang="en-US" b="0" strike="noStrike" spc="-1" dirty="0">
              <a:solidFill>
                <a:srgbClr val="000000"/>
              </a:solidFill>
              <a:latin typeface="Arial"/>
            </a:endParaRPr>
          </a:p>
        </p:txBody>
      </p:sp>
      <p:sp>
        <p:nvSpPr>
          <p:cNvPr id="230" name="Shape 7"/>
          <p:cNvSpPr/>
          <p:nvPr/>
        </p:nvSpPr>
        <p:spPr>
          <a:xfrm>
            <a:off x="7709040" y="3292560"/>
            <a:ext cx="3290760" cy="1371600"/>
          </a:xfrm>
          <a:prstGeom prst="roundRect">
            <a:avLst>
              <a:gd name="adj" fmla="val 5333"/>
            </a:avLst>
          </a:prstGeom>
          <a:solidFill>
            <a:srgbClr val="7A2E2E"/>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31" name="Text 8"/>
          <p:cNvSpPr/>
          <p:nvPr/>
        </p:nvSpPr>
        <p:spPr>
          <a:xfrm>
            <a:off x="7709040" y="3284984"/>
            <a:ext cx="3290760" cy="3668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strike="noStrike" spc="-1" dirty="0">
                <a:solidFill>
                  <a:srgbClr val="FFFFFF"/>
                </a:solidFill>
                <a:latin typeface="Cambria"/>
              </a:rPr>
              <a:t>PUBLIC SECTOR</a:t>
            </a:r>
            <a:endParaRPr lang="en-US" sz="1400" b="0" strike="noStrike" spc="-1" dirty="0">
              <a:solidFill>
                <a:srgbClr val="000000"/>
              </a:solidFill>
              <a:latin typeface="Arial"/>
            </a:endParaRPr>
          </a:p>
        </p:txBody>
      </p:sp>
      <p:sp>
        <p:nvSpPr>
          <p:cNvPr id="232" name="Text 9"/>
          <p:cNvSpPr/>
          <p:nvPr/>
        </p:nvSpPr>
        <p:spPr>
          <a:xfrm>
            <a:off x="7845480" y="3861048"/>
            <a:ext cx="3017880" cy="5493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F0E2E2"/>
                </a:solidFill>
                <a:latin typeface="Calibri"/>
                <a:ea typeface="Calibri"/>
              </a:rPr>
              <a:t>Government-run services</a:t>
            </a:r>
            <a:endParaRPr lang="en-US" sz="2000" b="0" strike="noStrike" spc="-1" dirty="0">
              <a:solidFill>
                <a:srgbClr val="000000"/>
              </a:solidFill>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F0E2E2"/>
                </a:solidFill>
                <a:latin typeface="Calibri"/>
                <a:ea typeface="Calibri"/>
              </a:rPr>
              <a:t>like railways &amp; public banks</a:t>
            </a:r>
            <a:endParaRPr lang="en-US" sz="2000" b="0" strike="noStrike" spc="-1" dirty="0">
              <a:solidFill>
                <a:srgbClr val="000000"/>
              </a:solidFill>
              <a:latin typeface="Arial"/>
            </a:endParaRPr>
          </a:p>
        </p:txBody>
      </p:sp>
      <p:sp>
        <p:nvSpPr>
          <p:cNvPr id="233" name="Text 10"/>
          <p:cNvSpPr/>
          <p:nvPr/>
        </p:nvSpPr>
        <p:spPr>
          <a:xfrm>
            <a:off x="4572000" y="3611520"/>
            <a:ext cx="3227400" cy="824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400" b="1" strike="noStrike" spc="-1">
                <a:solidFill>
                  <a:srgbClr val="FFFFFF"/>
                </a:solidFill>
                <a:latin typeface="Cambria"/>
              </a:rPr>
              <a:t>+</a:t>
            </a:r>
            <a:endParaRPr lang="en-US" sz="3400" b="0" strike="noStrike" spc="-1">
              <a:solidFill>
                <a:srgbClr val="000000"/>
              </a:solidFill>
              <a:latin typeface="Arial"/>
            </a:endParaRPr>
          </a:p>
        </p:txBody>
      </p:sp>
      <p:sp>
        <p:nvSpPr>
          <p:cNvPr id="234" name="Text 11"/>
          <p:cNvSpPr/>
          <p:nvPr/>
        </p:nvSpPr>
        <p:spPr>
          <a:xfrm>
            <a:off x="639720" y="5165640"/>
            <a:ext cx="10882440" cy="824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i="1" spc="-1" dirty="0" smtClean="0">
                <a:solidFill>
                  <a:srgbClr val="C9BBA8"/>
                </a:solidFill>
                <a:latin typeface="Calibri"/>
                <a:ea typeface="Calibri"/>
              </a:rPr>
              <a:t>E</a:t>
            </a:r>
            <a:r>
              <a:rPr lang="en-US" sz="2000" b="0" i="1" strike="noStrike" spc="-1" dirty="0" smtClean="0">
                <a:solidFill>
                  <a:srgbClr val="C9BBA8"/>
                </a:solidFill>
                <a:latin typeface="Calibri"/>
                <a:ea typeface="Calibri"/>
              </a:rPr>
              <a:t>xample</a:t>
            </a:r>
            <a:r>
              <a:rPr lang="en-US" sz="2000" b="0" i="1" strike="noStrike" spc="-1" dirty="0">
                <a:solidFill>
                  <a:srgbClr val="C9BBA8"/>
                </a:solidFill>
                <a:latin typeface="Calibri"/>
                <a:ea typeface="Calibri"/>
              </a:rPr>
              <a:t>: Indian Railways and public-sector banks run alongside private airlines, e-commerce platforms, and IT companies — both sectors work side by side.</a:t>
            </a:r>
            <a:endParaRPr lang="en-US" sz="2000" b="0" strike="noStrike" spc="-1" dirty="0">
              <a:solidFill>
                <a:srgbClr val="000000"/>
              </a:solidFill>
              <a:latin typeface="Arial"/>
            </a:endParaRPr>
          </a:p>
        </p:txBody>
      </p:sp>
      <p:sp>
        <p:nvSpPr>
          <p:cNvPr id="235" name="Text 12"/>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Introduction</a:t>
            </a:r>
            <a:endParaRPr lang="en-US" sz="1000" b="0" strike="noStrike" spc="-1">
              <a:solidFill>
                <a:srgbClr val="000000"/>
              </a:solidFill>
              <a:latin typeface="Arial"/>
            </a:endParaRPr>
          </a:p>
        </p:txBody>
      </p:sp>
      <p:sp>
        <p:nvSpPr>
          <p:cNvPr id="236" name="Text 13"/>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15</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7" name="Text 0"/>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1" strike="noStrike" spc="-1">
                <a:solidFill>
                  <a:srgbClr val="7A2E2E"/>
                </a:solidFill>
                <a:latin typeface="Calibri"/>
                <a:ea typeface="Calibri"/>
              </a:rPr>
              <a:t>INTRODUCTION · IDEOLOGY</a:t>
            </a:r>
            <a:endParaRPr lang="en-US" sz="1300" b="0" strike="noStrike" spc="-1">
              <a:solidFill>
                <a:srgbClr val="000000"/>
              </a:solidFill>
              <a:latin typeface="Arial"/>
            </a:endParaRPr>
          </a:p>
        </p:txBody>
      </p:sp>
      <p:sp>
        <p:nvSpPr>
          <p:cNvPr id="238" name="Text 1"/>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dirty="0">
                <a:solidFill>
                  <a:srgbClr val="232323"/>
                </a:solidFill>
                <a:latin typeface="Cambria"/>
              </a:rPr>
              <a:t>Mixed Economy: Strengths, Weaknesses &amp; India Today</a:t>
            </a:r>
            <a:endParaRPr lang="en-US" sz="2900" b="0" strike="noStrike" spc="-1" dirty="0">
              <a:solidFill>
                <a:srgbClr val="000000"/>
              </a:solidFill>
              <a:latin typeface="Arial"/>
            </a:endParaRPr>
          </a:p>
        </p:txBody>
      </p:sp>
      <p:sp>
        <p:nvSpPr>
          <p:cNvPr id="239" name="Shape 2"/>
          <p:cNvSpPr/>
          <p:nvPr/>
        </p:nvSpPr>
        <p:spPr>
          <a:xfrm>
            <a:off x="549360" y="1736640"/>
            <a:ext cx="5440320" cy="2514600"/>
          </a:xfrm>
          <a:prstGeom prst="roundRect">
            <a:avLst>
              <a:gd name="adj" fmla="val 2907"/>
            </a:avLst>
          </a:prstGeom>
          <a:solidFill>
            <a:srgbClr val="EAF0E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40" name="Text 3"/>
          <p:cNvSpPr/>
          <p:nvPr/>
        </p:nvSpPr>
        <p:spPr>
          <a:xfrm>
            <a:off x="822240" y="1920960"/>
            <a:ext cx="48466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5E7350"/>
                </a:solidFill>
                <a:latin typeface="Cambria"/>
              </a:rPr>
              <a:t>Advantages</a:t>
            </a:r>
            <a:endParaRPr lang="en-US" sz="2000" b="0" strike="noStrike" spc="-1" dirty="0">
              <a:solidFill>
                <a:srgbClr val="000000"/>
              </a:solidFill>
              <a:latin typeface="Arial"/>
            </a:endParaRPr>
          </a:p>
        </p:txBody>
      </p:sp>
      <p:sp>
        <p:nvSpPr>
          <p:cNvPr id="241" name="Text 4"/>
          <p:cNvSpPr/>
          <p:nvPr/>
        </p:nvSpPr>
        <p:spPr>
          <a:xfrm>
            <a:off x="822240" y="2332080"/>
            <a:ext cx="4846680" cy="1828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2A2A2A"/>
                </a:solidFill>
                <a:latin typeface="Calibri"/>
                <a:ea typeface="Calibri"/>
              </a:rPr>
              <a:t>Balances economic efficiency with social equality</a:t>
            </a:r>
            <a:endParaRPr lang="en-US" sz="1600"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2A2A2A"/>
                </a:solidFill>
                <a:latin typeface="Calibri"/>
                <a:ea typeface="Calibri"/>
              </a:rPr>
              <a:t>Government can step in during market failures</a:t>
            </a:r>
            <a:endParaRPr lang="en-US" sz="1600"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2A2A2A"/>
                </a:solidFill>
                <a:latin typeface="Calibri"/>
                <a:ea typeface="Calibri"/>
              </a:rPr>
              <a:t>Encourages a wide diversity of economic </a:t>
            </a:r>
            <a:r>
              <a:rPr lang="en-US" sz="1600" b="0" strike="noStrike" spc="-1" dirty="0" smtClean="0">
                <a:solidFill>
                  <a:srgbClr val="2A2A2A"/>
                </a:solidFill>
                <a:latin typeface="Calibri"/>
                <a:ea typeface="Calibri"/>
              </a:rPr>
              <a:t>activity</a:t>
            </a:r>
            <a:endParaRPr lang="en-US" sz="1800" b="0" strike="noStrike" spc="-1" dirty="0">
              <a:solidFill>
                <a:srgbClr val="000000"/>
              </a:solidFill>
              <a:latin typeface="Arial"/>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dirty="0">
                <a:solidFill>
                  <a:srgbClr val="000000"/>
                </a:solidFill>
                <a:latin typeface="Arial"/>
              </a:rPr>
              <a:t> </a:t>
            </a:r>
          </a:p>
        </p:txBody>
      </p:sp>
      <p:sp>
        <p:nvSpPr>
          <p:cNvPr id="242" name="Shape 5"/>
          <p:cNvSpPr/>
          <p:nvPr/>
        </p:nvSpPr>
        <p:spPr>
          <a:xfrm>
            <a:off x="6172200" y="1736640"/>
            <a:ext cx="5440320" cy="2514600"/>
          </a:xfrm>
          <a:prstGeom prst="roundRect">
            <a:avLst>
              <a:gd name="adj" fmla="val 2907"/>
            </a:avLst>
          </a:prstGeom>
          <a:solidFill>
            <a:srgbClr val="F2E4E1"/>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43" name="Text 6"/>
          <p:cNvSpPr/>
          <p:nvPr/>
        </p:nvSpPr>
        <p:spPr>
          <a:xfrm>
            <a:off x="6446880" y="1920960"/>
            <a:ext cx="48466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9C4A3A"/>
                </a:solidFill>
                <a:latin typeface="Cambria"/>
              </a:rPr>
              <a:t>Disadvantages</a:t>
            </a:r>
            <a:endParaRPr lang="en-US" sz="2000" b="0" strike="noStrike" spc="-1" dirty="0">
              <a:solidFill>
                <a:srgbClr val="000000"/>
              </a:solidFill>
              <a:latin typeface="Arial"/>
            </a:endParaRPr>
          </a:p>
        </p:txBody>
      </p:sp>
      <p:sp>
        <p:nvSpPr>
          <p:cNvPr id="244" name="Text 7"/>
          <p:cNvSpPr/>
          <p:nvPr/>
        </p:nvSpPr>
        <p:spPr>
          <a:xfrm>
            <a:off x="6446880" y="2332080"/>
            <a:ext cx="4846680" cy="1828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Can suffer from bureaucratic inefficiency</a:t>
            </a:r>
            <a:endParaRPr lang="en-US" b="0" strike="noStrike" spc="-1" dirty="0">
              <a:solidFill>
                <a:srgbClr val="000000"/>
              </a:solidFill>
              <a:latin typeface="Arial"/>
            </a:endParaRPr>
          </a:p>
          <a:p>
            <a:pPr marL="343080" indent="-343080">
              <a:lnSpc>
                <a:spcPct val="115000"/>
              </a:lnSpc>
              <a:spcAft>
                <a:spcPts val="799"/>
              </a:spcAft>
              <a:buClr>
                <a:srgbClr val="2A2A2A"/>
              </a:buClr>
              <a:buFont typeface="Calibri"/>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2A2A2A"/>
                </a:solidFill>
                <a:latin typeface="Calibri"/>
                <a:ea typeface="Calibri"/>
              </a:rPr>
              <a:t>Ongoing political debate over how much </a:t>
            </a:r>
            <a:r>
              <a:rPr lang="en-US" b="0" strike="noStrike" spc="-1" dirty="0" smtClean="0">
                <a:solidFill>
                  <a:srgbClr val="2A2A2A"/>
                </a:solidFill>
                <a:latin typeface="Calibri"/>
                <a:ea typeface="Calibri"/>
              </a:rPr>
              <a:t>the</a:t>
            </a:r>
            <a:r>
              <a:rPr lang="en-US" spc="-1" dirty="0">
                <a:solidFill>
                  <a:srgbClr val="000000"/>
                </a:solidFill>
                <a:latin typeface="Arial"/>
              </a:rPr>
              <a:t> </a:t>
            </a:r>
            <a:r>
              <a:rPr lang="en-US" b="0" strike="noStrike" spc="-1" dirty="0" smtClean="0">
                <a:solidFill>
                  <a:srgbClr val="2A2A2A"/>
                </a:solidFill>
                <a:latin typeface="Calibri"/>
                <a:ea typeface="Calibri"/>
              </a:rPr>
              <a:t>state </a:t>
            </a:r>
            <a:r>
              <a:rPr lang="en-US" b="0" strike="noStrike" spc="-1" dirty="0">
                <a:solidFill>
                  <a:srgbClr val="2A2A2A"/>
                </a:solidFill>
                <a:latin typeface="Calibri"/>
                <a:ea typeface="Calibri"/>
              </a:rPr>
              <a:t>should intervene</a:t>
            </a:r>
            <a:endParaRPr lang="en-US" b="0" strike="noStrike" spc="-1" dirty="0">
              <a:solidFill>
                <a:srgbClr val="000000"/>
              </a:solidFill>
              <a:latin typeface="Arial"/>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dirty="0">
                <a:solidFill>
                  <a:srgbClr val="000000"/>
                </a:solidFill>
                <a:latin typeface="Arial"/>
              </a:rPr>
              <a:t> </a:t>
            </a:r>
          </a:p>
        </p:txBody>
      </p:sp>
      <p:sp>
        <p:nvSpPr>
          <p:cNvPr id="245" name="Shape 8"/>
          <p:cNvSpPr/>
          <p:nvPr/>
        </p:nvSpPr>
        <p:spPr>
          <a:xfrm>
            <a:off x="549360" y="4435560"/>
            <a:ext cx="11063160" cy="1690560"/>
          </a:xfrm>
          <a:prstGeom prst="roundRect">
            <a:avLst>
              <a:gd name="adj" fmla="val 4324"/>
            </a:avLst>
          </a:prstGeom>
          <a:solidFill>
            <a:srgbClr val="232323"/>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46" name="Text 9"/>
          <p:cNvSpPr/>
          <p:nvPr/>
        </p:nvSpPr>
        <p:spPr>
          <a:xfrm>
            <a:off x="868320" y="4618080"/>
            <a:ext cx="104252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strike="noStrike" spc="-1" dirty="0">
                <a:solidFill>
                  <a:srgbClr val="E0A526"/>
                </a:solidFill>
                <a:latin typeface="Cambria"/>
              </a:rPr>
              <a:t>India: A Leading </a:t>
            </a:r>
            <a:r>
              <a:rPr lang="en-US" sz="1600" b="1" strike="noStrike" spc="-1">
                <a:solidFill>
                  <a:srgbClr val="E0A526"/>
                </a:solidFill>
                <a:latin typeface="Cambria"/>
              </a:rPr>
              <a:t>Mixed-Economy </a:t>
            </a:r>
            <a:endParaRPr lang="en-US" sz="1600" b="0" strike="noStrike" spc="-1" dirty="0">
              <a:solidFill>
                <a:srgbClr val="000000"/>
              </a:solidFill>
              <a:latin typeface="Arial"/>
            </a:endParaRPr>
          </a:p>
        </p:txBody>
      </p:sp>
      <p:sp>
        <p:nvSpPr>
          <p:cNvPr id="247" name="Text 10"/>
          <p:cNvSpPr/>
          <p:nvPr/>
        </p:nvSpPr>
        <p:spPr>
          <a:xfrm>
            <a:off x="868320" y="4983120"/>
            <a:ext cx="10425240" cy="1052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dirty="0">
                <a:solidFill>
                  <a:srgbClr val="C9BBA8"/>
                </a:solidFill>
                <a:latin typeface="Calibri"/>
                <a:ea typeface="Calibri"/>
              </a:rPr>
              <a:t>The government </a:t>
            </a:r>
            <a:r>
              <a:rPr lang="en-US" sz="1600" b="0" strike="noStrike" spc="-1" dirty="0" smtClean="0">
                <a:solidFill>
                  <a:srgbClr val="C9BBA8"/>
                </a:solidFill>
                <a:latin typeface="Calibri"/>
                <a:ea typeface="Calibri"/>
              </a:rPr>
              <a:t>privatized </a:t>
            </a:r>
            <a:r>
              <a:rPr lang="en-US" sz="1600" b="0" strike="noStrike" spc="-1" dirty="0">
                <a:solidFill>
                  <a:srgbClr val="C9BBA8"/>
                </a:solidFill>
                <a:latin typeface="Calibri"/>
                <a:ea typeface="Calibri"/>
              </a:rPr>
              <a:t>Air India (2022) and listed LIC on the stock market, while still running railways and public banks. At the same time, the PLI manufacturing scheme has drawn over ₹3 </a:t>
            </a:r>
            <a:r>
              <a:rPr lang="en-US" sz="1600" b="0" strike="noStrike" spc="-1" dirty="0" err="1">
                <a:solidFill>
                  <a:srgbClr val="C9BBA8"/>
                </a:solidFill>
                <a:latin typeface="Calibri"/>
                <a:ea typeface="Calibri"/>
              </a:rPr>
              <a:t>lakh</a:t>
            </a:r>
            <a:r>
              <a:rPr lang="en-US" sz="1600" b="0" strike="noStrike" spc="-1" dirty="0">
                <a:solidFill>
                  <a:srgbClr val="C9BBA8"/>
                </a:solidFill>
                <a:latin typeface="Calibri"/>
                <a:ea typeface="Calibri"/>
              </a:rPr>
              <a:t> </a:t>
            </a:r>
            <a:r>
              <a:rPr lang="en-US" sz="1600" b="0" strike="noStrike" spc="-1" dirty="0" err="1">
                <a:solidFill>
                  <a:srgbClr val="C9BBA8"/>
                </a:solidFill>
                <a:latin typeface="Calibri"/>
                <a:ea typeface="Calibri"/>
              </a:rPr>
              <a:t>crore</a:t>
            </a:r>
            <a:r>
              <a:rPr lang="en-US" sz="1600" b="0" strike="noStrike" spc="-1" dirty="0">
                <a:solidFill>
                  <a:srgbClr val="C9BBA8"/>
                </a:solidFill>
                <a:latin typeface="Calibri"/>
                <a:ea typeface="Calibri"/>
              </a:rPr>
              <a:t> in private investment and created about 14 </a:t>
            </a:r>
            <a:r>
              <a:rPr lang="en-US" sz="1600" b="0" strike="noStrike" spc="-1" dirty="0" err="1">
                <a:solidFill>
                  <a:srgbClr val="C9BBA8"/>
                </a:solidFill>
                <a:latin typeface="Calibri"/>
                <a:ea typeface="Calibri"/>
              </a:rPr>
              <a:t>lakh</a:t>
            </a:r>
            <a:r>
              <a:rPr lang="en-US" sz="1600" b="0" strike="noStrike" spc="-1" dirty="0">
                <a:solidFill>
                  <a:srgbClr val="C9BBA8"/>
                </a:solidFill>
                <a:latin typeface="Calibri"/>
                <a:ea typeface="Calibri"/>
              </a:rPr>
              <a:t> jobs since 2020 — private and public sectors growing together.</a:t>
            </a:r>
            <a:endParaRPr lang="en-US" sz="1600" b="0" strike="noStrike" spc="-1" dirty="0">
              <a:solidFill>
                <a:srgbClr val="000000"/>
              </a:solidFill>
              <a:latin typeface="Arial"/>
            </a:endParaRPr>
          </a:p>
        </p:txBody>
      </p:sp>
      <p:sp>
        <p:nvSpPr>
          <p:cNvPr id="248" name="Text 11"/>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Concepts of Economics</a:t>
            </a:r>
            <a:endParaRPr lang="en-US" sz="1000" b="0" strike="noStrike" spc="-1">
              <a:solidFill>
                <a:srgbClr val="000000"/>
              </a:solidFill>
              <a:latin typeface="Arial"/>
            </a:endParaRPr>
          </a:p>
        </p:txBody>
      </p:sp>
      <p:sp>
        <p:nvSpPr>
          <p:cNvPr id="249" name="Text 12"/>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16</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251" name="Text 2"/>
          <p:cNvSpPr/>
          <p:nvPr/>
        </p:nvSpPr>
        <p:spPr>
          <a:xfrm>
            <a:off x="549360" y="622440"/>
            <a:ext cx="11063160" cy="822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900" b="1" strike="noStrike" spc="-1">
                <a:solidFill>
                  <a:srgbClr val="FFFFFF"/>
                </a:solidFill>
                <a:latin typeface="Cambria"/>
              </a:rPr>
              <a:t>Key Takeaways</a:t>
            </a:r>
            <a:endParaRPr lang="en-US" sz="2900" b="0" strike="noStrike" spc="-1">
              <a:solidFill>
                <a:srgbClr val="000000"/>
              </a:solidFill>
              <a:latin typeface="Arial"/>
            </a:endParaRPr>
          </a:p>
        </p:txBody>
      </p:sp>
      <p:sp>
        <p:nvSpPr>
          <p:cNvPr id="252" name="Shape 3"/>
          <p:cNvSpPr/>
          <p:nvPr/>
        </p:nvSpPr>
        <p:spPr>
          <a:xfrm>
            <a:off x="639720" y="1874880"/>
            <a:ext cx="457200" cy="457200"/>
          </a:xfrm>
          <a:prstGeom prst="ellipse">
            <a:avLst/>
          </a:prstGeom>
          <a:solidFill>
            <a:srgbClr val="E0A52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53" name="Text 4"/>
          <p:cNvSpPr/>
          <p:nvPr/>
        </p:nvSpPr>
        <p:spPr>
          <a:xfrm>
            <a:off x="639720" y="1874880"/>
            <a:ext cx="45720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232323"/>
                </a:solidFill>
                <a:latin typeface="Cambria"/>
              </a:rPr>
              <a:t>1</a:t>
            </a:r>
            <a:endParaRPr lang="en-US" sz="1500" b="0" strike="noStrike" spc="-1">
              <a:solidFill>
                <a:srgbClr val="000000"/>
              </a:solidFill>
              <a:latin typeface="Arial"/>
            </a:endParaRPr>
          </a:p>
        </p:txBody>
      </p:sp>
      <p:sp>
        <p:nvSpPr>
          <p:cNvPr id="254" name="Text 5"/>
          <p:cNvSpPr/>
          <p:nvPr/>
        </p:nvSpPr>
        <p:spPr>
          <a:xfrm>
            <a:off x="1279440" y="1782720"/>
            <a:ext cx="9968040" cy="777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FFFFFF"/>
                </a:solidFill>
                <a:latin typeface="Calibri"/>
                <a:ea typeface="Calibri"/>
              </a:rPr>
              <a:t>A rich nation is built on real production, not on printing money — India's 6.6% projected growth (FY27) is driven by output, not currency supply.</a:t>
            </a:r>
            <a:endParaRPr lang="en-US" b="0" strike="noStrike" spc="-1" dirty="0">
              <a:solidFill>
                <a:srgbClr val="000000"/>
              </a:solidFill>
              <a:latin typeface="Arial"/>
            </a:endParaRPr>
          </a:p>
        </p:txBody>
      </p:sp>
      <p:sp>
        <p:nvSpPr>
          <p:cNvPr id="255" name="Shape 6"/>
          <p:cNvSpPr/>
          <p:nvPr/>
        </p:nvSpPr>
        <p:spPr>
          <a:xfrm>
            <a:off x="639720" y="2835360"/>
            <a:ext cx="457200" cy="457200"/>
          </a:xfrm>
          <a:prstGeom prst="ellipse">
            <a:avLst/>
          </a:prstGeom>
          <a:solidFill>
            <a:srgbClr val="E0A52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56" name="Text 7"/>
          <p:cNvSpPr/>
          <p:nvPr/>
        </p:nvSpPr>
        <p:spPr>
          <a:xfrm>
            <a:off x="639720" y="2835360"/>
            <a:ext cx="45720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232323"/>
                </a:solidFill>
                <a:latin typeface="Cambria"/>
              </a:rPr>
              <a:t>2</a:t>
            </a:r>
            <a:endParaRPr lang="en-US" sz="1500" b="0" strike="noStrike" spc="-1">
              <a:solidFill>
                <a:srgbClr val="000000"/>
              </a:solidFill>
              <a:latin typeface="Arial"/>
            </a:endParaRPr>
          </a:p>
        </p:txBody>
      </p:sp>
      <p:sp>
        <p:nvSpPr>
          <p:cNvPr id="257" name="Text 8"/>
          <p:cNvSpPr/>
          <p:nvPr/>
        </p:nvSpPr>
        <p:spPr>
          <a:xfrm>
            <a:off x="1279440" y="2743200"/>
            <a:ext cx="9968040" cy="777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FFFFFF"/>
                </a:solidFill>
                <a:latin typeface="Calibri"/>
                <a:ea typeface="Calibri"/>
              </a:rPr>
              <a:t>Economics studies how scarce resources are used to satisfy unlimited wants — for a household or an entire country.</a:t>
            </a:r>
            <a:endParaRPr lang="en-US" b="0" strike="noStrike" spc="-1" dirty="0">
              <a:solidFill>
                <a:srgbClr val="000000"/>
              </a:solidFill>
              <a:latin typeface="Arial"/>
            </a:endParaRPr>
          </a:p>
        </p:txBody>
      </p:sp>
      <p:sp>
        <p:nvSpPr>
          <p:cNvPr id="258" name="Shape 9"/>
          <p:cNvSpPr/>
          <p:nvPr/>
        </p:nvSpPr>
        <p:spPr>
          <a:xfrm>
            <a:off x="639720" y="3794040"/>
            <a:ext cx="457200" cy="457200"/>
          </a:xfrm>
          <a:prstGeom prst="ellipse">
            <a:avLst/>
          </a:prstGeom>
          <a:solidFill>
            <a:srgbClr val="E0A52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59" name="Text 10"/>
          <p:cNvSpPr/>
          <p:nvPr/>
        </p:nvSpPr>
        <p:spPr>
          <a:xfrm>
            <a:off x="639720" y="3794040"/>
            <a:ext cx="45720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232323"/>
                </a:solidFill>
                <a:latin typeface="Cambria"/>
              </a:rPr>
              <a:t>3</a:t>
            </a:r>
            <a:endParaRPr lang="en-US" sz="1500" b="0" strike="noStrike" spc="-1">
              <a:solidFill>
                <a:srgbClr val="000000"/>
              </a:solidFill>
              <a:latin typeface="Arial"/>
            </a:endParaRPr>
          </a:p>
        </p:txBody>
      </p:sp>
      <p:sp>
        <p:nvSpPr>
          <p:cNvPr id="260" name="Text 11"/>
          <p:cNvSpPr/>
          <p:nvPr/>
        </p:nvSpPr>
        <p:spPr>
          <a:xfrm>
            <a:off x="1279440" y="3703680"/>
            <a:ext cx="9968040" cy="7761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FFFFFF"/>
                </a:solidFill>
                <a:latin typeface="Calibri"/>
                <a:ea typeface="Calibri"/>
              </a:rPr>
              <a:t>Every economy answers what, how, and for whom to produce — Communism, Capitalism, and Mixed Economy answer these differently.</a:t>
            </a:r>
            <a:endParaRPr lang="en-US" b="0" strike="noStrike" spc="-1" dirty="0">
              <a:solidFill>
                <a:srgbClr val="000000"/>
              </a:solidFill>
              <a:latin typeface="Arial"/>
            </a:endParaRPr>
          </a:p>
        </p:txBody>
      </p:sp>
      <p:sp>
        <p:nvSpPr>
          <p:cNvPr id="261" name="Shape 12"/>
          <p:cNvSpPr/>
          <p:nvPr/>
        </p:nvSpPr>
        <p:spPr>
          <a:xfrm>
            <a:off x="639720" y="4754520"/>
            <a:ext cx="457200" cy="457200"/>
          </a:xfrm>
          <a:prstGeom prst="ellipse">
            <a:avLst/>
          </a:prstGeom>
          <a:solidFill>
            <a:srgbClr val="E0A526"/>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262" name="Text 13"/>
          <p:cNvSpPr/>
          <p:nvPr/>
        </p:nvSpPr>
        <p:spPr>
          <a:xfrm>
            <a:off x="639720" y="4754520"/>
            <a:ext cx="45720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500" b="1" strike="noStrike" spc="-1">
                <a:solidFill>
                  <a:srgbClr val="232323"/>
                </a:solidFill>
                <a:latin typeface="Cambria"/>
              </a:rPr>
              <a:t>4</a:t>
            </a:r>
            <a:endParaRPr lang="en-US" sz="1500" b="0" strike="noStrike" spc="-1">
              <a:solidFill>
                <a:srgbClr val="000000"/>
              </a:solidFill>
              <a:latin typeface="Arial"/>
            </a:endParaRPr>
          </a:p>
        </p:txBody>
      </p:sp>
      <p:sp>
        <p:nvSpPr>
          <p:cNvPr id="263" name="Text 14"/>
          <p:cNvSpPr/>
          <p:nvPr/>
        </p:nvSpPr>
        <p:spPr>
          <a:xfrm>
            <a:off x="1279440" y="4664160"/>
            <a:ext cx="9968040" cy="7761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1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FFFFFF"/>
                </a:solidFill>
                <a:latin typeface="Calibri"/>
                <a:ea typeface="Calibri"/>
              </a:rPr>
              <a:t>India today runs a mixed economy — private companies and government institutions growing side by side.</a:t>
            </a:r>
            <a:endParaRPr lang="en-US" sz="2000" b="0" strike="noStrike" spc="-1" dirty="0">
              <a:solidFill>
                <a:srgbClr val="000000"/>
              </a:solidFill>
              <a:latin typeface="Arial"/>
            </a:endParaRPr>
          </a:p>
        </p:txBody>
      </p:sp>
      <p:sp>
        <p:nvSpPr>
          <p:cNvPr id="264" name="Text 15"/>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Introduction · Recap</a:t>
            </a:r>
            <a:endParaRPr lang="en-US" sz="1000" b="0" strike="noStrike" spc="-1">
              <a:solidFill>
                <a:srgbClr val="000000"/>
              </a:solidFill>
              <a:latin typeface="Arial"/>
            </a:endParaRPr>
          </a:p>
        </p:txBody>
      </p:sp>
      <p:sp>
        <p:nvSpPr>
          <p:cNvPr id="265" name="Text 16"/>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6E6660"/>
                </a:solidFill>
                <a:latin typeface="Calibri"/>
                <a:ea typeface="Calibri"/>
              </a:rPr>
              <a:t>17</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500" name="Label"/>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300" b="1" dirty="0">
                <a:solidFill>
                  <a:srgbClr val="E0A526"/>
                </a:solidFill>
                <a:latin typeface="Calibri"/>
                <a:ea typeface="Calibri"/>
              </a:rPr>
              <a:t>MCQ 1 · Money vs. Real Wealth </a:t>
            </a:r>
          </a:p>
        </p:txBody>
      </p:sp>
      <p:sp>
        <p:nvSpPr>
          <p:cNvPr id="501" name="Title"/>
          <p:cNvSpPr/>
          <p:nvPr/>
        </p:nvSpPr>
        <p:spPr>
          <a:xfrm>
            <a:off x="549360" y="622440"/>
            <a:ext cx="11063160" cy="15000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pPr>
            <a:r>
              <a:rPr lang="en-US" sz="2000" b="1">
                <a:solidFill>
                  <a:srgbClr val="FFFFFF"/>
                </a:solidFill>
                <a:latin typeface="Cambria"/>
              </a:rPr>
              <a:t>As per the IMF's July 2026 World Economic Outlook Update, India remains among the fastest-growing major economies, with 2026 growth projected at approximately:</a:t>
            </a:r>
          </a:p>
        </p:txBody>
      </p:sp>
      <p:sp>
        <p:nvSpPr>
          <p:cNvPr id="502" name="Opt"/>
          <p:cNvSpPr/>
          <p:nvPr/>
        </p:nvSpPr>
        <p:spPr>
          <a:xfrm>
            <a:off x="639720" y="190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A) 2.0%</a:t>
            </a:r>
          </a:p>
        </p:txBody>
      </p:sp>
      <p:sp>
        <p:nvSpPr>
          <p:cNvPr id="503" name="Opt"/>
          <p:cNvSpPr/>
          <p:nvPr/>
        </p:nvSpPr>
        <p:spPr>
          <a:xfrm>
            <a:off x="639720" y="252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B) 6.4%</a:t>
            </a:r>
          </a:p>
        </p:txBody>
      </p:sp>
      <p:sp>
        <p:nvSpPr>
          <p:cNvPr id="504" name="Opt"/>
          <p:cNvSpPr/>
          <p:nvPr/>
        </p:nvSpPr>
        <p:spPr>
          <a:xfrm>
            <a:off x="639720" y="314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C) 10.5%</a:t>
            </a:r>
          </a:p>
        </p:txBody>
      </p:sp>
      <p:sp>
        <p:nvSpPr>
          <p:cNvPr id="505" name="Opt"/>
          <p:cNvSpPr/>
          <p:nvPr/>
        </p:nvSpPr>
        <p:spPr>
          <a:xfrm>
            <a:off x="639720" y="376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D) 0.7%</a:t>
            </a:r>
          </a:p>
        </p:txBody>
      </p:sp>
      <p:sp>
        <p:nvSpPr>
          <p:cNvPr id="506" name="Footer L"/>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000" b="0">
                <a:solidFill>
                  <a:srgbClr val="6E6660"/>
                </a:solidFill>
                <a:latin typeface="Calibri"/>
                <a:ea typeface="Calibri"/>
              </a:rPr>
              <a:t>Current Affairs Quiz</a:t>
            </a:r>
          </a:p>
        </p:txBody>
      </p:sp>
      <p:sp>
        <p:nvSpPr>
          <p:cNvPr id="507" name="Footer R"/>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r>
              <a:rPr lang="en-US" sz="1000" b="0">
                <a:solidFill>
                  <a:srgbClr val="6E6660"/>
                </a:solidFill>
                <a:latin typeface="Calibri"/>
                <a:ea typeface="Calibri"/>
              </a:rPr>
              <a:t>19</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500" name="Label"/>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300" b="1" dirty="0">
                <a:solidFill>
                  <a:srgbClr val="E0A526"/>
                </a:solidFill>
                <a:latin typeface="Calibri"/>
                <a:ea typeface="Calibri"/>
              </a:rPr>
              <a:t>MCQ 2 · Monetary Policy </a:t>
            </a:r>
          </a:p>
        </p:txBody>
      </p:sp>
      <p:sp>
        <p:nvSpPr>
          <p:cNvPr id="501" name="Title"/>
          <p:cNvSpPr/>
          <p:nvPr/>
        </p:nvSpPr>
        <p:spPr>
          <a:xfrm>
            <a:off x="549360" y="622440"/>
            <a:ext cx="11063160" cy="15000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pPr>
            <a:r>
              <a:rPr lang="en-US" sz="2000" b="1">
                <a:solidFill>
                  <a:srgbClr val="FFFFFF"/>
                </a:solidFill>
                <a:latin typeface="Cambria"/>
              </a:rPr>
              <a:t>In its June 2026 policy meeting, the RBI's Monetary Policy Committee held the repo rate unchanged at:</a:t>
            </a:r>
          </a:p>
        </p:txBody>
      </p:sp>
      <p:sp>
        <p:nvSpPr>
          <p:cNvPr id="502" name="Opt"/>
          <p:cNvSpPr/>
          <p:nvPr/>
        </p:nvSpPr>
        <p:spPr>
          <a:xfrm>
            <a:off x="639720" y="190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A) 4.00%</a:t>
            </a:r>
          </a:p>
        </p:txBody>
      </p:sp>
      <p:sp>
        <p:nvSpPr>
          <p:cNvPr id="503" name="Opt"/>
          <p:cNvSpPr/>
          <p:nvPr/>
        </p:nvSpPr>
        <p:spPr>
          <a:xfrm>
            <a:off x="639720" y="252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B) 5.25%</a:t>
            </a:r>
          </a:p>
        </p:txBody>
      </p:sp>
      <p:sp>
        <p:nvSpPr>
          <p:cNvPr id="504" name="Opt"/>
          <p:cNvSpPr/>
          <p:nvPr/>
        </p:nvSpPr>
        <p:spPr>
          <a:xfrm>
            <a:off x="639720" y="314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C) 6.50%</a:t>
            </a:r>
          </a:p>
        </p:txBody>
      </p:sp>
      <p:sp>
        <p:nvSpPr>
          <p:cNvPr id="505" name="Opt"/>
          <p:cNvSpPr/>
          <p:nvPr/>
        </p:nvSpPr>
        <p:spPr>
          <a:xfrm>
            <a:off x="639720" y="376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D) 6.75%</a:t>
            </a:r>
          </a:p>
        </p:txBody>
      </p:sp>
      <p:sp>
        <p:nvSpPr>
          <p:cNvPr id="506" name="Footer L"/>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000" b="0">
                <a:solidFill>
                  <a:srgbClr val="6E6660"/>
                </a:solidFill>
                <a:latin typeface="Calibri"/>
                <a:ea typeface="Calibri"/>
              </a:rPr>
              <a:t>Current Affairs Quiz</a:t>
            </a:r>
          </a:p>
        </p:txBody>
      </p:sp>
      <p:sp>
        <p:nvSpPr>
          <p:cNvPr id="507" name="Footer R"/>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r>
              <a:rPr lang="en-US" sz="1000" b="0">
                <a:solidFill>
                  <a:srgbClr val="6E6660"/>
                </a:solidFill>
                <a:latin typeface="Calibri"/>
                <a:ea typeface="Calibri"/>
              </a:rPr>
              <a:t>21</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500" name="Label"/>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300" b="1" dirty="0">
                <a:solidFill>
                  <a:srgbClr val="E0A526"/>
                </a:solidFill>
                <a:latin typeface="Calibri"/>
                <a:ea typeface="Calibri"/>
              </a:rPr>
              <a:t>MCQ </a:t>
            </a:r>
            <a:r>
              <a:rPr lang="en-US" sz="1300" b="1" dirty="0" smtClean="0">
                <a:solidFill>
                  <a:srgbClr val="E0A526"/>
                </a:solidFill>
                <a:latin typeface="Calibri"/>
                <a:ea typeface="Calibri"/>
              </a:rPr>
              <a:t>3 </a:t>
            </a:r>
            <a:r>
              <a:rPr lang="en-US" sz="1300" b="1" dirty="0">
                <a:solidFill>
                  <a:srgbClr val="E0A526"/>
                </a:solidFill>
                <a:latin typeface="Calibri"/>
                <a:ea typeface="Calibri"/>
              </a:rPr>
              <a:t>· Scarcity and Choice </a:t>
            </a:r>
          </a:p>
        </p:txBody>
      </p:sp>
      <p:sp>
        <p:nvSpPr>
          <p:cNvPr id="501" name="Title"/>
          <p:cNvSpPr/>
          <p:nvPr/>
        </p:nvSpPr>
        <p:spPr>
          <a:xfrm>
            <a:off x="549360" y="622440"/>
            <a:ext cx="11063160" cy="15000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pPr>
            <a:r>
              <a:rPr lang="en-US" sz="2000" b="1">
                <a:solidFill>
                  <a:srgbClr val="FFFFFF"/>
                </a:solidFill>
                <a:latin typeface="Cambria"/>
              </a:rPr>
              <a:t>Elevated crude oil prices from the ongoing West Asia conflict are forcing oil-importing nations like India to prioritise how scarce forex and energy are used. This is a real-world illustration of:</a:t>
            </a:r>
          </a:p>
        </p:txBody>
      </p:sp>
      <p:sp>
        <p:nvSpPr>
          <p:cNvPr id="502" name="Opt"/>
          <p:cNvSpPr/>
          <p:nvPr/>
        </p:nvSpPr>
        <p:spPr>
          <a:xfrm>
            <a:off x="639720" y="190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A) Command economy planning</a:t>
            </a:r>
          </a:p>
        </p:txBody>
      </p:sp>
      <p:sp>
        <p:nvSpPr>
          <p:cNvPr id="503" name="Opt"/>
          <p:cNvSpPr/>
          <p:nvPr/>
        </p:nvSpPr>
        <p:spPr>
          <a:xfrm>
            <a:off x="639720" y="252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B) The problem of scarcity and choice</a:t>
            </a:r>
          </a:p>
        </p:txBody>
      </p:sp>
      <p:sp>
        <p:nvSpPr>
          <p:cNvPr id="504" name="Opt"/>
          <p:cNvSpPr/>
          <p:nvPr/>
        </p:nvSpPr>
        <p:spPr>
          <a:xfrm>
            <a:off x="639720" y="314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C) The circular flow of income</a:t>
            </a:r>
          </a:p>
        </p:txBody>
      </p:sp>
      <p:sp>
        <p:nvSpPr>
          <p:cNvPr id="505" name="Opt"/>
          <p:cNvSpPr/>
          <p:nvPr/>
        </p:nvSpPr>
        <p:spPr>
          <a:xfrm>
            <a:off x="639720" y="376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D) The Communism vs. Capitalism debate</a:t>
            </a:r>
          </a:p>
        </p:txBody>
      </p:sp>
      <p:sp>
        <p:nvSpPr>
          <p:cNvPr id="506" name="Footer L"/>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000" b="0">
                <a:solidFill>
                  <a:srgbClr val="6E6660"/>
                </a:solidFill>
                <a:latin typeface="Calibri"/>
                <a:ea typeface="Calibri"/>
              </a:rPr>
              <a:t>Current Affairs Quiz</a:t>
            </a:r>
          </a:p>
        </p:txBody>
      </p:sp>
      <p:sp>
        <p:nvSpPr>
          <p:cNvPr id="507" name="Footer R"/>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r>
              <a:rPr lang="en-US" sz="1000" b="0">
                <a:solidFill>
                  <a:srgbClr val="6E6660"/>
                </a:solidFill>
                <a:latin typeface="Calibri"/>
                <a:ea typeface="Calibri"/>
              </a:rPr>
              <a:t>27</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500" name="Label"/>
          <p:cNvSpPr/>
          <p:nvPr/>
        </p:nvSpPr>
        <p:spPr>
          <a:xfrm>
            <a:off x="549360" y="320760"/>
            <a:ext cx="10058400" cy="3189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300" b="1" dirty="0">
                <a:solidFill>
                  <a:srgbClr val="E0A526"/>
                </a:solidFill>
                <a:latin typeface="Calibri"/>
                <a:ea typeface="Calibri"/>
              </a:rPr>
              <a:t>MCQ </a:t>
            </a:r>
            <a:r>
              <a:rPr lang="en-US" sz="1300" b="1" dirty="0" smtClean="0">
                <a:solidFill>
                  <a:srgbClr val="E0A526"/>
                </a:solidFill>
                <a:latin typeface="Calibri"/>
                <a:ea typeface="Calibri"/>
              </a:rPr>
              <a:t>4 </a:t>
            </a:r>
            <a:r>
              <a:rPr lang="en-US" sz="1300" b="1" dirty="0">
                <a:solidFill>
                  <a:srgbClr val="E0A526"/>
                </a:solidFill>
                <a:latin typeface="Calibri"/>
                <a:ea typeface="Calibri"/>
              </a:rPr>
              <a:t>· Mixed Economy </a:t>
            </a:r>
          </a:p>
        </p:txBody>
      </p:sp>
      <p:sp>
        <p:nvSpPr>
          <p:cNvPr id="501" name="Title"/>
          <p:cNvSpPr/>
          <p:nvPr/>
        </p:nvSpPr>
        <p:spPr>
          <a:xfrm>
            <a:off x="549360" y="622440"/>
            <a:ext cx="11063160" cy="15000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15000"/>
              </a:lnSpc>
            </a:pPr>
            <a:r>
              <a:rPr lang="en-US" sz="2000" b="1">
                <a:solidFill>
                  <a:srgbClr val="FFFFFF"/>
                </a:solidFill>
                <a:latin typeface="Cambria"/>
              </a:rPr>
              <a:t>To cushion the rupee and attract foreign capital in 2026, the RBI/Government waived LTCG tax for foreign investors in government securities - while still running public banks and railways. This is best described as:</a:t>
            </a:r>
          </a:p>
        </p:txBody>
      </p:sp>
      <p:sp>
        <p:nvSpPr>
          <p:cNvPr id="502" name="Opt"/>
          <p:cNvSpPr/>
          <p:nvPr/>
        </p:nvSpPr>
        <p:spPr>
          <a:xfrm>
            <a:off x="639720" y="190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A) A pure command economy</a:t>
            </a:r>
          </a:p>
        </p:txBody>
      </p:sp>
      <p:sp>
        <p:nvSpPr>
          <p:cNvPr id="503" name="Opt"/>
          <p:cNvSpPr/>
          <p:nvPr/>
        </p:nvSpPr>
        <p:spPr>
          <a:xfrm>
            <a:off x="639720" y="252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B) Pure capitalism</a:t>
            </a:r>
          </a:p>
        </p:txBody>
      </p:sp>
      <p:sp>
        <p:nvSpPr>
          <p:cNvPr id="504" name="Opt"/>
          <p:cNvSpPr/>
          <p:nvPr/>
        </p:nvSpPr>
        <p:spPr>
          <a:xfrm>
            <a:off x="639720" y="314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C) India's mixed economy in action</a:t>
            </a:r>
          </a:p>
        </p:txBody>
      </p:sp>
      <p:sp>
        <p:nvSpPr>
          <p:cNvPr id="505" name="Opt"/>
          <p:cNvSpPr/>
          <p:nvPr/>
        </p:nvSpPr>
        <p:spPr>
          <a:xfrm>
            <a:off x="639720" y="3760000"/>
            <a:ext cx="10703880" cy="5029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500" b="0">
                <a:solidFill>
                  <a:srgbClr val="FFFFFF"/>
                </a:solidFill>
                <a:latin typeface="Calibri"/>
                <a:ea typeface="Calibri"/>
              </a:rPr>
              <a:t>D) Communism</a:t>
            </a:r>
          </a:p>
        </p:txBody>
      </p:sp>
      <p:sp>
        <p:nvSpPr>
          <p:cNvPr id="506" name="Footer L"/>
          <p:cNvSpPr/>
          <p:nvPr/>
        </p:nvSpPr>
        <p:spPr>
          <a:xfrm>
            <a:off x="457200" y="6473880"/>
            <a:ext cx="54864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r>
              <a:rPr lang="en-US" sz="1000" b="0">
                <a:solidFill>
                  <a:srgbClr val="6E6660"/>
                </a:solidFill>
                <a:latin typeface="Calibri"/>
                <a:ea typeface="Calibri"/>
              </a:rPr>
              <a:t>Current Affairs Quiz</a:t>
            </a:r>
          </a:p>
        </p:txBody>
      </p:sp>
      <p:sp>
        <p:nvSpPr>
          <p:cNvPr id="507" name="Footer R"/>
          <p:cNvSpPr/>
          <p:nvPr/>
        </p:nvSpPr>
        <p:spPr>
          <a:xfrm>
            <a:off x="11274480" y="6473880"/>
            <a:ext cx="457200" cy="2746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r>
              <a:rPr lang="en-US" sz="1000" b="0">
                <a:solidFill>
                  <a:srgbClr val="6E6660"/>
                </a:solidFill>
                <a:latin typeface="Calibri"/>
                <a:ea typeface="Calibri"/>
              </a:rPr>
              <a:t>29</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TotalTime>
  <Words>1916</Words>
  <Application>Microsoft Office PowerPoint</Application>
  <PresentationFormat>Custom</PresentationFormat>
  <Paragraphs>249</Paragraphs>
  <Slides>21</Slides>
  <Notes>17</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sandeep.arya</cp:lastModifiedBy>
  <cp:revision>48</cp:revision>
  <dcterms:modified xsi:type="dcterms:W3CDTF">2026-07-22T11:01:55Z</dcterms:modified>
</cp:coreProperties>
</file>

<file path=docProps/core1.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2026-07-14T11:59:58Z</dcterms:created>
  <dc:creator>PptxGenJS</dc:creator>
  <dc:description/>
  <dc:language>en-US</dc:language>
  <cp:lastModifiedBy>sandeep.arya</cp:lastModifiedBy>
  <dcterms:modified xsi:type="dcterms:W3CDTF">2026-07-15T04:04:03Z</dcterms:modified>
  <cp:revision>9</cp:revision>
  <dc:subject>PptxGenJS Presentation</dc:subject>
  <dc:title>PptxGenJS Presentation</dc:title>
</cp:coreProperties>
</file>