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06 — Elasticity of Demand. Covers price, income, cross-price, advertising elasticity, elasticity of supply, and the link between elasticity and total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Elasticity is a general responsiveness measure; the chapter applies it to price, income, cross-price, advertising and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55448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9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48716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of Demand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376732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responsive is quantity to a change in price, income, or the price of another good?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572768" y="4709160"/>
            <a:ext cx="1371600" cy="41148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4983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of Economics   ·   Lectures 11–13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5029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Chapter Covers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682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682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and its measurement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848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the price-elasticity formula, sign and interpretation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14813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76872" y="1682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1682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Degrees of elasticity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0848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cases, curve shapes, and elasticity along a linear demand curve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09981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300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300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elasticity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703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(midpoint) elasticity and point elasticity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309981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3300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300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elasticity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703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Substitutes, budget share, time, necessity, market definition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71830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" y="4919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elasticity measures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53218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advertising and cross-price elasticity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20840" y="471830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76872" y="4919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supply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53218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decisions, total revenue, and the elasticity of supply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Elasticity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elasticity measures, how it is calculated, and how to read its value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Elasticity?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083564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783080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is an economics concept that measures the responsiveness of one variable to a change in another variable.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835640" cy="1005840"/>
          </a:xfrm>
          <a:prstGeom prst="roundRect">
            <a:avLst>
              <a:gd name="adj" fmla="val 5455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310128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9A6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greater the elasticity, the greater the responsiveness.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461772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49194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demanded responds to the good's own price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461772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81728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elasticity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49194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demanded responds to consumer income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461772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85048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elasticity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49194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demanded responds to another good's price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elasticity of demand is the percentage change in quantity demanded divided by the percentage change in price.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194560" y="2286000"/>
            <a:ext cx="7772400" cy="1600200"/>
          </a:xfrm>
          <a:prstGeom prst="roundRect">
            <a:avLst>
              <a:gd name="adj" fmla="val 342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2761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88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5420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change in quantity demanded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06240" y="3044952"/>
            <a:ext cx="5212080" cy="22860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0" y="31821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change in price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97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pure ratio — the units of price and quantity cancel out, so elasticity can be compared across goods.</a:t>
            </a:r>
            <a:endParaRPr lang="en-US" sz="15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the same as the slope of the demand curve: slope depends on units, elasticity does not.</a:t>
            </a:r>
            <a:endParaRPr lang="en-US" sz="15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varies from point to point along the same demand curve.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Formula, Step by Step</a:t>
            </a:r>
            <a:endParaRPr lang="en-US" sz="2800" dirty="0"/>
          </a:p>
        </p:txBody>
      </p:sp>
      <p:pic>
        <p:nvPicPr>
          <p:cNvPr id="7" name="Image 0" descr="fig/formula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064" y="1463040"/>
            <a:ext cx="6981391" cy="42062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60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change form, elasticity is the ratio of proportional changes — quantity change relative to the initial quantity, over price change relative to the initial price.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Price of a Toffee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10835640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57276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price of a toffee rises from ₹1.00 to ₹1.25, the number of toffees sold each day falls from 300 to 275. Calculate the elasticity of demand.</a:t>
            </a:r>
            <a:endParaRPr lang="en-US" sz="1550" dirty="0"/>
          </a:p>
        </p:txBody>
      </p:sp>
      <p:pic>
        <p:nvPicPr>
          <p:cNvPr id="9" name="Image 0" descr="fig/ped_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72867"/>
            <a:ext cx="4846320" cy="11007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Change in quantity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342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(275 − 300) ÷ 300  =  − 0.0833   (− 8.33%)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727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Change in price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9926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(1.25 − 1.00) ÷ 1.00  =  + 0.25   (+ 25%)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385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Divide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6509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− 0.0833 ÷ 0.25  =  − 0.333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92240" y="2697480"/>
            <a:ext cx="5029200" cy="3108960"/>
          </a:xfrm>
          <a:prstGeom prst="roundRect">
            <a:avLst>
              <a:gd name="adj" fmla="val 1765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3310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7242048" y="3913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33101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− 0.333</a:t>
            </a:r>
            <a:endParaRPr lang="en-US" sz="46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5262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value is below 1, so demand for toffees is inelastic: buyers barely cut back when the price rises.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of Price Elasticity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0835640" cy="1783080"/>
          </a:xfrm>
          <a:prstGeom prst="roundRect">
            <a:avLst>
              <a:gd name="adj" fmla="val 307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194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19842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negative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46888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law of demand, a rise in price is met by a fall in quantity demanded. The two changes always move in opposite directions, so the ratio is negative.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749040"/>
            <a:ext cx="10835640" cy="1783080"/>
          </a:xfrm>
          <a:prstGeom prst="roundRect">
            <a:avLst>
              <a:gd name="adj" fmla="val 307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297680"/>
            <a:ext cx="685800" cy="685800"/>
          </a:xfrm>
          <a:prstGeom prst="ellipse">
            <a:avLst/>
          </a:prstGeom>
          <a:solidFill>
            <a:srgbClr val="E299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13308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sign is usually dropped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61772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price elasticity of demand is always negative, economists conventionally quote the absolute value and compare magnitudes instead.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Elasticity Value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absolute value of the elasticity coefficient and compare it with 1.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51460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 and 1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46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responds less than proportionately to price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51460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1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246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Unit-elastic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responds exactly proportionately to price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214884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514600"/>
            <a:ext cx="118872" cy="118872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1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246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responds more than proportionately to price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Degrees of Elasticity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719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demand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719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Q  &gt;  % Δ 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 w="9525">
            <a:solidFill>
              <a:srgbClr val="F7FA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633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elastic demand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6334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Q  =  % Δ 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3832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547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 demand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547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Q  &lt;  % Δ 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 w="9525">
            <a:solidFill>
              <a:srgbClr val="F7FA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4622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elastic demand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4622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Q is very large for any % Δ 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52120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5376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inelastic demand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53766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Q is zero whatever the % Δ P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Inelastic and Inelastic Demand</a:t>
            </a:r>
            <a:endParaRPr lang="en-US" sz="2800" dirty="0"/>
          </a:p>
        </p:txBody>
      </p:sp>
      <p:pic>
        <p:nvPicPr>
          <p:cNvPr id="7" name="Image 0" descr="fig/perfectly_inela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460" y="1463040"/>
            <a:ext cx="8082601" cy="41605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curve: quantity does not move at all. A steep curve: quantity moves less than price.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Elastic Demand</a:t>
            </a:r>
            <a:endParaRPr lang="en-US" sz="2800" dirty="0"/>
          </a:p>
        </p:txBody>
      </p:sp>
      <p:pic>
        <p:nvPicPr>
          <p:cNvPr id="7" name="Image 0" descr="fig/unit_ela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831" y="1463040"/>
            <a:ext cx="4625857" cy="411480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proportional rise in price is matched by an equal proportional fall in quantity, so total revenue is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and Perfectly Elastic Demand</a:t>
            </a:r>
            <a:endParaRPr lang="en-US" sz="2800" dirty="0"/>
          </a:p>
        </p:txBody>
      </p:sp>
      <p:pic>
        <p:nvPicPr>
          <p:cNvPr id="7" name="Image 0" descr="fig/elasti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719" y="1463040"/>
            <a:ext cx="7956082" cy="41605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curve: quantity moves more than price. A horizontal curve: buyers will take any quantity at one price only.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Curve Shapes: A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2128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elastic demand curve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71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curve is horizontal. Any change in price will cause consumers to change their consumption completely.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920240"/>
            <a:ext cx="118872" cy="118872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22128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inelastic demand curve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71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curve is vertical. Quantity demanded is totally unresponsive to price — a price change has no effect on demand.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425196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434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9A6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between these two extremes lie the demand curves for most products.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Along a Linear Demand Curve</a:t>
            </a:r>
            <a:endParaRPr lang="en-US" sz="2800" dirty="0"/>
          </a:p>
        </p:txBody>
      </p:sp>
      <p:pic>
        <p:nvPicPr>
          <p:cNvPr id="7" name="Image 0" descr="fig/linea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944" y="1463040"/>
            <a:ext cx="7923632" cy="41605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straight-line demand curve the slope is constant but elasticity is not: it falls from infinity at the price axis to zero at the quantity axis.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Elasticity Matters to a Firm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13232" y="1682496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28216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645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maximisation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075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business to set the price that maximises the firm's profit.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85292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898648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8163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power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46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tells the firm how much control it has over using price to raise profit.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23360"/>
            <a:ext cx="621792" cy="621792"/>
          </a:xfrm>
          <a:prstGeom prst="ellipse">
            <a:avLst/>
          </a:prstGeom>
          <a:solidFill>
            <a:srgbClr val="E299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406908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867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direction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Ep &gt; 1 the % change in Qd exceeds the % change in price, so demand is elastic.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212080"/>
            <a:ext cx="10835640" cy="896112"/>
          </a:xfrm>
          <a:prstGeom prst="roundRect">
            <a:avLst>
              <a:gd name="adj" fmla="val 6122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28523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demand is elastic:   a price increase reduces total revenue   ·   a price cut raises total revenue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Elasticity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elasticity over an arc of the demand curve, and at a single point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(Midpoint) Elasticity</a:t>
            </a:r>
            <a:endParaRPr lang="en-US" sz="2800" dirty="0"/>
          </a:p>
        </p:txBody>
      </p:sp>
      <p:pic>
        <p:nvPicPr>
          <p:cNvPr id="7" name="Image 0" descr="fig/arc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956290"/>
            <a:ext cx="6492240" cy="34026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481328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two points on a demand curve, percentage changes are measured against the midpoint values so that the answer is the same whichever direction you move.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(14, $20) to B (10, $26)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675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quantity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(10 − 14) ÷ 12 = − 33.3%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4334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price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45902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($26 − $20) ÷ $23 = + 26.1%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49926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52486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− 33.3% ÷ 26.1% = − 1.27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5800" y="559612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614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between A and B is elastic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Elasticity: The Idea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2200"/>
              </a:spcAft>
              <a:buSzPct val="100000"/>
              <a:buChar char="▪"/>
            </a:pPr>
            <a:r>
              <a:rPr lang="en-US" sz="19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elasticity measures elasticity at one specific point on the demand curve, rather than over a range or an arc.</a:t>
            </a:r>
            <a:endParaRPr lang="en-US" sz="1900" dirty="0"/>
          </a:p>
          <a:p>
            <a:pPr marL="203200" indent="-203200">
              <a:lnSpc>
                <a:spcPct val="115000"/>
              </a:lnSpc>
              <a:spcAft>
                <a:spcPts val="2200"/>
              </a:spcAft>
              <a:buSzPct val="100000"/>
              <a:buChar char="▪"/>
            </a:pPr>
            <a:r>
              <a:rPr lang="en-US" sz="19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price elasticity of demand in a limiting sense — the changes in quantity demanded and in price are infinitesimally small.</a:t>
            </a:r>
            <a:endParaRPr lang="en-US" sz="1900" dirty="0"/>
          </a:p>
          <a:p>
            <a:pPr marL="203200" indent="-203200">
              <a:lnSpc>
                <a:spcPct val="115000"/>
              </a:lnSpc>
              <a:spcAft>
                <a:spcPts val="2200"/>
              </a:spcAft>
              <a:buSzPct val="100000"/>
              <a:buChar char="▪"/>
            </a:pPr>
            <a:r>
              <a:rPr lang="en-US" sz="19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this, point elasticity takes a different value at every point on the same demand curve.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489204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95604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elasticity answers “how elastic between these two prices?”. Point elasticity answers “how elastic exactly here?”.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ELASTICITY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Elasticity: The Formula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1691640"/>
            <a:ext cx="4297680" cy="2011680"/>
          </a:xfrm>
          <a:prstGeom prst="roundRect">
            <a:avLst>
              <a:gd name="adj" fmla="val 272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0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the demand curve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71800" y="2907792"/>
            <a:ext cx="914400" cy="22860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29626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4663440" cy="2011680"/>
          </a:xfrm>
          <a:prstGeom prst="roundRect">
            <a:avLst>
              <a:gd name="adj" fmla="val 2727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elasticity on the demand curve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5420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4505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83880" y="2871216"/>
            <a:ext cx="731520" cy="22860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8048" y="2871216"/>
            <a:ext cx="502920" cy="22860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1148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dQ/dP is the derivative of the demand function — the reciprocal of the slope of the demand curve as normally drawn.</a:t>
            </a:r>
            <a:endParaRPr lang="en-US" sz="15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Q are the price and quantity at the specific point being evaluated.</a:t>
            </a:r>
            <a:endParaRPr lang="en-US" sz="15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demand function therefore yields a different elasticity at every price.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Determines Elasticity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factors that make demand for a good more or less responsive to price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Price Elasticity (1–3)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5681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19933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562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 of substitutes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286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substitutes a good has, the more elastic its demand will be.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343814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474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3375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budget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37673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the share of income a good absorbs, the more elastic demand will be.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590288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491947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495604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48188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Adjustment time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524865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time buyers have to adjust to a price change, the more elastic demand becomes.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Price Elasticity (4–5)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5681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19933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562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versus necessity goods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286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goods have a more inelastic demand — buyers keep purchasing them even as prices rise.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343814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474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3375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the market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37673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narrowly the market is defined, the more elastic the demand for it will be.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20" kern="0" dirty="0">
                <a:solidFill>
                  <a:srgbClr val="E29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MARKET DEFINITION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983480"/>
            <a:ext cx="5257800" cy="100584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120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the price of one specific car model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5046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demand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63640" y="4983480"/>
            <a:ext cx="5257800" cy="1005840"/>
          </a:xfrm>
          <a:prstGeom prst="roundRect">
            <a:avLst>
              <a:gd name="adj" fmla="val 5455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5120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the price of all cars together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5046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7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 demand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Elasticity Measures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elasticity, advertising elasticity, and cross-price elasticity of demand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Elasticity of Demand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elasticity of demand (YED) is the rate of change in the quantity demanded of a good in response to a change in the income of the consumer.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450592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as income rises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 is positive  ·  normal good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450592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falls as income rises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 is negative  ·  inferior good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THE FORMULA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18" name="Image 0" descr="fig/yed_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151651"/>
            <a:ext cx="2880360" cy="106929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389120" y="3886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20" name="Image 1" descr="fig/yed_del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257446"/>
            <a:ext cx="2880360" cy="85770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092440" y="3886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22" name="Image 2" descr="fig/yed_m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151" y="4069080"/>
            <a:ext cx="2821577" cy="12344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3232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elasticity is also used to classify goods into luxuries and necessities.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Goods by Income Elasticity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212848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goods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Necessities:  0 &lt; YED &lt; 1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Luxuries:  YED &gt; 1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212848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Inferior goods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 &lt; 0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falls as income rises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92440" y="182880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212848"/>
            <a:ext cx="118872" cy="118872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income elasticity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 = 0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does not respond to income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35640" cy="1051560"/>
          </a:xfrm>
          <a:prstGeom prst="roundRect">
            <a:avLst>
              <a:gd name="adj" fmla="val 5217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95604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YED tells you what kind of good it is; the size tells you whether buyers treat it as a necessity or a luxury.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(Advertising) Elasticity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elasticity of demand (AED) measures the extent to which demand for a product responds to advertising and other sales-promotion spending.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23360" y="21488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9" name="Image 0" descr="fig/a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6827" y="2331720"/>
            <a:ext cx="2307866" cy="822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65760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&gt; 1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526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is highly effective — spending more may be justified.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63640" y="365760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&lt; 1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4526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advertising effect is limited — the firm may reconsider its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Cross-Price Elasticity of Demand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Cross-price elasticity (XED) is the percentage change in the quantity demanded of good X divided by the percentage change in the price of good 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9" name="Image 0" descr="fig/xed_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92167"/>
            <a:ext cx="2880360" cy="100498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89120" y="2148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11" name="Image 1" descr="fig/xed_del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22104"/>
            <a:ext cx="2880360" cy="7451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214884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13" name="Image 2" descr="fig/xed_m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416523"/>
            <a:ext cx="2880360" cy="115627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85800" y="411480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9728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XED &gt; 0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31546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49377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price of good Y rises, demand for good X increases.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263640" y="411480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67512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XED &lt; 0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73252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49377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price of good Y rises, demand for good X decreases.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Elasticity in Practice: Two Airlines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35640" cy="2103120"/>
          </a:xfrm>
          <a:prstGeom prst="roundRect">
            <a:avLst>
              <a:gd name="adj" fmla="val 260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8288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competing airlines, A and B, are a perfect example of substitute products. If Airline A raises its ticket price by even a small margin, consumers will notice the difference. As a result, more people will opt for Airline B because it is cheaper.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425196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4187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fares are close substitutes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price gap moves a large volume of passengers.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425196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1728" y="4187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elasticity is strongly positive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B rises when the price of A rises.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2440" y="4251960"/>
            <a:ext cx="118872" cy="1188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5048" y="4187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power is limited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airline can raise fares far ahead of the other.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Substitute Products</a:t>
            </a:r>
            <a:endParaRPr lang="en-US" sz="2800" dirty="0"/>
          </a:p>
        </p:txBody>
      </p:sp>
      <p:pic>
        <p:nvPicPr>
          <p:cNvPr id="7" name="Image 0" descr="fig/close_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96" y="1463040"/>
            <a:ext cx="4425649" cy="44348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783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substitutes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substitute is realised when a minimal increase in the price of one product leads to a large increase in demand for the substitute product.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61772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663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positive XED  (greater than 1)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Substitute Products</a:t>
            </a:r>
            <a:endParaRPr lang="en-US" sz="2800" dirty="0"/>
          </a:p>
        </p:txBody>
      </p:sp>
      <p:pic>
        <p:nvPicPr>
          <p:cNvPr id="7" name="Image 0" descr="fig/weak_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466" y="1463040"/>
            <a:ext cx="4420909" cy="44348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783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substitutes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increase in the price of product X will lead to only a small increase in the demand for product 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61772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663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positive XED  (between 0 and 1)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Complementary Products</a:t>
            </a:r>
            <a:endParaRPr lang="en-US" sz="2800" dirty="0"/>
          </a:p>
        </p:txBody>
      </p:sp>
      <p:pic>
        <p:nvPicPr>
          <p:cNvPr id="7" name="Image 0" descr="fig/close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379" y="1463040"/>
            <a:ext cx="4425082" cy="44348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783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complements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strong complement, a minimal price decrease leads to a large increase in demand for the complementary product. If the price of an e-book reader drops, the consumption of e-books rises because more consumers can afford the reader.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61772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663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29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negative XED  (below −1)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MEASURES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Complementary Products</a:t>
            </a:r>
            <a:endParaRPr lang="en-US" sz="2800" dirty="0"/>
          </a:p>
        </p:txBody>
      </p:sp>
      <p:pic>
        <p:nvPicPr>
          <p:cNvPr id="7" name="Image 0" descr="fig/weak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463040"/>
            <a:ext cx="4434840" cy="44348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783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complements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weak complementary products, a large price decrease leads to only a small increase in demand for the complementing product.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61772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663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29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negative XED  (between −1 and 0)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and Total Revenue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elasticity to decide whether raising or cutting price will raise revenue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Pricing Problem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737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on tour is playing in an indoor arena with 15,000 seats. Should the band sell more tickets at a lower price, or fewer tickets at a higher price?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demand is elastic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the price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 drop in price produces an even larger percentage rise in quantity sold, so total revenue increases.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demand is inelastic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 price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 rise in price produces a smaller percentage fall in quantity sold, so total revenue increases.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12,500 Tickets at $20</a:t>
            </a:r>
            <a:endParaRPr lang="en-US" sz="2800" dirty="0"/>
          </a:p>
        </p:txBody>
      </p:sp>
      <p:pic>
        <p:nvPicPr>
          <p:cNvPr id="7" name="Image 0" descr="fig/rev_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686" y="1463040"/>
            <a:ext cx="4947108" cy="43891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band can charge $20 per ticket and will sell 12,500 tickets.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" y="274320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3649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$250,000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 tickets  ×  $20 per ticket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5074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the shaded rectangle under the demand curve: price multiplied by quantity.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 — Demand Is Inelastic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49961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 rises from $20 to $25   ·   tickets sold fall from 12,500 to 11,000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69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 buyers stay and each pays $5 more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679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$55,000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buyers would have paid $20 but not $25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$30,000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54296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157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effects combined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910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$25,000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635240" y="2423160"/>
            <a:ext cx="3904488" cy="3310128"/>
          </a:xfrm>
          <a:prstGeom prst="roundRect">
            <a:avLst>
              <a:gd name="adj" fmla="val 165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$275,000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  ×  $25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01000" y="4343400"/>
            <a:ext cx="3200400" cy="18288"/>
          </a:xfrm>
          <a:prstGeom prst="rect">
            <a:avLst/>
          </a:prstGeom>
          <a:solidFill>
            <a:srgbClr val="CFDC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4526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$25,000 more than the original revenue of $250,000. With inelastic demand, raising the price raises revenue.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 — Checking the Elasticity</a:t>
            </a:r>
            <a:endParaRPr lang="en-US" sz="2800" dirty="0"/>
          </a:p>
        </p:txBody>
      </p:sp>
      <p:pic>
        <p:nvPicPr>
          <p:cNvPr id="7" name="Image 0" descr="fig/rev_inela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618" y="1463040"/>
            <a:ext cx="4931244" cy="43891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600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midpoint formula between $20 (12,500 tickets) and $25 (11,000 tickets):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4754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(11,000 − 12,500)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2999232"/>
            <a:ext cx="2011680" cy="18288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0540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(11,000 + 12,500)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($25 + $20)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20440" y="2999232"/>
            <a:ext cx="1554480" cy="18288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37560" y="30540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($25 − $20)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4069080"/>
            <a:ext cx="4754880" cy="1691640"/>
          </a:xfrm>
          <a:prstGeom prst="roundRect">
            <a:avLst>
              <a:gd name="adj" fmla="val 3243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4297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1344168" y="4736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− 0.57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 in absolute value — demand is inelastic over this range, so the price rise raised revenue.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B — Demand Is Elastic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49961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9A6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 rises from $20 to $22   ·   tickets sold fall from 12,500 to 8,000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569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buyers stay and each pays $2 more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679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$16,000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 buyers would have paid $20 but not $22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$90,000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54296"/>
            <a:ext cx="6492240" cy="96012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157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effects combined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910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$74,000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635240" y="2423160"/>
            <a:ext cx="3904488" cy="3310128"/>
          </a:xfrm>
          <a:prstGeom prst="roundRect">
            <a:avLst>
              <a:gd name="adj" fmla="val 1657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50" kern="0" dirty="0">
                <a:solidFill>
                  <a:srgbClr val="A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$176,000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 ×  $22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01000" y="4343400"/>
            <a:ext cx="3200400" cy="18288"/>
          </a:xfrm>
          <a:prstGeom prst="rect">
            <a:avLst/>
          </a:prstGeom>
          <a:solidFill>
            <a:srgbClr val="CFDC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4526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$74,000 less than the original revenue of $250,000. With elastic demand, raising the price destroys revenue.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B — Checking the Elasticity</a:t>
            </a:r>
            <a:endParaRPr lang="en-US" sz="2800" dirty="0"/>
          </a:p>
        </p:txBody>
      </p:sp>
      <p:pic>
        <p:nvPicPr>
          <p:cNvPr id="7" name="Image 0" descr="fig/rev_ela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221" y="1463040"/>
            <a:ext cx="4916039" cy="438912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685800" y="1600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midpoint formula between $20 (12,500 tickets) and $22 (8,000 tickets):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4754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(8,000 − 12,500)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2999232"/>
            <a:ext cx="2011680" cy="18288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0540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(8,000 + 12,500)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($22 + $20)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20440" y="2999232"/>
            <a:ext cx="1554480" cy="18288"/>
          </a:xfrm>
          <a:prstGeom prst="rect">
            <a:avLst/>
          </a:prstGeom>
          <a:solidFill>
            <a:srgbClr val="0F2E4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37560" y="30540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($22 − $20)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4069080"/>
            <a:ext cx="4754880" cy="1691640"/>
          </a:xfrm>
          <a:prstGeom prst="roundRect">
            <a:avLst>
              <a:gd name="adj" fmla="val 3243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42976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1344168" y="4736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− 4.61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1 in absolute value — demand is highly elastic, so the price rise cut revenue sharply.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and Revenue: The Rule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2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spc="2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PRICE AND REVENUE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2075688"/>
            <a:ext cx="10104120" cy="18288"/>
          </a:xfrm>
          <a:prstGeom prst="rect">
            <a:avLst/>
          </a:prstGeom>
          <a:solidFill>
            <a:srgbClr val="CFDCE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37744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revenue move in opposite directions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9525">
            <a:solidFill>
              <a:srgbClr val="F7FA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Unit-elastic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033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does not change when price changes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9525">
            <a:solidFill>
              <a:srgbClr val="EE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800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revenue move in the same direction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test: if a price rise leaves you with less money than before, you were operating on the elastic part of the demand curve.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9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and Practice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36192" y="4160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elasticity of supply, followed by two problems to work through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Supply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elasticity of supply measures how responsive the quantity supplied is to a change in price, calculated here with the midpoint method.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291840" y="205740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</p:sp>
      <p:pic>
        <p:nvPicPr>
          <p:cNvPr id="9" name="Image 0" descr="fig/es_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130" y="2212848"/>
            <a:ext cx="3985260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33756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FDF3E3"/>
          </a:solidFill>
          <a:ln w="9525">
            <a:solidFill>
              <a:srgbClr val="FDF3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4015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5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apartment rents for $650 per month and at that price the supply is 10,000 units. When the rent rises to $700 per month, supply becomes 13,000 units. What is the elasticity of supply?</a:t>
            </a:r>
            <a:endParaRPr lang="en-US" sz="1350" dirty="0"/>
          </a:p>
        </p:txBody>
      </p:sp>
      <p:pic>
        <p:nvPicPr>
          <p:cNvPr id="12" name="Image 1" descr="fig/es_wor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78259"/>
            <a:ext cx="4937760" cy="119876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" y="489204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E8F1F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51560" y="49377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highly elastic: a 7.4% rise in rent brings a 26.1% rise in the number of units supplied.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 1</a:t>
            </a:r>
            <a:endParaRPr lang="en-US" sz="2800" dirty="0"/>
          </a:p>
        </p:txBody>
      </p:sp>
      <p:pic>
        <p:nvPicPr>
          <p:cNvPr id="7" name="Image 0" descr="fig/p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220" y="1463040"/>
            <a:ext cx="7191080" cy="42062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parts (a) to (d) before the next session.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Demand  ·  Concepts of Economics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276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8872" cy="118872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6766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E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 2</a:t>
            </a:r>
            <a:endParaRPr lang="en-US" sz="2800" dirty="0"/>
          </a:p>
        </p:txBody>
      </p:sp>
      <p:pic>
        <p:nvPicPr>
          <p:cNvPr id="7" name="Image 0" descr="fig/pq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170" y="1463040"/>
            <a:ext cx="7853180" cy="4206240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0F2E4C">
                <a:alpha val="1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1280160" y="5779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whether each statement is true or false, and explain your answer.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745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630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29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1704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Carry Forward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508760" y="2185416"/>
            <a:ext cx="100584" cy="100584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is a ratio of percentages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0574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unit-free, which is why it can be compared across very different goods.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508760" y="3026664"/>
            <a:ext cx="100584" cy="100584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898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follows the law of demand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89864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of demand is negative; magnitude is what carries the economic meaning.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08760" y="3867912"/>
            <a:ext cx="100584" cy="100584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28800" y="37398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is not slope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7398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straight-line demand curve, elasticity changes at every point.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508760" y="4709160"/>
            <a:ext cx="100584" cy="100584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28800" y="45811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can be reasoned out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45811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Substitutes, budget share, time, necessity and market definition.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508760" y="5550408"/>
            <a:ext cx="100584" cy="100584"/>
          </a:xfrm>
          <a:prstGeom prst="rect">
            <a:avLst/>
          </a:prstGeom>
          <a:solidFill>
            <a:srgbClr val="E299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28800" y="5422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follows elasticity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54223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price when demand is inelastic; cut price when demand is elastic.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Elasticity of Demand</dc:title>
  <dc:subject>PptxGenJS Presentation</dc:subject>
  <dc:creator>Dr Sandeep Arya</dc:creator>
  <cp:lastModifiedBy>Dr Sandeep Arya</cp:lastModifiedBy>
  <cp:revision>1</cp:revision>
  <dcterms:created xsi:type="dcterms:W3CDTF">2026-08-31T10:29:57Z</dcterms:created>
  <dcterms:modified xsi:type="dcterms:W3CDTF">2026-08-31T10:29:57Z</dcterms:modified>
</cp:coreProperties>
</file>